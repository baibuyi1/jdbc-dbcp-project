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于湘洛。今天我将为大家演示如何使用DBCP连接池来实现数据库的更新操作。本次分享将涵盖更新操作的概述、核心代码实现、运行结果验证以及常见问题的解决方法，希望能帮助大家更好地理解Java数据库连接池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了解一下本次任务的核心：更新操作。它的主要目标是利用DBCP连接池，安全高效地修改数据库中的数据。这种操作在实际应用中非常普遍，比如修改用户信息、更新库存等。整个流程可以概括为五个步骤：获取连接、编写SQL、执行更新、处理结果和释放连接。这一机制像一个高效的中转站，管理着多个线程对数据库的访问，既保证了效率，又确保了数据的一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核心代码结构。我们需要先配置好DBCP连接池，包括数据库的URL、驱动、用户名和密码等。然后，我们会编写一个更新方法，这个方法会接收需要更新的数据，并使用try-with-resources语法来确保连接等资源能被自动关闭。方法的核心是调用PreparedStatement的executeUpdate方法来执行SQL，并返回受影响的行数，以此来判断更新是否成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完整的关键代码示例。首先在静态代码块中初始化了BasicDataSource，设置了数据库连接信息和连接池参数。然后是核心的updateUser方法，它接收用户ID、新名字和新年龄作为参数，构造了一个带占位符的SQL语句。通过try-with-resources获取连接和PreparedStatement，设置参数后执行更新。最后，main方法用于测试这个更新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代码运行后，我们如何验证结果呢？首先看控制台输出，如果显示“更新成功，影响行数：1”，说明有一条记录被成功修改。为了确保万无一失，我们还需要登录数据库，手动执行查询语句，检查对应ID的记录字段是否真的发生了变化。通常，executeUpdate方法返回的受影响行数大于0，就代表更新成功了。如果返回0，则说明没有找到匹配的记录或者SQL条件有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操作中，我们可能会遇到一些问题。这里总结了三个最常见的问题。第一，如果更新行数为0，多半是WHERE条件写错了或者参数没传对。第二，如果连接池报错，要检查数据库是否正常运行，以及连接配置是否正确。第三，为了避免资源泄漏，一定要使用try-with-resources语法，它能确保连接在使用后被自动关闭并归还到连接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我的分享到此结束，感谢大家的观看。希望这次关于DBCP连接池更新操作的讲解对大家有所帮助。如果有任何问题，欢迎随时提问。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F14">
                  <a:alpha val="82000"/>
                </a:srgbClr>
              </a:gs>
              <a:gs pos="50000">
                <a:srgbClr val="00191E">
                  <a:alpha val="65000"/>
                </a:srgbClr>
              </a:gs>
              <a:gs pos="100000">
                <a:srgbClr val="002319">
                  <a:alpha val="35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DBCP 连接池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更新操作实现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000500"/>
            <a:ext cx="787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EBF0EB">
                    <a:alpha val="92157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本次课程实践聚焦于 Java 数据库连接池的核心应用，通过具体的代码实现，演示如何基于 DBCP 技术高效完成数据库记录的更新操作，同时探讨连接资源管理与业务场景适配的关键技术细节。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207000"/>
            <a:ext cx="5715000" cy="1143000"/>
          </a:xfrm>
          <a:prstGeom prst="roundRect">
            <a:avLst>
              <a:gd name="adj" fmla="val 0"/>
            </a:avLst>
          </a:prstGeom>
          <a:solidFill>
            <a:srgbClr val="0A190F">
              <a:alpha val="88000"/>
            </a:srgbClr>
          </a:solidFill>
          <a:ln w="12700" cap="flat" cmpd="sng">
            <a:solidFill>
              <a:srgbClr val="4CAF50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5308600"/>
            <a:ext cx="2540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汇报人：于湘洛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B4CDB4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Java 数据库应用课程实践作业</a:t>
            </a:r>
            <a:endParaRPr lang="en-US" sz="1200" b="0" i="0" u="none" strike="noStrike">
              <a:solidFill>
                <a:srgbClr val="B4CDB4">
                  <a:alpha val="9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45437">
            <a:off x="3536950" y="5753150"/>
            <a:ext cx="800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AF5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191000" y="5308600"/>
            <a:ext cx="2413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学号：240444428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zh-CN" altLang="en-US" sz="1200" b="0" i="0" u="none" strike="noStrike">
                <a:solidFill>
                  <a:srgbClr val="B4CDB4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软件工程</a:t>
            </a:r>
            <a:r>
              <a:rPr lang="en-US" sz="1200" b="0" i="0" u="none" strike="noStrike">
                <a:solidFill>
                  <a:srgbClr val="B4CDB4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专业</a:t>
            </a:r>
            <a:endParaRPr lang="en-US" sz="1200" b="0" i="0" u="none" strike="noStrike">
              <a:solidFill>
                <a:srgbClr val="B4CDB4">
                  <a:alpha val="9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41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更新操作概述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56000" cy="2349500"/>
          </a:xfrm>
          <a:prstGeom prst="roundRect">
            <a:avLst>
              <a:gd name="adj" fmla="val 0"/>
            </a:avLst>
          </a:prstGeom>
          <a:solidFill>
            <a:srgbClr val="1E293B">
              <a:alpha val="82000"/>
            </a:srgbClr>
          </a:solidFill>
          <a:ln w="12700" cap="flat" cmpd="sng">
            <a:solidFill>
              <a:srgbClr val="4CAF5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5560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核心功能目标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323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基于高性能 DBCP 数据库连接池技术架构，封装标准化的数据访问接口。核心在于实现对业务数据库表的精准 UPDATE 数据更新操作，在保证操作高效执行的同时，严格保障数据修改过程中的原子性与一致性，降低数据库连接开销。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08500" y="1524000"/>
            <a:ext cx="3556000" cy="2349500"/>
          </a:xfrm>
          <a:prstGeom prst="roundRect">
            <a:avLst>
              <a:gd name="adj" fmla="val 0"/>
            </a:avLst>
          </a:prstGeom>
          <a:solidFill>
            <a:srgbClr val="1E293B">
              <a:alpha val="82000"/>
            </a:srgbClr>
          </a:solidFill>
          <a:ln w="12700" cap="flat" cmpd="sng">
            <a:solidFill>
              <a:srgbClr val="4CAF5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08500" y="1524000"/>
            <a:ext cx="35560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1714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典型业务场景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286000"/>
            <a:ext cx="1587500" cy="698500"/>
          </a:xfrm>
          <a:prstGeom prst="roundRect">
            <a:avLst>
              <a:gd name="adj" fmla="val 0"/>
            </a:avLst>
          </a:prstGeom>
          <a:solidFill>
            <a:srgbClr val="4CAF5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762500" y="2324100"/>
            <a:ext cx="1460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用户中心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100" b="0" i="0" u="none" strike="noStrike">
                <a:solidFill>
                  <a:srgbClr val="B4BEC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个人信息动态维护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2286000"/>
            <a:ext cx="1587500" cy="698500"/>
          </a:xfrm>
          <a:prstGeom prst="roundRect">
            <a:avLst>
              <a:gd name="adj" fmla="val 0"/>
            </a:avLst>
          </a:prstGeom>
          <a:solidFill>
            <a:srgbClr val="4CAF5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2324100"/>
            <a:ext cx="1460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电商中台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100" b="0" i="0" u="none" strike="noStrike">
                <a:solidFill>
                  <a:srgbClr val="B4BEC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库存实时扣减更新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3048000"/>
            <a:ext cx="3302000" cy="698500"/>
          </a:xfrm>
          <a:prstGeom prst="roundRect">
            <a:avLst>
              <a:gd name="adj" fmla="val 0"/>
            </a:avLst>
          </a:prstGeom>
          <a:solidFill>
            <a:srgbClr val="4CAF5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762500" y="3086100"/>
            <a:ext cx="317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交易风控：</a:t>
            </a:r>
            <a:r>
              <a:rPr lang="en-US" sz="1100" b="0" i="0" u="none" strike="noStrike">
                <a:solidFill>
                  <a:srgbClr val="B4BEC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订单状态流转与用户操作权限的即时变更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1524000"/>
            <a:ext cx="3492500" cy="2349500"/>
          </a:xfrm>
          <a:prstGeom prst="roundRect">
            <a:avLst>
              <a:gd name="adj" fmla="val 0"/>
            </a:avLst>
          </a:prstGeom>
          <a:solidFill>
            <a:srgbClr val="1E293B">
              <a:alpha val="82000"/>
            </a:srgbClr>
          </a:solidFill>
          <a:ln w="12700" cap="flat" cmpd="sng">
            <a:solidFill>
              <a:srgbClr val="4CAF5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2550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82000" y="1714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技术实施优势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2286000"/>
            <a:ext cx="323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通过连接池复用机制大幅提升系统吞吐量，配合预编译 SQL 有效防御注入风险。实现操作过程的自动化资源管理，减少人工干预，为高频、高并发的业务数据更新提供坚实的底层技术支撑。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191000"/>
            <a:ext cx="2082800" cy="2222500"/>
          </a:xfrm>
          <a:prstGeom prst="roundRect">
            <a:avLst>
              <a:gd name="adj" fmla="val 0"/>
            </a:avLst>
          </a:prstGeom>
          <a:solidFill>
            <a:srgbClr val="141E19">
              <a:alpha val="88000"/>
            </a:srgbClr>
          </a:solidFill>
          <a:ln w="12700" cap="flat" cmpd="sng">
            <a:solidFill>
              <a:srgbClr val="4CAF5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4191000"/>
            <a:ext cx="2082800" cy="25400"/>
          </a:xfrm>
          <a:prstGeom prst="roundRect">
            <a:avLst>
              <a:gd name="adj" fmla="val 0"/>
            </a:avLst>
          </a:prstGeom>
          <a:solidFill>
            <a:srgbClr val="4CAF5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89000" y="43180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9000" y="4953000"/>
            <a:ext cx="18288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获取连接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89000" y="5397500"/>
            <a:ext cx="1828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AB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从DBCP连接池获取可用物理连接，避免重复创建连接的性能损耗。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984500" y="4191000"/>
            <a:ext cx="2082800" cy="2222500"/>
          </a:xfrm>
          <a:prstGeom prst="roundRect">
            <a:avLst>
              <a:gd name="adj" fmla="val 0"/>
            </a:avLst>
          </a:prstGeom>
          <a:solidFill>
            <a:srgbClr val="141E19">
              <a:alpha val="88000"/>
            </a:srgbClr>
          </a:solidFill>
          <a:ln w="12700" cap="flat" cmpd="sng">
            <a:solidFill>
              <a:srgbClr val="4CAF5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2984500" y="4191000"/>
            <a:ext cx="2082800" cy="25400"/>
          </a:xfrm>
          <a:prstGeom prst="roundRect">
            <a:avLst>
              <a:gd name="adj" fmla="val 0"/>
            </a:avLst>
          </a:prstGeom>
          <a:solidFill>
            <a:srgbClr val="4CAF5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3111500" y="43180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111500" y="4953000"/>
            <a:ext cx="18288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编写SQL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111500" y="5397500"/>
            <a:ext cx="1828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AB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构造含占位符的预编译 UPDATE 语句，规范参数传递，保障安全性。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207000" y="4191000"/>
            <a:ext cx="2082800" cy="2222500"/>
          </a:xfrm>
          <a:prstGeom prst="roundRect">
            <a:avLst>
              <a:gd name="adj" fmla="val 0"/>
            </a:avLst>
          </a:prstGeom>
          <a:solidFill>
            <a:srgbClr val="141E19">
              <a:alpha val="88000"/>
            </a:srgbClr>
          </a:solidFill>
          <a:ln w="12700" cap="flat" cmpd="sng">
            <a:solidFill>
              <a:srgbClr val="4CAF5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5207000" y="4191000"/>
            <a:ext cx="2082800" cy="25400"/>
          </a:xfrm>
          <a:prstGeom prst="roundRect">
            <a:avLst>
              <a:gd name="adj" fmla="val 0"/>
            </a:avLst>
          </a:prstGeom>
          <a:solidFill>
            <a:srgbClr val="4CAF5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5334000" y="43180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5334000" y="4953000"/>
            <a:ext cx="18288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执行更新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334000" y="5397500"/>
            <a:ext cx="1828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AB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调用 PreparedStatement 执行绑定后的 SQL，将数据变更持久化至数据库。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429500" y="4191000"/>
            <a:ext cx="2082800" cy="2222500"/>
          </a:xfrm>
          <a:prstGeom prst="roundRect">
            <a:avLst>
              <a:gd name="adj" fmla="val 0"/>
            </a:avLst>
          </a:prstGeom>
          <a:solidFill>
            <a:srgbClr val="141E19">
              <a:alpha val="88000"/>
            </a:srgbClr>
          </a:solidFill>
          <a:ln w="12700" cap="flat" cmpd="sng">
            <a:solidFill>
              <a:srgbClr val="4CAF5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7429500" y="4191000"/>
            <a:ext cx="2082800" cy="25400"/>
          </a:xfrm>
          <a:prstGeom prst="roundRect">
            <a:avLst>
              <a:gd name="adj" fmla="val 0"/>
            </a:avLst>
          </a:prstGeom>
          <a:solidFill>
            <a:srgbClr val="4CAF5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7556500" y="43180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556500" y="4953000"/>
            <a:ext cx="18288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结果判定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556500" y="5397500"/>
            <a:ext cx="1828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AB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获取操作返回的受影响行数，根据业务规则判定数据更新是否成功执行。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652000" y="4191000"/>
            <a:ext cx="2082800" cy="2222500"/>
          </a:xfrm>
          <a:prstGeom prst="roundRect">
            <a:avLst>
              <a:gd name="adj" fmla="val 0"/>
            </a:avLst>
          </a:prstGeom>
          <a:solidFill>
            <a:srgbClr val="141E19">
              <a:alpha val="88000"/>
            </a:srgbClr>
          </a:solidFill>
          <a:ln w="12700" cap="flat" cmpd="sng">
            <a:solidFill>
              <a:srgbClr val="4CAF5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9652000" y="4191000"/>
            <a:ext cx="2082800" cy="25400"/>
          </a:xfrm>
          <a:prstGeom prst="roundRect">
            <a:avLst>
              <a:gd name="adj" fmla="val 0"/>
            </a:avLst>
          </a:prstGeom>
          <a:solidFill>
            <a:srgbClr val="4CAF5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9779000" y="43180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9779000" y="4953000"/>
            <a:ext cx="18288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归还连接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9779000" y="5397500"/>
            <a:ext cx="1828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AB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自动释放数据库连接资源，归还至连接池，最大化连接复用效率。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核心代码结构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2667000"/>
          </a:xfrm>
          <a:prstGeom prst="roundRect">
            <a:avLst>
              <a:gd name="adj" fmla="val 0"/>
            </a:avLst>
          </a:prstGeom>
          <a:solidFill>
            <a:srgbClr val="192328">
              <a:alpha val="88000"/>
            </a:srgbClr>
          </a:solidFill>
          <a:ln w="127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依赖与环境配置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476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首先需引入 DBCP 数据库连接池相关依赖包，构建项目基础运行环境。随后在配置文件中精准定义数据库连接参数，包括数据库 URL、驱动类路径、访问用户名及密码。最后通过代码初始化 BasicDataSource 核心对象，设定初始连接数、最大活跃数与最小空闲数，为后续高效的数据交互建立稳定的连接资源池。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70500" cy="2667000"/>
          </a:xfrm>
          <a:prstGeom prst="roundRect">
            <a:avLst>
              <a:gd name="adj" fmla="val 0"/>
            </a:avLst>
          </a:prstGeom>
          <a:solidFill>
            <a:srgbClr val="192328">
              <a:alpha val="88000"/>
            </a:srgbClr>
          </a:solidFill>
          <a:ln w="127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17145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业务更新逻辑封装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286000"/>
            <a:ext cx="476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设计通用的更新方法，灵活接收业务参数（如用户 ID、待修改字段值）。采用 try-with-resources 语法糖自动管理 Connection、PreparedStatement 等资源，从源头避免连接泄漏。核心执行阶段调用 executeUpdate() 提交 SQL 指令，通过返回的受影响行数作为执行结果的判断依据，实现操作状态的精准反馈与异常安全处理。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445000"/>
            <a:ext cx="10731500" cy="1778000"/>
          </a:xfrm>
          <a:prstGeom prst="roundRect">
            <a:avLst>
              <a:gd name="adj" fmla="val 0"/>
            </a:avLst>
          </a:prstGeom>
          <a:solidFill>
            <a:srgbClr val="0F1923">
              <a:alpha val="92000"/>
            </a:srgbClr>
          </a:solidFill>
          <a:ln w="12700" cap="flat" cmpd="sng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44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CAF5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79500" y="4572000"/>
            <a:ext cx="1003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技术架构核心价值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79500" y="5143500"/>
            <a:ext cx="1003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B4B9C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这套结构实现了连接资源的池化复用与代码的健壮性设计。连接池的引入大幅降低了频繁创建/销毁连接的性能开销，而 try-with-resources 的规范使用则保证了资源的安全释放。通过将执行结果量化为受影响行数，不仅简化了业务层的逻辑判断，更为系统的可维护性与高可用性提供了坚实的底层代码支撑。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关键代码示例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524000"/>
            <a:ext cx="10922000" cy="4572000"/>
          </a:xfrm>
          <a:prstGeom prst="roundRect">
            <a:avLst>
              <a:gd name="adj" fmla="val 0"/>
            </a:avLst>
          </a:prstGeom>
          <a:solidFill>
            <a:srgbClr val="161B22">
              <a:alpha val="93000"/>
            </a:srgbClr>
          </a:solidFill>
          <a:ln w="12700" cap="flat" cmpd="sng">
            <a:solidFill>
              <a:srgbClr val="4CAF5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35000" y="1524000"/>
            <a:ext cx="10922000" cy="457200"/>
          </a:xfrm>
          <a:prstGeom prst="roundRect">
            <a:avLst>
              <a:gd name="adj" fmla="val 0"/>
            </a:avLst>
          </a:prstGeom>
          <a:solidFill>
            <a:srgbClr val="4CAF50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5621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DBCPUpdateDemo.java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25500" y="2159000"/>
            <a:ext cx="10541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org.apache.commons.dbcp2.BasicDataSource;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java.sql.Connection;</a:t>
            </a:r>
            <a:r>
              <a:rPr lang="en-US" sz="12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数据库连接接口</a:t>
            </a:r>
            <a:endParaRPr lang="en-US" sz="12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java.sql.PreparedStatement;</a:t>
            </a:r>
            <a:r>
              <a:rPr lang="en-US" sz="12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预编译语句对象</a:t>
            </a:r>
            <a:endParaRPr lang="en-US" sz="12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import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java.sql.SQLException;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 class</a:t>
            </a:r>
            <a:r>
              <a:rPr lang="en-US" sz="1200" b="0" i="0" u="none" strike="noStrike">
                <a:solidFill>
                  <a:srgbClr val="E5C0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DBCPUpdateDemo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初始化DBCP连接池：静态代码块在类加载时执行</a:t>
            </a:r>
            <a:endParaRPr lang="en-US" sz="12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private static</a:t>
            </a: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BasicDataSource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dataSource;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static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 dataSource =</a:t>
            </a: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new</a:t>
            </a: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BasicDataSource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(); dataSource.setDriverClassName(</a:t>
            </a:r>
            <a:r>
              <a:rPr lang="en-US" sz="1200" b="0" i="0" u="none" strike="noStrike">
                <a:solidFill>
                  <a:srgbClr val="98C37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"com.mysql.cj.jdbc.Driver"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);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dataSource.setUrl(</a:t>
            </a:r>
            <a:r>
              <a:rPr lang="en-US" sz="1200" b="0" i="0" u="none" strike="noStrike">
                <a:solidFill>
                  <a:srgbClr val="98C37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"jdbc:mysql://localhost:3306/testdb?useSSL=false&amp;serverTimezone=UTC"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);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dataSource.setUsername(</a:t>
            </a:r>
            <a:r>
              <a:rPr lang="en-US" sz="1200" b="0" i="0" u="none" strike="noStrike">
                <a:solidFill>
                  <a:srgbClr val="98C37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"root"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); dataSource.setPassword(</a:t>
            </a:r>
            <a:r>
              <a:rPr lang="en-US" sz="1200" b="0" i="0" u="none" strike="noStrike">
                <a:solidFill>
                  <a:srgbClr val="98C37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"root"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);</a:t>
            </a:r>
            <a:r>
              <a:rPr lang="en-US" sz="12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配置连接池核心参数</a:t>
            </a:r>
            <a:endParaRPr lang="en-US" sz="12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dataSource.setInitialSize(5); dataSource.setMaxTotal(10); }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 static int</a:t>
            </a: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updateUser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id,</a:t>
            </a: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String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name,</a:t>
            </a: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age) {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String sql =</a:t>
            </a:r>
            <a:r>
              <a:rPr lang="en-US" sz="1200" b="0" i="0" u="none" strike="noStrike">
                <a:solidFill>
                  <a:srgbClr val="98C37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"UPDATE user SET name = ?, age = ? WHERE id = ?"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r>
              <a:rPr lang="en-US" sz="12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使用占位符防止SQL注入</a:t>
            </a:r>
            <a:endParaRPr lang="en-US" sz="12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try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(Connection conn = dataSource.getConnection(); PreparedStatement pstmt = conn.prepareStatement(sql)) {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pstmt.setString(1, name); pstmt.setInt(2, age); pstmt.setInt(3, id);</a:t>
            </a:r>
            <a:r>
              <a:rPr lang="en-US" sz="12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参数绑定</a:t>
            </a:r>
            <a:endParaRPr lang="en-US" sz="12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pstmt.executeUpdate();</a:t>
            </a:r>
            <a:r>
              <a:rPr lang="en-US" sz="12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执行更新并返回结果</a:t>
            </a:r>
            <a:endParaRPr lang="en-US" sz="12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catch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(SQLException e) { e.printStackTrace();</a:t>
            </a: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0; }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 static void</a:t>
            </a: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main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(String[] args) { updateUser(1,</a:t>
            </a:r>
            <a:r>
              <a:rPr lang="en-US" sz="1200" b="0" i="0" u="none" strike="noStrike">
                <a:solidFill>
                  <a:srgbClr val="98C37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"新名字"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, 25); }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运行结果与验证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1A1E23">
              <a:alpha val="82000"/>
            </a:srgbClr>
          </a:solidFill>
          <a:ln w="127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78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7653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控制台输出示例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540000"/>
            <a:ext cx="3111500" cy="1397000"/>
          </a:xfrm>
          <a:prstGeom prst="roundRect">
            <a:avLst>
              <a:gd name="adj" fmla="val 0"/>
            </a:avLst>
          </a:prstGeom>
          <a:solidFill>
            <a:srgbClr val="0D1117">
              <a:alpha val="95000"/>
            </a:srgbClr>
          </a:solidFill>
          <a:ln w="12700" cap="flat" cmpd="sng">
            <a:solidFill>
              <a:srgbClr val="4CAF50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26670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5D6A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更新成功，影响行数：1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191000"/>
            <a:ext cx="3111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程序执行结束后的首要验证环节。通过控制台日志可以直观地获取系统对操作的即时反馈，快速判断指令是否被正确接收并执行，是排查运行时错误的第一道防线。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70400" y="1524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1A1E23">
              <a:alpha val="82000"/>
            </a:srgbClr>
          </a:solidFill>
          <a:ln w="127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704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1778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05400" y="17653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数据库验证方法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60900" y="2540000"/>
            <a:ext cx="3111500" cy="1397000"/>
          </a:xfrm>
          <a:prstGeom prst="roundRect">
            <a:avLst>
              <a:gd name="adj" fmla="val 0"/>
            </a:avLst>
          </a:prstGeom>
          <a:solidFill>
            <a:srgbClr val="0D1117">
              <a:alpha val="95000"/>
            </a:srgbClr>
          </a:solidFill>
          <a:ln w="12700" cap="flat" cmpd="sng">
            <a:solidFill>
              <a:srgbClr val="42A5F5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787900" y="26670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1D4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SELECT * FROM user WHERE id = 1;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60900" y="4191000"/>
            <a:ext cx="3111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深入数据持久层的核心验证。执行查询指令后，需人工核对目标记录字段值是否与业务预期一致。这一步能够有效发现逻辑错误或事务未提交导致的数据未落地问题，确保数据准确性。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53400" y="1524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1A1E23">
              <a:alpha val="82000"/>
            </a:srgbClr>
          </a:solidFill>
          <a:ln w="12700" cap="flat" cmpd="sng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1534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3900" y="1778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788400" y="17653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结果判断标准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43900" y="2540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4CAF50">
              <a:alpha val="18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470900" y="2641600"/>
            <a:ext cx="285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1C78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更新成功：受影响行数 &gt; 0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470900" y="3048000"/>
            <a:ext cx="285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数据库中存在符合条件的记录，且数据已按业务逻辑完成状态变更，操作生效。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43900" y="41275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EF5350">
              <a:alpha val="15000"/>
            </a:srgbClr>
          </a:solidFill>
          <a:ln w="12700" cap="flat" cmpd="sng">
            <a:solidFill>
              <a:srgbClr val="EF53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470900" y="4229100"/>
            <a:ext cx="2857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8A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执行异常：受影响行数 = 0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470900" y="4635500"/>
            <a:ext cx="285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未匹配到目标数据记录，或SQL WHERE子句存在语法/逻辑错误，需重新检查条件。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常见问题与解决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4572000"/>
          </a:xfrm>
          <a:prstGeom prst="roundRect">
            <a:avLst>
              <a:gd name="adj" fmla="val 0"/>
            </a:avLst>
          </a:prstGeom>
          <a:solidFill>
            <a:srgbClr val="19232D">
              <a:alpha val="92000"/>
            </a:srgbClr>
          </a:solidFill>
          <a:ln w="12700" cap="flat" cmpd="sng">
            <a:solidFill>
              <a:srgbClr val="4CAF5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更新行数为0，数据无变化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11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0E0E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执行数据库更新指令后，系统返回受影响行数为0，目标业务数据未发生预期修改，导致后续流程无法正常流转。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556000"/>
            <a:ext cx="3111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41400" y="3594100"/>
            <a:ext cx="292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潜在诱因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41400" y="3937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BDBDB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WHERE 条件与实际数据不匹配，或程序中参数绑定顺序错误导致赋值偏差，使筛选逻辑失效。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8260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4CAF5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41400" y="4864100"/>
            <a:ext cx="292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处置方案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41400" y="5207000"/>
            <a:ext cx="292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EEEE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逐行校验SQL逻辑与主键ID；开启SQL日志打印，核对占位符与入参是否严格对应。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70400" y="1524000"/>
            <a:ext cx="3492500" cy="4572000"/>
          </a:xfrm>
          <a:prstGeom prst="roundRect">
            <a:avLst>
              <a:gd name="adj" fmla="val 0"/>
            </a:avLst>
          </a:prstGeom>
          <a:solidFill>
            <a:srgbClr val="19232D">
              <a:alpha val="92000"/>
            </a:srgbClr>
          </a:solidFill>
          <a:ln w="12700" cap="flat" cmpd="sng">
            <a:solidFill>
              <a:srgbClr val="4CAF5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704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60900" y="1714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连接池报错，无法获取连接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60900" y="2413000"/>
            <a:ext cx="311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0E0E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应用启动或运行中抛出连接超时异常，连接池资源耗尽，新请求无法从池中获取可用数据库连接实例。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60900" y="3556000"/>
            <a:ext cx="3111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49800" y="3594100"/>
            <a:ext cx="292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潜在诱因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749800" y="3937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BDBDB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数据库服务进程未正常启动，或配置文件中的连接地址、端口、账号密码存在错误。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660900" y="48260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4CAF5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749800" y="4864100"/>
            <a:ext cx="292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处置方案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749800" y="5207000"/>
            <a:ext cx="292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EEEE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排查网络连通性与DB服务状态；重置连接参数并重启服务，检查连接池最大连接数配置。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91500" y="1524000"/>
            <a:ext cx="3492500" cy="4572000"/>
          </a:xfrm>
          <a:prstGeom prst="roundRect">
            <a:avLst>
              <a:gd name="adj" fmla="val 0"/>
            </a:avLst>
          </a:prstGeom>
          <a:solidFill>
            <a:srgbClr val="19232D">
              <a:alpha val="92000"/>
            </a:srgbClr>
          </a:solidFill>
          <a:ln w="12700" cap="flat" cmpd="sng">
            <a:solidFill>
              <a:srgbClr val="4CAF5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1915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382000" y="1714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资源泄漏，连接未释放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82000" y="2413000"/>
            <a:ext cx="311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0E0E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系统运行一段时间后性能显著下降，连接池资源被持续占用直至耗尽，最终导致服务不可用。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382000" y="3556000"/>
            <a:ext cx="3111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470900" y="3594100"/>
            <a:ext cx="292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潜在诱因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470900" y="3937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BDBDB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代码中未正确关闭 Connection 或 Statement 对象，未使用自动资源管理机制，导致连接无法回收。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382000" y="48260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4CAF5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470900" y="4864100"/>
            <a:ext cx="292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AF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处置方案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470900" y="5207000"/>
            <a:ext cx="292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EEEE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强制使用 try-with-resources 语法结构，确保资源自动关闭；增加连接池的超时回收机制配置。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感谢观看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2995</Words>
  <Application>WPS 演示</Application>
  <PresentationFormat/>
  <Paragraphs>165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Consolas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微信用户</cp:lastModifiedBy>
  <cp:revision>2</cp:revision>
  <dcterms:created xsi:type="dcterms:W3CDTF">2026-05-31T13:22:52Z</dcterms:created>
  <dcterms:modified xsi:type="dcterms:W3CDTF">2026-05-31T13:24:24Z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{"Label":"1","ContentProducer":"001191110102MACQD9K64010000","ProduceID":"7646035507570756572","ReservedCode1":"","ContentPropagator":"","PropagateID":"","ReservedCode2":""}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D29AE9CBE0DE490B908D00D9EC6B2535_12</vt:lpwstr>
  </property>
</Properties>
</file>