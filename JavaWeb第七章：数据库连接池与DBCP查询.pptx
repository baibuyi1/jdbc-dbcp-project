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60" r:id="rId7"/>
    <p:sldId id="261" r:id="rId8"/>
    <p:sldId id="262" r:id="rId9"/>
    <p:sldId id="264" r:id="rId10"/>
    <p:sldId id="265" r:id="rId11"/>
    <p:sldId id="266" r:id="rId12"/>
    <p:sldId id="267" r:id="rId13"/>
    <p:sldId id="268" r:id="rId14"/>
    <p:sldId id="269" r:id="rId15"/>
    <p:sldId id="270" r:id="rId16"/>
    <p:sldId id="274"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JavaWeb课程的第七章。在本章中，我们将深入探讨一个在企业级应用开发中至关重要的技术——数据库连接池。我们将首先回顾传统JDBC操作的痛点，然后引出连接池的概念，并重点学习如何使用Apache Commons DBCP来高效地实现数据库查询。学完本章，你将能够构建出性能更优、更稳定的JavaWeb应用。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章我们将围绕五个核心目标展开。首先，我们会分析传统JDBC模式的不足，从而理解为什么需要连接池。接着，我们会深入学习连接池的工作原理和核心优势。然后，我们将重点掌握DBCP连接池的配置和使用方法。最后，通过一个完整的JavaWeb实战案例，将理论知识应用到实践中，并学会封装工具类来简化开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什么是数据库连接池呢？它的核心思想就是“池化”。想象一个蓄水池，里面预先存好了水。当你需要用水时，直接从池子里取，用完后再把水还回去。连接池也是一样，它预先创建一批数据库连接，应用需要时就从池里“借”，用完后“还”回去，而不是直接销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使用连接池能带来三大核心价值。首先，性能显著提升，因为连接被复用，避免了昂贵的创建和销毁过程。其次，资源得到有效管控，我们可以通过配置限制最大连接数，保护数据库。最后，系统稳定性增强，连接池会自动管理和验证连接，大大降低了出错的风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今天我们重点学习的是Apache Commons DBCP。它是一个非常成熟和可靠的连接池实现，由Apache基金会维护。DBCP实现了Java标准的DataSource接口，这意味着它可以很方便地集成到各种Java项目中。我们主要打交道的就是它的核心类BasicDataSource。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配置DBCP有两种方式。第一种是编程式配置，也就是硬编码。我们直接创建一个BasicDataSource对象，然后通过setter方法设置数据库URL、用户名、密码以及连接池的各种参数，比如初始连接数、最大连接数等。这种方式直观，但不够灵活，因为配置信息写死在代码里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种方式，也是更推荐的方式，是使用配置文件。我们将所有配置信息，包括数据库连接信息和连接池参数，都写在一个.properties文件里。然后通过BasicDataSourceFactory工厂类来加载这个配置文件并创建数据源。这样做的好处是实现了代码和配置的解耦，修改配置无需重新编译代码，非常方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JavaWeb应用中，我们应该如何整合DBCP呢？最佳实践是：在Web应用启动时，就初始化好DataSource，并把它放在应用域中，供整个应用共享。然后，我们创建DAO层来专门处理数据库操作，Servlet作为控制器，调用DAO来完成业务。这样的分层结构清晰、解耦，易于维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让我们来看一个具体的案例。我们创建一个UserDAO类，它使用DbUtils工具库来简化JDBC操作，它的构造方法直接传入我们之前创建的DBCP数据源。然后，在UserServlet中，我们调用UserDAO的findAllUsers方法来获取用户列表，并将结果输出到网页上。整个过程中，连接的获取和归还都由DBCP和DbUtils自动管理，我们的代码非常简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谈谈连接池的性能调优。这几个参数非常关键。`maxTotal`是最重要的，它决定了连接池的最大容量，一定要设置，并且不能超过数据库本身的限制。`initialSize`和`minIdle`决定了连接池的预热和最低水位，合理设置可以提高响应速度。`maxWaitMillis`则设置了获取连接的超时时间，防止线程无限等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另一组重要的参数是关于连接有效性验证的。`validationQuery`必须配置，比如`SELECT 1`，它是连接池判断连接是否有效的依据。`testOnBorrow`在获取连接时验证，最安全但性能稍差。更推荐的做法是开启`testWhileIdle`，让后台线程定期检查空闲连接的有效性，这样既能保证连接质量，又不会影响前台性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好了，让我们来总结一下本章的核心知识点。我们理解了为什么需要连接池，掌握了连接池的核心思想。我们学习了DBCP的定义、两种配置方式以及如何在Web应用中整合它。希望大家能牢牢记住这些要点，它们是构建高性能JavaWeb应用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本章内容到此结束，感谢大家的聆听。现在是问答环节，大家有什么问题可以随时提出。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3" Type="http://schemas.openxmlformats.org/officeDocument/2006/relationships/notesSlide" Target="../notesSlides/notesSlide3.xml"/><Relationship Id="rId12" Type="http://schemas.openxmlformats.org/officeDocument/2006/relationships/slideLayout" Target="../slideLayouts/slideLayout12.xml"/><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40F">
              <a:alpha val="5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第七章 数据库连接池</a:t>
            </a:r>
            <a:b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DBCP实现数据查询</a:t>
            </a:r>
            <a:endParaRPr lang="en-US" sz="1100"/>
          </a:p>
        </p:txBody>
      </p:sp>
      <p:sp>
        <p:nvSpPr>
          <p:cNvPr id="4" name="AutoShape 4"/>
          <p:cNvSpPr/>
          <p:nvPr/>
        </p:nvSpPr>
        <p:spPr>
          <a:xfrm>
            <a:off x="0" y="431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a:p>
        </p:txBody>
      </p:sp>
      <p:sp>
        <p:nvSpPr>
          <p:cNvPr id="6" name="AutoShape 6"/>
          <p:cNvSpPr/>
          <p:nvPr/>
        </p:nvSpPr>
        <p:spPr>
          <a:xfrm>
            <a:off x="609600" y="5778500"/>
            <a:ext cx="571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8" name="AutoShape 8"/>
          <p:cNvSpPr/>
          <p:nvPr/>
        </p:nvSpPr>
        <p:spPr>
          <a:xfrm>
            <a:off x="6731000" y="5778500"/>
            <a:ext cx="508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本章学习目标</a:t>
            </a:r>
            <a:endParaRPr lang="en-US" sz="1100"/>
          </a:p>
        </p:txBody>
      </p:sp>
      <p:sp>
        <p:nvSpPr>
          <p:cNvPr id="4" name="AutoShape 4"/>
          <p:cNvSpPr/>
          <p:nvPr/>
        </p:nvSpPr>
        <p:spPr>
          <a:xfrm>
            <a:off x="762000" y="1651000"/>
            <a:ext cx="3429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理解传统JDBC的弊端</a:t>
            </a:r>
            <a:endParaRPr lang="en-US" sz="1100"/>
          </a:p>
        </p:txBody>
      </p:sp>
      <p:sp>
        <p:nvSpPr>
          <p:cNvPr id="7" name="AutoShape 7"/>
          <p:cNvSpPr/>
          <p:nvPr/>
        </p:nvSpPr>
        <p:spPr>
          <a:xfrm>
            <a:off x="952500" y="2413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深入剖析传统JDBC开发模式的局限性，认识到频繁创建与销毁数据库连接带来的性能损耗，从而理解引入数据库连接池技术的核心必要性。</a:t>
            </a:r>
            <a:endParaRPr lang="en-US" sz="1100"/>
          </a:p>
        </p:txBody>
      </p:sp>
      <p:sp>
        <p:nvSpPr>
          <p:cNvPr id="8" name="AutoShape 8"/>
          <p:cNvSpPr/>
          <p:nvPr/>
        </p:nvSpPr>
        <p:spPr>
          <a:xfrm>
            <a:off x="4318000" y="1651000"/>
            <a:ext cx="3429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3180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508500" y="18415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掌握连接池核心原理</a:t>
            </a:r>
            <a:endParaRPr lang="en-US" sz="1100"/>
          </a:p>
        </p:txBody>
      </p:sp>
      <p:sp>
        <p:nvSpPr>
          <p:cNvPr id="11" name="AutoShape 11"/>
          <p:cNvSpPr/>
          <p:nvPr/>
        </p:nvSpPr>
        <p:spPr>
          <a:xfrm>
            <a:off x="4508500" y="2413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透彻理解“池化”设计思想的本质，掌握连接池如何通过预先创建和管理连接对象来优化资源利用，了解其在高并发场景下的性能优势。</a:t>
            </a:r>
            <a:endParaRPr lang="en-US" sz="1100"/>
          </a:p>
        </p:txBody>
      </p:sp>
      <p:sp>
        <p:nvSpPr>
          <p:cNvPr id="12" name="AutoShape 12"/>
          <p:cNvSpPr/>
          <p:nvPr/>
        </p:nvSpPr>
        <p:spPr>
          <a:xfrm>
            <a:off x="7874000" y="1651000"/>
            <a:ext cx="3429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8740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064500" y="18415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熟练使用DBCP连接池</a:t>
            </a:r>
            <a:endParaRPr lang="en-US" sz="1100"/>
          </a:p>
        </p:txBody>
      </p:sp>
      <p:sp>
        <p:nvSpPr>
          <p:cNvPr id="15" name="AutoShape 15"/>
          <p:cNvSpPr/>
          <p:nvPr/>
        </p:nvSpPr>
        <p:spPr>
          <a:xfrm>
            <a:off x="8064500" y="2413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掌握DBCP的开发环境搭建流程，熟练配置基本参数。重点学习硬编码与配置文件两种核心配置方式，并理解核心参数对连接池性能的影响。</a:t>
            </a:r>
            <a:endParaRPr lang="en-US" sz="1100"/>
          </a:p>
        </p:txBody>
      </p:sp>
      <p:sp>
        <p:nvSpPr>
          <p:cNvPr id="16" name="AutoShape 16"/>
          <p:cNvSpPr/>
          <p:nvPr/>
        </p:nvSpPr>
        <p:spPr>
          <a:xfrm>
            <a:off x="762000" y="3937000"/>
            <a:ext cx="5334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3937000"/>
            <a:ext cx="5334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52500" y="41275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实战JavaWeb整合应用</a:t>
            </a:r>
            <a:endParaRPr lang="en-US" sz="1100"/>
          </a:p>
        </p:txBody>
      </p:sp>
      <p:sp>
        <p:nvSpPr>
          <p:cNvPr id="19" name="AutoShape 19"/>
          <p:cNvSpPr/>
          <p:nvPr/>
        </p:nvSpPr>
        <p:spPr>
          <a:xfrm>
            <a:off x="952500" y="46990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通过真实的JavaWeb项目案例，学会在Servlet组件中集成DBCP连接池进行数据查询操作。理解Web层与数据访问层的交互逻辑，掌握从配置数据源到执行SQL语句的完整开发链路，将理论知识转化为实际开发能力。</a:t>
            </a:r>
            <a:endParaRPr lang="en-US" sz="1100"/>
          </a:p>
        </p:txBody>
      </p:sp>
      <p:sp>
        <p:nvSpPr>
          <p:cNvPr id="20" name="AutoShape 20"/>
          <p:cNvSpPr/>
          <p:nvPr/>
        </p:nvSpPr>
        <p:spPr>
          <a:xfrm>
            <a:off x="6350000" y="3937000"/>
            <a:ext cx="5334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350000" y="3937000"/>
            <a:ext cx="5334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540500" y="41275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学会工具类封装技巧</a:t>
            </a:r>
            <a:endParaRPr lang="en-US" sz="1100"/>
          </a:p>
        </p:txBody>
      </p:sp>
      <p:sp>
        <p:nvSpPr>
          <p:cNvPr id="23" name="AutoShape 23"/>
          <p:cNvSpPr/>
          <p:nvPr/>
        </p:nvSpPr>
        <p:spPr>
          <a:xfrm>
            <a:off x="6540500" y="46990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学习将重复的数据库操作逻辑封装为通用工具类，简化获取连接、释放资源、执行增删改查等步骤。掌握代码复用和模块化设计的方法，有效减少冗余代码，显著提升企业级项目的开发效率与可维护性。</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数据库连接池：连接的“蓄水池”</a:t>
            </a:r>
            <a:endParaRPr lang="en-US" sz="1100"/>
          </a:p>
        </p:txBody>
      </p:sp>
      <p:sp>
        <p:nvSpPr>
          <p:cNvPr id="4" name="AutoShape 4"/>
          <p:cNvSpPr/>
          <p:nvPr/>
        </p:nvSpPr>
        <p:spPr>
          <a:xfrm>
            <a:off x="762000" y="1524000"/>
            <a:ext cx="10668000" cy="1143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0800" cy="1143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1016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核心思想：池化 (Pooling)</a:t>
            </a:r>
            <a:endParaRPr lang="en-US" sz="1100"/>
          </a:p>
        </p:txBody>
      </p:sp>
      <p:sp>
        <p:nvSpPr>
          <p:cNvPr id="7" name="AutoShape 7"/>
          <p:cNvSpPr/>
          <p:nvPr/>
        </p:nvSpPr>
        <p:spPr>
          <a:xfrm>
            <a:off x="1016000" y="2032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这是一种资源管理模式，容器会预先创建并管理一组数据库连接。就像生活中的蓄水池，提前储备好“水”（连接），需要时直接取用，用完后归还，避免了频繁创建和销毁连接带来的巨大性能开销。</a:t>
            </a:r>
            <a:endParaRPr lang="en-US" sz="1100"/>
          </a:p>
        </p:txBody>
      </p:sp>
      <p:sp>
        <p:nvSpPr>
          <p:cNvPr id="8" name="AutoShape 8"/>
          <p:cNvSpPr/>
          <p:nvPr/>
        </p:nvSpPr>
        <p:spPr>
          <a:xfrm>
            <a:off x="762000" y="2921000"/>
            <a:ext cx="26035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2921000"/>
            <a:ext cx="2603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073400"/>
            <a:ext cx="304800" cy="304800"/>
          </a:xfrm>
          <a:prstGeom prst="rect">
            <a:avLst/>
          </a:prstGeom>
        </p:spPr>
      </p:pic>
      <p:sp>
        <p:nvSpPr>
          <p:cNvPr id="11" name="AutoShape 11"/>
          <p:cNvSpPr/>
          <p:nvPr/>
        </p:nvSpPr>
        <p:spPr>
          <a:xfrm>
            <a:off x="1397000" y="3073400"/>
            <a:ext cx="184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初始化</a:t>
            </a:r>
            <a:endParaRPr lang="en-US" sz="1100"/>
          </a:p>
        </p:txBody>
      </p:sp>
      <p:sp>
        <p:nvSpPr>
          <p:cNvPr id="12" name="AutoShape 12"/>
          <p:cNvSpPr/>
          <p:nvPr/>
        </p:nvSpPr>
        <p:spPr>
          <a:xfrm>
            <a:off x="889000" y="3556000"/>
            <a:ext cx="2349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应用程序启动时，连接池根据配置参数创建固定数量的初始连接，并将这些连接标记为“空闲”状态，存入连接队列中等待使用。</a:t>
            </a:r>
            <a:endParaRPr lang="en-US" sz="1100"/>
          </a:p>
        </p:txBody>
      </p:sp>
      <p:sp>
        <p:nvSpPr>
          <p:cNvPr id="13" name="AutoShape 13"/>
          <p:cNvSpPr/>
          <p:nvPr/>
        </p:nvSpPr>
        <p:spPr>
          <a:xfrm>
            <a:off x="3492500" y="2921000"/>
            <a:ext cx="26035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492500" y="2921000"/>
            <a:ext cx="2603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19500" y="3073400"/>
            <a:ext cx="304800" cy="304800"/>
          </a:xfrm>
          <a:prstGeom prst="rect">
            <a:avLst/>
          </a:prstGeom>
        </p:spPr>
      </p:pic>
      <p:sp>
        <p:nvSpPr>
          <p:cNvPr id="16" name="AutoShape 16"/>
          <p:cNvSpPr/>
          <p:nvPr/>
        </p:nvSpPr>
        <p:spPr>
          <a:xfrm>
            <a:off x="4064000" y="3073400"/>
            <a:ext cx="184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获取连接</a:t>
            </a:r>
            <a:endParaRPr lang="en-US" sz="1100"/>
          </a:p>
        </p:txBody>
      </p:sp>
      <p:sp>
        <p:nvSpPr>
          <p:cNvPr id="17" name="AutoShape 17"/>
          <p:cNvSpPr/>
          <p:nvPr/>
        </p:nvSpPr>
        <p:spPr>
          <a:xfrm>
            <a:off x="3619500" y="3556000"/>
            <a:ext cx="2349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当业务代码需要访问数据库时，直接向连接池发出请求“借用(Borrow)”。池会优先分配空闲连接，无可用连接时则根据策略等待或新建。</a:t>
            </a:r>
            <a:endParaRPr lang="en-US" sz="1100"/>
          </a:p>
        </p:txBody>
      </p:sp>
      <p:sp>
        <p:nvSpPr>
          <p:cNvPr id="18" name="AutoShape 18"/>
          <p:cNvSpPr/>
          <p:nvPr/>
        </p:nvSpPr>
        <p:spPr>
          <a:xfrm>
            <a:off x="6159500" y="2921000"/>
            <a:ext cx="26035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159500" y="2921000"/>
            <a:ext cx="2603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6500" y="3073400"/>
            <a:ext cx="304800" cy="304800"/>
          </a:xfrm>
          <a:prstGeom prst="rect">
            <a:avLst/>
          </a:prstGeom>
        </p:spPr>
      </p:pic>
      <p:sp>
        <p:nvSpPr>
          <p:cNvPr id="21" name="AutoShape 21"/>
          <p:cNvSpPr/>
          <p:nvPr/>
        </p:nvSpPr>
        <p:spPr>
          <a:xfrm>
            <a:off x="6731000" y="3073400"/>
            <a:ext cx="184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使用连接</a:t>
            </a:r>
            <a:endParaRPr lang="en-US" sz="1100"/>
          </a:p>
        </p:txBody>
      </p:sp>
      <p:sp>
        <p:nvSpPr>
          <p:cNvPr id="22" name="AutoShape 22"/>
          <p:cNvSpPr/>
          <p:nvPr/>
        </p:nvSpPr>
        <p:spPr>
          <a:xfrm>
            <a:off x="6286500" y="3556000"/>
            <a:ext cx="2349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应用程序通过获取到的连接对象执行具体的SQL操作，如数据查询、插入、更新或删除。这是连接处于“活跃”状态的核心业务处理阶段。</a:t>
            </a:r>
            <a:endParaRPr lang="en-US" sz="1100"/>
          </a:p>
        </p:txBody>
      </p:sp>
      <p:sp>
        <p:nvSpPr>
          <p:cNvPr id="23" name="AutoShape 23"/>
          <p:cNvSpPr/>
          <p:nvPr/>
        </p:nvSpPr>
        <p:spPr>
          <a:xfrm>
            <a:off x="8826500" y="2921000"/>
            <a:ext cx="26035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826500" y="2921000"/>
            <a:ext cx="2603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953500" y="3073400"/>
            <a:ext cx="304800" cy="304800"/>
          </a:xfrm>
          <a:prstGeom prst="rect">
            <a:avLst/>
          </a:prstGeom>
        </p:spPr>
      </p:pic>
      <p:sp>
        <p:nvSpPr>
          <p:cNvPr id="26" name="AutoShape 26"/>
          <p:cNvSpPr/>
          <p:nvPr/>
        </p:nvSpPr>
        <p:spPr>
          <a:xfrm>
            <a:off x="9398000" y="3073400"/>
            <a:ext cx="184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归还连接</a:t>
            </a:r>
            <a:endParaRPr lang="en-US" sz="1100"/>
          </a:p>
        </p:txBody>
      </p:sp>
      <p:sp>
        <p:nvSpPr>
          <p:cNvPr id="27" name="AutoShape 27"/>
          <p:cNvSpPr/>
          <p:nvPr/>
        </p:nvSpPr>
        <p:spPr>
          <a:xfrm>
            <a:off x="8953500" y="3556000"/>
            <a:ext cx="2349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操作完成后调用 close() 方法。这并非真正关闭物理连接，而是将连接状态重置，重新标记为“空闲”并归还(Return)至池中，供后续复用。</a:t>
            </a:r>
            <a:endParaRPr lang="en-US" sz="1100"/>
          </a:p>
        </p:txBody>
      </p:sp>
      <p:sp>
        <p:nvSpPr>
          <p:cNvPr id="28" name="AutoShape 28"/>
          <p:cNvSpPr/>
          <p:nvPr/>
        </p:nvSpPr>
        <p:spPr>
          <a:xfrm>
            <a:off x="762000" y="5270500"/>
            <a:ext cx="10668000" cy="12065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5435600"/>
            <a:ext cx="279400" cy="279400"/>
          </a:xfrm>
          <a:prstGeom prst="rect">
            <a:avLst/>
          </a:prstGeom>
        </p:spPr>
      </p:pic>
      <p:sp>
        <p:nvSpPr>
          <p:cNvPr id="30" name="AutoShape 30"/>
          <p:cNvSpPr/>
          <p:nvPr/>
        </p:nvSpPr>
        <p:spPr>
          <a:xfrm>
            <a:off x="1397000" y="5410200"/>
            <a:ext cx="977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效能关键：从“每次新建”到“循环复用”</a:t>
            </a:r>
            <a:endParaRPr lang="en-US" sz="1100"/>
          </a:p>
        </p:txBody>
      </p:sp>
      <p:sp>
        <p:nvSpPr>
          <p:cNvPr id="31" name="AutoShape 31"/>
          <p:cNvSpPr/>
          <p:nvPr/>
        </p:nvSpPr>
        <p:spPr>
          <a:xfrm>
            <a:off x="952500" y="5816600"/>
            <a:ext cx="10160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F293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连接池通过将昂贵的连接创建与销毁操作从运行时转移到系统初始化阶段，显著降低了数据库的响应延迟。在高并发场景下，这种复用机制是保障系统吞吐量和稳定性的重要基石。</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连接池带来的三大核心价值</a:t>
            </a:r>
            <a:endParaRPr lang="en-US" sz="1100"/>
          </a:p>
        </p:txBody>
      </p:sp>
      <p:sp>
        <p:nvSpPr>
          <p:cNvPr id="4" name="AutoShape 4"/>
          <p:cNvSpPr/>
          <p:nvPr/>
        </p:nvSpPr>
        <p:spPr>
          <a:xfrm>
            <a:off x="762000" y="1651000"/>
            <a:ext cx="3492500" cy="419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显著提升性能</a:t>
            </a:r>
            <a:endParaRPr lang="en-US" sz="1100"/>
          </a:p>
        </p:txBody>
      </p:sp>
      <p:cxnSp>
        <p:nvCxnSpPr>
          <p:cNvPr id="7" name="Connector 7"/>
          <p:cNvCxnSpPr/>
          <p:nvPr/>
        </p:nvCxnSpPr>
        <p:spPr>
          <a:xfrm rot="-14031">
            <a:off x="952513" y="2660650"/>
            <a:ext cx="3111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952500" y="28575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复用连接，消除开销</a:t>
            </a:r>
            <a:endParaRPr lang="en-US" sz="1100"/>
          </a:p>
        </p:txBody>
      </p:sp>
      <p:sp>
        <p:nvSpPr>
          <p:cNvPr id="9" name="AutoShape 9"/>
          <p:cNvSpPr/>
          <p:nvPr/>
        </p:nvSpPr>
        <p:spPr>
          <a:xfrm>
            <a:off x="952500" y="3302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避免频繁创建和销毁物理连接的巨大开销，将连接的获取和归还简化为池内状态转换，操作速度极快，大幅降低延迟。</a:t>
            </a:r>
            <a:endParaRPr lang="en-US" sz="1100"/>
          </a:p>
        </p:txBody>
      </p:sp>
      <p:sp>
        <p:nvSpPr>
          <p:cNvPr id="10" name="AutoShape 10"/>
          <p:cNvSpPr/>
          <p:nvPr/>
        </p:nvSpPr>
        <p:spPr>
          <a:xfrm>
            <a:off x="952500" y="44450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资源预热，极速响应</a:t>
            </a:r>
            <a:endParaRPr lang="en-US" sz="1100"/>
          </a:p>
        </p:txBody>
      </p:sp>
      <p:sp>
        <p:nvSpPr>
          <p:cNvPr id="11" name="AutoShape 11"/>
          <p:cNvSpPr/>
          <p:nvPr/>
        </p:nvSpPr>
        <p:spPr>
          <a:xfrm>
            <a:off x="952500" y="48895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预先初始化好的连接随时待命，应用请求无需等待连接建立过程，可立即获得可用连接，显著缩短业务响应时间。</a:t>
            </a:r>
            <a:endParaRPr lang="en-US" sz="1100"/>
          </a:p>
        </p:txBody>
      </p:sp>
      <p:sp>
        <p:nvSpPr>
          <p:cNvPr id="12" name="AutoShape 12"/>
          <p:cNvSpPr/>
          <p:nvPr/>
        </p:nvSpPr>
        <p:spPr>
          <a:xfrm>
            <a:off x="4445000" y="1651000"/>
            <a:ext cx="3492500" cy="419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445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35500" y="1905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有效管控资源</a:t>
            </a:r>
            <a:endParaRPr lang="en-US" sz="1100"/>
          </a:p>
        </p:txBody>
      </p:sp>
      <p:cxnSp>
        <p:nvCxnSpPr>
          <p:cNvPr id="15" name="Connector 15"/>
          <p:cNvCxnSpPr/>
          <p:nvPr/>
        </p:nvCxnSpPr>
        <p:spPr>
          <a:xfrm rot="-14031">
            <a:off x="4635513" y="2660650"/>
            <a:ext cx="3111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6" name="AutoShape 16"/>
          <p:cNvSpPr/>
          <p:nvPr/>
        </p:nvSpPr>
        <p:spPr>
          <a:xfrm>
            <a:off x="4635500" y="28575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并发限制，保护后端</a:t>
            </a:r>
            <a:endParaRPr lang="en-US" sz="1100"/>
          </a:p>
        </p:txBody>
      </p:sp>
      <p:sp>
        <p:nvSpPr>
          <p:cNvPr id="17" name="AutoShape 17"/>
          <p:cNvSpPr/>
          <p:nvPr/>
        </p:nvSpPr>
        <p:spPr>
          <a:xfrm>
            <a:off x="4635500" y="3302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通过配置 maxTotal 等核心参数，精确控制应用对数据库的最大并发连接数，防止突发流量导致数据库连接耗尽，保障服务可用性。</a:t>
            </a:r>
            <a:endParaRPr lang="en-US" sz="1100"/>
          </a:p>
        </p:txBody>
      </p:sp>
      <p:sp>
        <p:nvSpPr>
          <p:cNvPr id="18" name="AutoShape 18"/>
          <p:cNvSpPr/>
          <p:nvPr/>
        </p:nvSpPr>
        <p:spPr>
          <a:xfrm>
            <a:off x="4635500" y="44450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高效复用，降本增效</a:t>
            </a:r>
            <a:endParaRPr lang="en-US" sz="1100"/>
          </a:p>
        </p:txBody>
      </p:sp>
      <p:sp>
        <p:nvSpPr>
          <p:cNvPr id="19" name="AutoShape 19"/>
          <p:cNvSpPr/>
          <p:nvPr/>
        </p:nvSpPr>
        <p:spPr>
          <a:xfrm>
            <a:off x="4635500" y="48895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单个物理连接可被多个业务请求循环使用，极大地提高了昂贵网络连接的利用率，在高并发场景下减少了资源的浪费。</a:t>
            </a:r>
            <a:endParaRPr lang="en-US" sz="1100"/>
          </a:p>
        </p:txBody>
      </p:sp>
      <p:sp>
        <p:nvSpPr>
          <p:cNvPr id="20" name="AutoShape 20"/>
          <p:cNvSpPr/>
          <p:nvPr/>
        </p:nvSpPr>
        <p:spPr>
          <a:xfrm>
            <a:off x="8128000" y="1651000"/>
            <a:ext cx="3492500" cy="419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128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318500" y="1905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增强系统稳定性</a:t>
            </a:r>
            <a:endParaRPr lang="en-US" sz="1100"/>
          </a:p>
        </p:txBody>
      </p:sp>
      <p:cxnSp>
        <p:nvCxnSpPr>
          <p:cNvPr id="23" name="Connector 23"/>
          <p:cNvCxnSpPr/>
          <p:nvPr/>
        </p:nvCxnSpPr>
        <p:spPr>
          <a:xfrm rot="-14031">
            <a:off x="8318513" y="2660650"/>
            <a:ext cx="3111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24" name="AutoShape 24"/>
          <p:cNvSpPr/>
          <p:nvPr/>
        </p:nvSpPr>
        <p:spPr>
          <a:xfrm>
            <a:off x="8318500" y="28575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自动验证，剔除无效</a:t>
            </a:r>
            <a:endParaRPr lang="en-US" sz="1100"/>
          </a:p>
        </p:txBody>
      </p:sp>
      <p:sp>
        <p:nvSpPr>
          <p:cNvPr id="25" name="AutoShape 25"/>
          <p:cNvSpPr/>
          <p:nvPr/>
        </p:nvSpPr>
        <p:spPr>
          <a:xfrm>
            <a:off x="8318500" y="3302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支持在获取、归还或空闲时自动执行有效性检测（如 SELECT 1），及时发现并剔除断连或超时的连接，避免业务操作失败。</a:t>
            </a:r>
            <a:endParaRPr lang="en-US" sz="1100"/>
          </a:p>
        </p:txBody>
      </p:sp>
      <p:sp>
        <p:nvSpPr>
          <p:cNvPr id="26" name="AutoShape 26"/>
          <p:cNvSpPr/>
          <p:nvPr/>
        </p:nvSpPr>
        <p:spPr>
          <a:xfrm>
            <a:off x="8318500" y="44450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统一管理，减少风险</a:t>
            </a:r>
            <a:endParaRPr lang="en-US" sz="1100"/>
          </a:p>
        </p:txBody>
      </p:sp>
      <p:sp>
        <p:nvSpPr>
          <p:cNvPr id="27" name="AutoShape 27"/>
          <p:cNvSpPr/>
          <p:nvPr/>
        </p:nvSpPr>
        <p:spPr>
          <a:xfrm>
            <a:off x="8318500" y="48895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将连接的全生命周期逻辑封装在池内，标准化的管理流程减少了手动编码错误，从根本上降低了连接泄漏和资源失控的风险。</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Apache Commons DBCP：成熟可靠的连接池实现</a:t>
            </a:r>
            <a:endParaRPr lang="en-US" sz="1100"/>
          </a:p>
        </p:txBody>
      </p:sp>
      <p:sp>
        <p:nvSpPr>
          <p:cNvPr id="4" name="AutoShape 4"/>
          <p:cNvSpPr/>
          <p:nvPr/>
        </p:nvSpPr>
        <p:spPr>
          <a:xfrm>
            <a:off x="762000" y="1651000"/>
            <a:ext cx="34925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3111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核心定义</a:t>
            </a:r>
            <a:endParaRPr lang="en-US" sz="1100"/>
          </a:p>
        </p:txBody>
      </p:sp>
      <p:sp>
        <p:nvSpPr>
          <p:cNvPr id="7" name="AutoShape 7"/>
          <p:cNvSpPr/>
          <p:nvPr/>
        </p:nvSpPr>
        <p:spPr>
          <a:xfrm>
            <a:off x="952500" y="2540000"/>
            <a:ext cx="31115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DBCP（Database Connection Pool）是 Apache 软件基金会旗下的顶级开源项目。作为一款历经多年生产环境考验的数据库连接池实现，它以</a:t>
            </a: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成熟、稳定、功能全面</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著称，是 Java 生态中最早的连接池技术之一，广泛应用于各类企业级应用开发中。</a:t>
            </a:r>
            <a:endParaRPr lang="en-US" sz="1100"/>
          </a:p>
        </p:txBody>
      </p:sp>
      <p:sp>
        <p:nvSpPr>
          <p:cNvPr id="8" name="AutoShape 8"/>
          <p:cNvSpPr/>
          <p:nvPr/>
        </p:nvSpPr>
        <p:spPr>
          <a:xfrm>
            <a:off x="4470400" y="1651000"/>
            <a:ext cx="34925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704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660900" y="1905000"/>
            <a:ext cx="3111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标准与兼容性</a:t>
            </a:r>
            <a:endParaRPr lang="en-US" sz="1100"/>
          </a:p>
        </p:txBody>
      </p:sp>
      <p:sp>
        <p:nvSpPr>
          <p:cNvPr id="11" name="AutoShape 11"/>
          <p:cNvSpPr/>
          <p:nvPr/>
        </p:nvSpPr>
        <p:spPr>
          <a:xfrm>
            <a:off x="4660900" y="2540000"/>
            <a:ext cx="31115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严格遵循 Java EE 规范，原生实现了</a:t>
            </a:r>
            <a:r>
              <a:rPr lang="en-US" sz="1300" b="0" i="0" u="none" strike="noStrike">
                <a:solidFill>
                  <a:srgbClr val="DC2626"/>
                </a:solidFill>
                <a:latin typeface="Menlo"/>
                <a:ea typeface="Menlo"/>
                <a:cs typeface="Menlo"/>
                <a:sym typeface="Menlo"/>
              </a:rPr>
              <a:t>javax.sql.DataSource</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接口。这一特性使其具备极佳的通用性，无需修改核心业务代码即可无缝集成到 Spring、Tomcat、JBoss 等主流 Java 开发框架与应用服务器中，大幅降低了系统耦合度与迁移成本。</a:t>
            </a:r>
            <a:endParaRPr lang="en-US" sz="1100"/>
          </a:p>
        </p:txBody>
      </p:sp>
      <p:sp>
        <p:nvSpPr>
          <p:cNvPr id="12" name="AutoShape 12"/>
          <p:cNvSpPr/>
          <p:nvPr/>
        </p:nvSpPr>
        <p:spPr>
          <a:xfrm>
            <a:off x="8191500" y="1651000"/>
            <a:ext cx="34925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1915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382000" y="1905000"/>
            <a:ext cx="3111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核心实现组件</a:t>
            </a:r>
            <a:endParaRPr lang="en-US" sz="1100"/>
          </a:p>
        </p:txBody>
      </p:sp>
      <p:sp>
        <p:nvSpPr>
          <p:cNvPr id="15" name="AutoShape 15"/>
          <p:cNvSpPr/>
          <p:nvPr/>
        </p:nvSpPr>
        <p:spPr>
          <a:xfrm>
            <a:off x="8382000" y="2540000"/>
            <a:ext cx="31115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核心核心类为</a:t>
            </a:r>
            <a:r>
              <a:rPr lang="en-US" sz="1300" b="0" i="0" u="none" strike="noStrike">
                <a:solidFill>
                  <a:srgbClr val="DC2626"/>
                </a:solidFill>
                <a:latin typeface="Menlo"/>
                <a:ea typeface="Menlo"/>
                <a:cs typeface="Menlo"/>
                <a:sym typeface="Menlo"/>
              </a:rPr>
              <a:t>BasicDataSource</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它封装了连接池的核心管理逻辑，包括连接的创建、复用、回收与销毁。通过配置该类的参数（如最大连接数、初始连接数、超时时间等），开发者可以灵活控制数据库资源的分配策略，满足不同业务场景下的性能与稳定性需求。</a:t>
            </a:r>
            <a:endParaRPr lang="en-US" sz="1100"/>
          </a:p>
        </p:txBody>
      </p:sp>
      <p:sp>
        <p:nvSpPr>
          <p:cNvPr id="16" name="AutoShape 16"/>
          <p:cNvSpPr/>
          <p:nvPr/>
        </p:nvSpPr>
        <p:spPr>
          <a:xfrm>
            <a:off x="762000" y="4699000"/>
            <a:ext cx="10922000" cy="16510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699000"/>
            <a:ext cx="50800" cy="1651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4826000"/>
            <a:ext cx="1041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为何选择 DBCP？</a:t>
            </a:r>
            <a:endParaRPr lang="en-US" sz="1100"/>
          </a:p>
        </p:txBody>
      </p:sp>
      <p:sp>
        <p:nvSpPr>
          <p:cNvPr id="19" name="AutoShape 19"/>
          <p:cNvSpPr/>
          <p:nvPr/>
        </p:nvSpPr>
        <p:spPr>
          <a:xfrm>
            <a:off x="1016000" y="5334000"/>
            <a:ext cx="1041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在层出不穷的数据库连接池技术中，DBCP 凭借其悠久的历史和卓越的稳定性，依然是许多传统企业级应用和基础框架的首选。它不追求极致的性能指标，而是在可靠性、兼容性和可维护性上做到了平衡，是构建稳健后端数据访问层的“基石”型组件，尤其适合对系统稳定性有极高要求的关键业务场景。</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方式一：编程式配置DBCP</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625600"/>
            <a:ext cx="1028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这种方式通过 Java 代码直接实例化</a:t>
            </a: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BasicDataSource</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并调用 setter 方法配置属性，将数据库连接信息与连接池核心参数（如初始连接数、最大连接数等）硬编码在程序中。它无需依赖外部配置文件，配置逻辑直观且集成度高，是开发阶段进行快速功能验证、单元测试或构建简单独立应用时的首选方案。</a:t>
            </a:r>
            <a:endParaRPr lang="en-US" sz="1100"/>
          </a:p>
        </p:txBody>
      </p:sp>
      <p:sp>
        <p:nvSpPr>
          <p:cNvPr id="6" name="AutoShape 6"/>
          <p:cNvSpPr/>
          <p:nvPr/>
        </p:nvSpPr>
        <p:spPr>
          <a:xfrm>
            <a:off x="762000" y="2984500"/>
            <a:ext cx="10668000" cy="3111500"/>
          </a:xfrm>
          <a:prstGeom prst="roundRect">
            <a:avLst>
              <a:gd name="adj" fmla="val 0"/>
            </a:avLst>
          </a:prstGeom>
          <a:solidFill>
            <a:srgbClr val="171921">
              <a:alpha val="94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984500"/>
            <a:ext cx="10668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3149600"/>
            <a:ext cx="508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94A3B8"/>
                </a:solidFill>
                <a:latin typeface="Consolas" panose="020B0609020204030204"/>
                <a:ea typeface="Consolas" panose="020B0609020204030204"/>
                <a:cs typeface="Consolas" panose="020B0609020204030204"/>
                <a:sym typeface="Consolas" panose="020B0609020204030204"/>
              </a:rPr>
              <a:t>// 导入DBCP核心数据源类</a:t>
            </a:r>
            <a:endParaRPr lang="en-US" sz="1100"/>
          </a:p>
          <a:p>
            <a:pPr marL="0" indent="0" algn="l">
              <a:lnSpc>
                <a:spcPct val="108000"/>
              </a:lnSpc>
            </a:pPr>
            <a:r>
              <a:rPr lang="en-US" sz="1200" b="0" i="0" u="none" strike="noStrike">
                <a:solidFill>
                  <a:srgbClr val="A7F3D0"/>
                </a:solidFill>
                <a:latin typeface="Consolas" panose="020B0609020204030204"/>
                <a:ea typeface="Consolas" panose="020B0609020204030204"/>
                <a:cs typeface="Consolas" panose="020B0609020204030204"/>
                <a:sym typeface="Consolas" panose="020B0609020204030204"/>
              </a:rPr>
              <a:t>import org.apache.commons.dbcp2.BasicDataSource;</a:t>
            </a:r>
            <a:endParaRPr lang="en-US" sz="1200" b="0" i="0" u="none" strike="noStrike">
              <a:solidFill>
                <a:srgbClr val="A7F3D0"/>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rPr>
              <a:t>public class DBCPProgrammaticConfig {</a:t>
            </a:r>
            <a:endPar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rPr>
              <a:t>public static void main(String[] args) {</a:t>
            </a:r>
            <a:endPar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endParaRPr>
          </a:p>
        </p:txBody>
      </p:sp>
      <p:cxnSp>
        <p:nvCxnSpPr>
          <p:cNvPr id="9" name="Connector 9"/>
          <p:cNvCxnSpPr/>
          <p:nvPr/>
        </p:nvCxnSpPr>
        <p:spPr>
          <a:xfrm rot="5359557">
            <a:off x="5556250" y="3708437"/>
            <a:ext cx="1079500" cy="12700"/>
          </a:xfrm>
          <a:prstGeom prst="straightConnector1">
            <a:avLst/>
          </a:prstGeom>
          <a:solidFill>
            <a:srgbClr val="DEE0E3">
              <a:alpha val="100000"/>
            </a:srgbClr>
          </a:solidFill>
          <a:ln w="12700" cap="flat" cmpd="sng">
            <a:solidFill>
              <a:srgbClr val="475569">
                <a:alpha val="100000"/>
              </a:srgbClr>
            </a:solidFill>
            <a:prstDash val="solid"/>
            <a:round/>
            <a:headEnd type="none" w="med" len="med"/>
            <a:tailEnd type="none" w="med" len="med"/>
          </a:ln>
        </p:spPr>
      </p:cxnSp>
      <p:sp>
        <p:nvSpPr>
          <p:cNvPr id="10" name="AutoShape 10"/>
          <p:cNvSpPr/>
          <p:nvPr/>
        </p:nvSpPr>
        <p:spPr>
          <a:xfrm>
            <a:off x="6223000" y="3149600"/>
            <a:ext cx="508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94A3B8"/>
                </a:solidFill>
                <a:latin typeface="Consolas" panose="020B0609020204030204"/>
                <a:ea typeface="Consolas" panose="020B0609020204030204"/>
                <a:cs typeface="Consolas" panose="020B0609020204030204"/>
                <a:sym typeface="Consolas" panose="020B0609020204030204"/>
              </a:rPr>
              <a:t>// 初始化数据源并配置连接基础信息</a:t>
            </a:r>
            <a:endParaRPr lang="en-US" sz="1100"/>
          </a:p>
          <a:p>
            <a:pPr marL="0" indent="0" algn="l">
              <a:lnSpc>
                <a:spcPct val="108000"/>
              </a:lnSpc>
            </a:pPr>
            <a:r>
              <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rPr>
              <a:t>BasicDataSource ds = new BasicDataSource();</a:t>
            </a:r>
            <a:endPar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rPr>
              <a:t>ds.setDriverClassName("com.mysql.cj.jdbc.Driver");</a:t>
            </a:r>
            <a:endPar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rPr>
              <a:t>ds.setUrl("jdbc:mysql://localhost:3306/testdb?useSSL=false");</a:t>
            </a:r>
            <a:endPar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endParaRPr>
          </a:p>
        </p:txBody>
      </p:sp>
      <p:cxnSp>
        <p:nvCxnSpPr>
          <p:cNvPr id="11" name="Connector 11"/>
          <p:cNvCxnSpPr/>
          <p:nvPr/>
        </p:nvCxnSpPr>
        <p:spPr>
          <a:xfrm rot="-4244">
            <a:off x="952504" y="4375150"/>
            <a:ext cx="10287000" cy="12700"/>
          </a:xfrm>
          <a:prstGeom prst="straightConnector1">
            <a:avLst/>
          </a:prstGeom>
          <a:solidFill>
            <a:srgbClr val="DEE0E3">
              <a:alpha val="100000"/>
            </a:srgbClr>
          </a:solidFill>
          <a:ln w="12700" cap="flat" cmpd="sng">
            <a:solidFill>
              <a:srgbClr val="334155">
                <a:alpha val="100000"/>
              </a:srgbClr>
            </a:solidFill>
            <a:prstDash val="dash"/>
            <a:round/>
            <a:headEnd type="none" w="med" len="med"/>
            <a:tailEnd type="none" w="med" len="med"/>
          </a:ln>
        </p:spPr>
      </p:cxnSp>
      <p:sp>
        <p:nvSpPr>
          <p:cNvPr id="12" name="AutoShape 12"/>
          <p:cNvSpPr/>
          <p:nvPr/>
        </p:nvSpPr>
        <p:spPr>
          <a:xfrm>
            <a:off x="952500" y="4508500"/>
            <a:ext cx="508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94A3B8"/>
                </a:solidFill>
                <a:latin typeface="Consolas" panose="020B0609020204030204"/>
                <a:ea typeface="Consolas" panose="020B0609020204030204"/>
                <a:cs typeface="Consolas" panose="020B0609020204030204"/>
                <a:sym typeface="Consolas" panose="020B0609020204030204"/>
              </a:rPr>
              <a:t>// 关键连接池性能参数调优</a:t>
            </a:r>
            <a:endParaRPr lang="en-US" sz="1100"/>
          </a:p>
          <a:p>
            <a:pPr marL="0" indent="0" algn="l">
              <a:lnSpc>
                <a:spcPct val="108000"/>
              </a:lnSpc>
            </a:pPr>
            <a:r>
              <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rPr>
              <a:t>ds.setInitialSize(5); // 启动时创建的初始连接数</a:t>
            </a:r>
            <a:endPar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rPr>
              <a:t>ds.setMaxTotal(20); // 连接池允许的最大连接数</a:t>
            </a:r>
            <a:endPar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rPr>
              <a:t>ds.setMaxWaitMillis(3000); // 获取连接的超时等待时间</a:t>
            </a:r>
            <a:endPar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endParaRPr>
          </a:p>
        </p:txBody>
      </p:sp>
      <p:cxnSp>
        <p:nvCxnSpPr>
          <p:cNvPr id="13" name="Connector 13"/>
          <p:cNvCxnSpPr/>
          <p:nvPr/>
        </p:nvCxnSpPr>
        <p:spPr>
          <a:xfrm rot="5359557">
            <a:off x="5556250" y="5041937"/>
            <a:ext cx="1079500" cy="12700"/>
          </a:xfrm>
          <a:prstGeom prst="straightConnector1">
            <a:avLst/>
          </a:prstGeom>
          <a:solidFill>
            <a:srgbClr val="DEE0E3">
              <a:alpha val="100000"/>
            </a:srgbClr>
          </a:solidFill>
          <a:ln w="12700" cap="flat" cmpd="sng">
            <a:solidFill>
              <a:srgbClr val="475569">
                <a:alpha val="100000"/>
              </a:srgbClr>
            </a:solidFill>
            <a:prstDash val="solid"/>
            <a:round/>
            <a:headEnd type="none" w="med" len="med"/>
            <a:tailEnd type="none" w="med" len="med"/>
          </a:ln>
        </p:spPr>
      </p:cxnSp>
      <p:sp>
        <p:nvSpPr>
          <p:cNvPr id="14" name="AutoShape 14"/>
          <p:cNvSpPr/>
          <p:nvPr/>
        </p:nvSpPr>
        <p:spPr>
          <a:xfrm>
            <a:off x="6223000" y="4508500"/>
            <a:ext cx="508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94A3B8"/>
                </a:solidFill>
                <a:latin typeface="Consolas" panose="020B0609020204030204"/>
                <a:ea typeface="Consolas" panose="020B0609020204030204"/>
                <a:cs typeface="Consolas" panose="020B0609020204030204"/>
                <a:sym typeface="Consolas" panose="020B0609020204030204"/>
              </a:rPr>
              <a:t>// try-with-resources 自动释放连接资源</a:t>
            </a:r>
            <a:endParaRPr lang="en-US" sz="1100"/>
          </a:p>
          <a:p>
            <a:pPr marL="0" indent="0" algn="l">
              <a:lnSpc>
                <a:spcPct val="108000"/>
              </a:lnSpc>
            </a:pPr>
            <a:r>
              <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rPr>
              <a:t>try (Connection conn = ds.getConnection()) {</a:t>
            </a:r>
            <a:endPar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rPr>
              <a:t>System.out.println("连接成功: " + conn);</a:t>
            </a:r>
            <a:endPar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rPr>
              <a:t>} catch (SQLException e) { e.printStackTrace(); }</a:t>
            </a:r>
            <a:endParaRPr lang="en-US" sz="1200" b="0" i="0" u="none" strike="noStrike">
              <a:solidFill>
                <a:srgbClr val="E2E8F0"/>
              </a:solidFill>
              <a:latin typeface="Consolas" panose="020B0609020204030204"/>
              <a:ea typeface="Consolas" panose="020B0609020204030204"/>
              <a:cs typeface="Consolas" panose="020B0609020204030204"/>
              <a:sym typeface="Consolas" panose="020B0609020204030204"/>
            </a:endParaRPr>
          </a:p>
        </p:txBody>
      </p:sp>
      <p:sp>
        <p:nvSpPr>
          <p:cNvPr id="15" name="AutoShape 15"/>
          <p:cNvSpPr/>
          <p:nvPr/>
        </p:nvSpPr>
        <p:spPr>
          <a:xfrm>
            <a:off x="952500" y="5651500"/>
            <a:ext cx="10287000" cy="3556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676900"/>
            <a:ext cx="1016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核心特点：</a:t>
            </a:r>
            <a:r>
              <a:rPr lang="en-US" sz="1200" b="0" i="0" u="none" strike="noStrike">
                <a:solidFill>
                  <a:srgbClr val="33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配置即时生效，便于调试；但修改配置需重新编译代码，不适合生产环境频繁变更。</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方式二：配置文件方式（推荐）</a:t>
            </a:r>
            <a:endParaRPr lang="en-US" sz="1100"/>
          </a:p>
        </p:txBody>
      </p:sp>
      <p:sp>
        <p:nvSpPr>
          <p:cNvPr id="4" name="AutoShape 4"/>
          <p:cNvSpPr/>
          <p:nvPr/>
        </p:nvSpPr>
        <p:spPr>
          <a:xfrm>
            <a:off x="762000" y="1524000"/>
            <a:ext cx="10668000" cy="825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587500"/>
            <a:ext cx="10287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将数据库连接信息与业务代码彻底解耦，通过外部 `.properties` 文件集中管理连接池核心参数。这种方式不仅让配置变更脱离了代码编译流程，还能在生产环境中根据实际负载灵活调整资源配置，是企业级应用开发中更专业、更易于维护的标准实践。</a:t>
            </a:r>
            <a:endParaRPr lang="en-US" sz="1100"/>
          </a:p>
        </p:txBody>
      </p:sp>
      <p:sp>
        <p:nvSpPr>
          <p:cNvPr id="6" name="AutoShape 6"/>
          <p:cNvSpPr/>
          <p:nvPr/>
        </p:nvSpPr>
        <p:spPr>
          <a:xfrm>
            <a:off x="762000" y="2603500"/>
            <a:ext cx="5270500" cy="24765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603500"/>
            <a:ext cx="50800" cy="247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7305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1. 编写配置文件 dbcp.properties</a:t>
            </a:r>
            <a:endParaRPr lang="en-US" sz="1100"/>
          </a:p>
        </p:txBody>
      </p:sp>
      <p:sp>
        <p:nvSpPr>
          <p:cNvPr id="9" name="AutoShape 9"/>
          <p:cNvSpPr/>
          <p:nvPr/>
        </p:nvSpPr>
        <p:spPr>
          <a:xfrm>
            <a:off x="952500" y="3238500"/>
            <a:ext cx="4889500" cy="16510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3302000"/>
            <a:ext cx="4635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Source Code Pro"/>
                <a:ea typeface="Source Code Pro"/>
                <a:cs typeface="Source Code Pro"/>
                <a:sym typeface="Source Code Pro"/>
              </a:rPr>
              <a:t># 数据库连接基础信息</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driverClassName=com.mysql.cj.jdbc.Driver</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url=jdbc:mysql://localhost:3306/testdb?useSSL=false&amp;serverTimezone=UTC</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username=root</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password=123456</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 连接池性能参数</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initialSize=5 # 初始连接数 | maxTotal=20 # 最大连接数 | maxWaitMillis=3000</a:t>
            </a:r>
            <a:endParaRPr lang="en-US" sz="1100"/>
          </a:p>
        </p:txBody>
      </p:sp>
      <p:sp>
        <p:nvSpPr>
          <p:cNvPr id="11" name="AutoShape 11"/>
          <p:cNvSpPr/>
          <p:nvPr/>
        </p:nvSpPr>
        <p:spPr>
          <a:xfrm>
            <a:off x="6223000" y="2603500"/>
            <a:ext cx="5270500" cy="24765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2603500"/>
            <a:ext cx="50800" cy="247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27305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2. 核心工具类 DBCPUtil 实现</a:t>
            </a:r>
            <a:endParaRPr lang="en-US" sz="1100"/>
          </a:p>
        </p:txBody>
      </p:sp>
      <p:sp>
        <p:nvSpPr>
          <p:cNvPr id="14" name="AutoShape 14"/>
          <p:cNvSpPr/>
          <p:nvPr/>
        </p:nvSpPr>
        <p:spPr>
          <a:xfrm>
            <a:off x="6413500" y="3238500"/>
            <a:ext cx="4889500" cy="1651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540500" y="3302000"/>
            <a:ext cx="4635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Source Code Pro"/>
                <a:ea typeface="Source Code Pro"/>
                <a:cs typeface="Source Code Pro"/>
                <a:sym typeface="Source Code Pro"/>
              </a:rPr>
              <a:t>// 加载配置并初始化数据源</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static {</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Properties props = new Properties();</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props.load(DBCPUtil.class.getClassLoader().getResourceAsStream("dbcp.properties"));</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dataSource = BasicDataSourceFactory.createDataSource(props);</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 获取数据库连接</a:t>
            </a:r>
            <a:br>
              <a:rPr lang="en-US" sz="1200" b="0" i="0" u="none" strike="noStrike">
                <a:solidFill>
                  <a:srgbClr val="374151"/>
                </a:solidFill>
                <a:latin typeface="Source Code Pro"/>
                <a:ea typeface="Source Code Pro"/>
                <a:cs typeface="Source Code Pro"/>
                <a:sym typeface="Source Code Pro"/>
              </a:rPr>
            </a:br>
            <a:r>
              <a:rPr lang="en-US" sz="1200" b="0" i="0" u="none" strike="noStrike">
                <a:solidFill>
                  <a:srgbClr val="374151"/>
                </a:solidFill>
                <a:latin typeface="Source Code Pro"/>
                <a:ea typeface="Source Code Pro"/>
                <a:cs typeface="Source Code Pro"/>
                <a:sym typeface="Source Code Pro"/>
              </a:rPr>
              <a:t>public static Connection getConn() { return dataSource.getConnection(); }</a:t>
            </a:r>
            <a:endParaRPr lang="en-US" sz="1100"/>
          </a:p>
        </p:txBody>
      </p:sp>
      <p:sp>
        <p:nvSpPr>
          <p:cNvPr id="16" name="AutoShape 16"/>
          <p:cNvSpPr/>
          <p:nvPr/>
        </p:nvSpPr>
        <p:spPr>
          <a:xfrm>
            <a:off x="762000" y="5270500"/>
            <a:ext cx="10731500" cy="1143000"/>
          </a:xfrm>
          <a:prstGeom prst="roundRect">
            <a:avLst>
              <a:gd name="adj" fmla="val 0"/>
            </a:avLst>
          </a:prstGeom>
          <a:solidFill>
            <a:srgbClr val="DCFCE7">
              <a:alpha val="85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397500"/>
            <a:ext cx="457200" cy="457200"/>
          </a:xfrm>
          <a:prstGeom prst="rect">
            <a:avLst/>
          </a:prstGeom>
        </p:spPr>
      </p:pic>
      <p:sp>
        <p:nvSpPr>
          <p:cNvPr id="18" name="AutoShape 18"/>
          <p:cNvSpPr/>
          <p:nvPr/>
        </p:nvSpPr>
        <p:spPr>
          <a:xfrm>
            <a:off x="1651000" y="5397500"/>
            <a:ext cx="939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核心价值：解耦与灵活性</a:t>
            </a:r>
            <a:endParaRPr lang="en-US" sz="1100"/>
          </a:p>
          <a:p>
            <a:pPr marL="0" indent="0" algn="l">
              <a:lnSpc>
                <a:spcPct val="108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通过工厂模式加载外部配置，实现了配置与代码的物理分离。开发、测试与生产环境可共用一套代码，仅需替换配置文件即可完成部署，同时支持运行时动态调整连接池参数，显著降低维护成本。</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Web应用中的DBCP最佳实践</a:t>
            </a:r>
            <a:endParaRPr lang="en-US" sz="1100"/>
          </a:p>
        </p:txBody>
      </p:sp>
      <p:sp>
        <p:nvSpPr>
          <p:cNvPr id="4" name="AutoShape 4"/>
          <p:cNvSpPr/>
          <p:nvPr/>
        </p:nvSpPr>
        <p:spPr>
          <a:xfrm>
            <a:off x="762000" y="1651000"/>
            <a:ext cx="3492500" cy="2286000"/>
          </a:xfrm>
          <a:prstGeom prst="roundRect">
            <a:avLst>
              <a:gd name="adj" fmla="val 0"/>
            </a:avLst>
          </a:prstGeom>
          <a:solidFill>
            <a:srgbClr val="FFFFFF">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应用启动：统一初始化</a:t>
            </a:r>
            <a:endParaRPr lang="en-US" sz="1100"/>
          </a:p>
        </p:txBody>
      </p:sp>
      <p:sp>
        <p:nvSpPr>
          <p:cNvPr id="7" name="AutoShape 7"/>
          <p:cNvSpPr/>
          <p:nvPr/>
        </p:nvSpPr>
        <p:spPr>
          <a:xfrm>
            <a:off x="952500" y="23495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在Web容器启动阶段，通过 `ServletContextListener` 监听器初始化 `DataSource` 核心实例，并将其存入应用域 `ServletContext` 中，确保全应用共享唯一的连接池资源。</a:t>
            </a:r>
            <a:endParaRPr lang="en-US" sz="1100"/>
          </a:p>
        </p:txBody>
      </p:sp>
      <p:sp>
        <p:nvSpPr>
          <p:cNvPr id="8" name="AutoShape 8"/>
          <p:cNvSpPr/>
          <p:nvPr/>
        </p:nvSpPr>
        <p:spPr>
          <a:xfrm>
            <a:off x="952500" y="3302000"/>
            <a:ext cx="3111500" cy="508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3340100"/>
            <a:ext cx="29845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关键动作：资源预加载，避免重复创建</a:t>
            </a:r>
            <a:endParaRPr lang="en-US" sz="1100"/>
          </a:p>
        </p:txBody>
      </p:sp>
      <p:sp>
        <p:nvSpPr>
          <p:cNvPr id="10" name="AutoShape 10"/>
          <p:cNvSpPr/>
          <p:nvPr/>
        </p:nvSpPr>
        <p:spPr>
          <a:xfrm>
            <a:off x="4406900" y="1651000"/>
            <a:ext cx="3492500" cy="2286000"/>
          </a:xfrm>
          <a:prstGeom prst="roundRect">
            <a:avLst>
              <a:gd name="adj" fmla="val 0"/>
            </a:avLst>
          </a:prstGeom>
          <a:solidFill>
            <a:srgbClr val="FFFFFF">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4069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97400" y="18415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架构设计：DAO层封装</a:t>
            </a:r>
            <a:endParaRPr lang="en-US" sz="1100"/>
          </a:p>
        </p:txBody>
      </p:sp>
      <p:sp>
        <p:nvSpPr>
          <p:cNvPr id="13" name="AutoShape 13"/>
          <p:cNvSpPr/>
          <p:nvPr/>
        </p:nvSpPr>
        <p:spPr>
          <a:xfrm>
            <a:off x="4597400" y="23495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构建独立的数据访问层（DAO），统一封装数据库的增删改查操作。DAO层从应用域中获取全局 `DataSource`，实现业务逻辑与底层数据操作的彻底解耦。</a:t>
            </a:r>
            <a:endParaRPr lang="en-US" sz="1100"/>
          </a:p>
        </p:txBody>
      </p:sp>
      <p:sp>
        <p:nvSpPr>
          <p:cNvPr id="14" name="AutoShape 14"/>
          <p:cNvSpPr/>
          <p:nvPr/>
        </p:nvSpPr>
        <p:spPr>
          <a:xfrm>
            <a:off x="4597400" y="3302000"/>
            <a:ext cx="3111500" cy="508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60900" y="3340100"/>
            <a:ext cx="29845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核心价值：降低耦合，易于维护扩展</a:t>
            </a:r>
            <a:endParaRPr lang="en-US" sz="1100"/>
          </a:p>
        </p:txBody>
      </p:sp>
      <p:sp>
        <p:nvSpPr>
          <p:cNvPr id="16" name="AutoShape 16"/>
          <p:cNvSpPr/>
          <p:nvPr/>
        </p:nvSpPr>
        <p:spPr>
          <a:xfrm>
            <a:off x="8051800" y="1651000"/>
            <a:ext cx="3492500" cy="2286000"/>
          </a:xfrm>
          <a:prstGeom prst="roundRect">
            <a:avLst>
              <a:gd name="adj" fmla="val 0"/>
            </a:avLst>
          </a:prstGeom>
          <a:solidFill>
            <a:srgbClr val="FFFFFF">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0518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242300" y="18415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业务流转：Servlet调度</a:t>
            </a:r>
            <a:endParaRPr lang="en-US" sz="1100"/>
          </a:p>
        </p:txBody>
      </p:sp>
      <p:sp>
        <p:nvSpPr>
          <p:cNvPr id="19" name="AutoShape 19"/>
          <p:cNvSpPr/>
          <p:nvPr/>
        </p:nvSpPr>
        <p:spPr>
          <a:xfrm>
            <a:off x="8242300" y="23495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Servlet作为前端控制器接收用户HTTP请求，根据业务逻辑调用对应DAO层方法。控制器仅负责请求分发与结果响应，不直接参与数据库连接管理。</a:t>
            </a:r>
            <a:endParaRPr lang="en-US" sz="1100"/>
          </a:p>
        </p:txBody>
      </p:sp>
      <p:sp>
        <p:nvSpPr>
          <p:cNvPr id="20" name="AutoShape 20"/>
          <p:cNvSpPr/>
          <p:nvPr/>
        </p:nvSpPr>
        <p:spPr>
          <a:xfrm>
            <a:off x="8242300" y="3302000"/>
            <a:ext cx="3111500" cy="508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305800" y="3340100"/>
            <a:ext cx="29845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设计模式：经典MVC的职责分离</a:t>
            </a:r>
            <a:endParaRPr lang="en-US" sz="1100"/>
          </a:p>
        </p:txBody>
      </p:sp>
      <p:sp>
        <p:nvSpPr>
          <p:cNvPr id="22" name="AutoShape 22"/>
          <p:cNvSpPr/>
          <p:nvPr/>
        </p:nvSpPr>
        <p:spPr>
          <a:xfrm>
            <a:off x="762000" y="4254500"/>
            <a:ext cx="10922000" cy="2095500"/>
          </a:xfrm>
          <a:prstGeom prst="roundRect">
            <a:avLst>
              <a:gd name="adj" fmla="val 0"/>
            </a:avLst>
          </a:prstGeom>
          <a:solidFill>
            <a:srgbClr val="F0F9F2">
              <a:alpha val="96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89000" y="4381500"/>
            <a:ext cx="2032000" cy="1841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89000" y="4381500"/>
            <a:ext cx="2032000" cy="381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952500" y="45085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容器启动</a:t>
            </a:r>
            <a:endParaRPr lang="en-US" sz="1100"/>
          </a:p>
        </p:txBody>
      </p:sp>
      <p:sp>
        <p:nvSpPr>
          <p:cNvPr id="26" name="AutoShape 26"/>
          <p:cNvSpPr/>
          <p:nvPr/>
        </p:nvSpPr>
        <p:spPr>
          <a:xfrm>
            <a:off x="952500" y="4953000"/>
            <a:ext cx="190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Web容器加载应用，触发监听器执行DBCP核心参数的初始化配置。</a:t>
            </a:r>
            <a:endParaRPr lang="en-US" sz="1100"/>
          </a:p>
        </p:txBody>
      </p:sp>
      <p:sp>
        <p:nvSpPr>
          <p:cNvPr id="27" name="AutoShape 27"/>
          <p:cNvSpPr/>
          <p:nvPr/>
        </p:nvSpPr>
        <p:spPr>
          <a:xfrm>
            <a:off x="952500" y="5651500"/>
            <a:ext cx="1905000" cy="508000"/>
          </a:xfrm>
          <a:prstGeom prst="roundRect">
            <a:avLst>
              <a:gd name="adj" fmla="val 0"/>
            </a:avLst>
          </a:prstGeom>
          <a:solidFill>
            <a:srgbClr val="22C55E">
              <a:alpha val="7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1016000" y="5676900"/>
            <a:ext cx="177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56533"/>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连接池预热完成</a:t>
            </a:r>
            <a:endParaRPr lang="en-US" sz="1100"/>
          </a:p>
        </p:txBody>
      </p:sp>
      <p:cxnSp>
        <p:nvCxnSpPr>
          <p:cNvPr id="29" name="Connector 29"/>
          <p:cNvCxnSpPr/>
          <p:nvPr/>
        </p:nvCxnSpPr>
        <p:spPr>
          <a:xfrm rot="5372498">
            <a:off x="2254250" y="5295925"/>
            <a:ext cx="1587500" cy="12700"/>
          </a:xfrm>
          <a:prstGeom prst="straightConnector1">
            <a:avLst/>
          </a:prstGeom>
          <a:solidFill>
            <a:srgbClr val="DEE0E3">
              <a:alpha val="100000"/>
            </a:srgbClr>
          </a:solidFill>
          <a:ln w="12700" cap="flat" cmpd="sng">
            <a:solidFill>
              <a:srgbClr val="22C55E">
                <a:alpha val="20000"/>
              </a:srgbClr>
            </a:solidFill>
            <a:prstDash val="dash"/>
            <a:round/>
            <a:headEnd type="none" w="med" len="med"/>
            <a:tailEnd type="none" w="med" len="med"/>
          </a:ln>
        </p:spPr>
      </p:cxnSp>
      <p:sp>
        <p:nvSpPr>
          <p:cNvPr id="30" name="AutoShape 30"/>
          <p:cNvSpPr/>
          <p:nvPr/>
        </p:nvSpPr>
        <p:spPr>
          <a:xfrm>
            <a:off x="3111500" y="4381500"/>
            <a:ext cx="2032000" cy="1841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3111500" y="4381500"/>
            <a:ext cx="2032000" cy="381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3175000" y="45085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用户请求</a:t>
            </a:r>
            <a:endParaRPr lang="en-US" sz="1100"/>
          </a:p>
        </p:txBody>
      </p:sp>
      <p:sp>
        <p:nvSpPr>
          <p:cNvPr id="33" name="AutoShape 33"/>
          <p:cNvSpPr/>
          <p:nvPr/>
        </p:nvSpPr>
        <p:spPr>
          <a:xfrm>
            <a:off x="3175000" y="4953000"/>
            <a:ext cx="190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客户端发起业务请求，请求由Web服务器接收并转发至对应Servlet。</a:t>
            </a:r>
            <a:endParaRPr lang="en-US" sz="1100"/>
          </a:p>
        </p:txBody>
      </p:sp>
      <p:sp>
        <p:nvSpPr>
          <p:cNvPr id="34" name="AutoShape 34"/>
          <p:cNvSpPr/>
          <p:nvPr/>
        </p:nvSpPr>
        <p:spPr>
          <a:xfrm>
            <a:off x="3175000" y="5651500"/>
            <a:ext cx="1905000" cy="508000"/>
          </a:xfrm>
          <a:prstGeom prst="roundRect">
            <a:avLst>
              <a:gd name="adj" fmla="val 0"/>
            </a:avLst>
          </a:prstGeom>
          <a:solidFill>
            <a:srgbClr val="22C55E">
              <a:alpha val="7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3238500" y="5676900"/>
            <a:ext cx="177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56533"/>
                </a:solidFill>
                <a:latin typeface="Noto Sans SC" panose="020B0200000000000000" charset="-122"/>
                <a:ea typeface="Noto Sans SC" panose="020B0200000000000000" charset="-122"/>
                <a:cs typeface="Noto Sans SC" panose="020B0200000000000000" charset="-122"/>
                <a:sym typeface="Noto Sans SC" panose="020B0200000000000000" charset="-122"/>
              </a:rPr>
              <a:t>进入控制层处理</a:t>
            </a:r>
            <a:endParaRPr lang="en-US" sz="1100"/>
          </a:p>
        </p:txBody>
      </p:sp>
      <p:cxnSp>
        <p:nvCxnSpPr>
          <p:cNvPr id="36" name="Connector 36"/>
          <p:cNvCxnSpPr/>
          <p:nvPr/>
        </p:nvCxnSpPr>
        <p:spPr>
          <a:xfrm rot="5372498">
            <a:off x="4476750" y="5295925"/>
            <a:ext cx="1587500" cy="12700"/>
          </a:xfrm>
          <a:prstGeom prst="straightConnector1">
            <a:avLst/>
          </a:prstGeom>
          <a:solidFill>
            <a:srgbClr val="DEE0E3">
              <a:alpha val="100000"/>
            </a:srgbClr>
          </a:solidFill>
          <a:ln w="12700" cap="flat" cmpd="sng">
            <a:solidFill>
              <a:srgbClr val="22C55E">
                <a:alpha val="20000"/>
              </a:srgbClr>
            </a:solidFill>
            <a:prstDash val="dash"/>
            <a:round/>
            <a:headEnd type="none" w="med" len="med"/>
            <a:tailEnd type="none" w="med" len="med"/>
          </a:ln>
        </p:spPr>
      </p:cxnSp>
      <p:sp>
        <p:nvSpPr>
          <p:cNvPr id="37" name="AutoShape 37"/>
          <p:cNvSpPr/>
          <p:nvPr/>
        </p:nvSpPr>
        <p:spPr>
          <a:xfrm>
            <a:off x="5334000" y="4381500"/>
            <a:ext cx="2032000" cy="1841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5334000" y="4381500"/>
            <a:ext cx="2032000" cy="381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5397500" y="45085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调用DAO层</a:t>
            </a:r>
            <a:endParaRPr lang="en-US" sz="1100"/>
          </a:p>
        </p:txBody>
      </p:sp>
      <p:sp>
        <p:nvSpPr>
          <p:cNvPr id="40" name="AutoShape 40"/>
          <p:cNvSpPr/>
          <p:nvPr/>
        </p:nvSpPr>
        <p:spPr>
          <a:xfrm>
            <a:off x="5397500" y="4953000"/>
            <a:ext cx="190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控制器根据业务逻辑调用DAO接口，传入业务参数，触发数据操作。</a:t>
            </a:r>
            <a:endParaRPr lang="en-US" sz="1100"/>
          </a:p>
        </p:txBody>
      </p:sp>
      <p:sp>
        <p:nvSpPr>
          <p:cNvPr id="41" name="AutoShape 41"/>
          <p:cNvSpPr/>
          <p:nvPr/>
        </p:nvSpPr>
        <p:spPr>
          <a:xfrm>
            <a:off x="5397500" y="5651500"/>
            <a:ext cx="1905000" cy="508000"/>
          </a:xfrm>
          <a:prstGeom prst="roundRect">
            <a:avLst>
              <a:gd name="adj" fmla="val 0"/>
            </a:avLst>
          </a:prstGeom>
          <a:solidFill>
            <a:srgbClr val="22C55E">
              <a:alpha val="7000"/>
            </a:srgbClr>
          </a:solidFill>
          <a:ln w="25400" cap="flat" cmpd="sng">
            <a:noFill/>
            <a:prstDash val="solid"/>
            <a:round/>
          </a:ln>
        </p:spPr>
        <p:txBody>
          <a:bodyPr vert="horz" wrap="square" lIns="63500" tIns="63500" rIns="63500" bIns="63500" rtlCol="0" anchor="ctr"/>
          <a:lstStyle/>
          <a:p>
            <a:pPr algn="ctr">
              <a:defRPr/>
            </a:pPr>
          </a:p>
        </p:txBody>
      </p:sp>
      <p:sp>
        <p:nvSpPr>
          <p:cNvPr id="42" name="AutoShape 42"/>
          <p:cNvSpPr/>
          <p:nvPr/>
        </p:nvSpPr>
        <p:spPr>
          <a:xfrm>
            <a:off x="5461000" y="5676900"/>
            <a:ext cx="177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56533"/>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业务与数据解耦</a:t>
            </a:r>
            <a:endParaRPr lang="en-US" sz="1100"/>
          </a:p>
        </p:txBody>
      </p:sp>
      <p:cxnSp>
        <p:nvCxnSpPr>
          <p:cNvPr id="43" name="Connector 43"/>
          <p:cNvCxnSpPr/>
          <p:nvPr/>
        </p:nvCxnSpPr>
        <p:spPr>
          <a:xfrm rot="5372498">
            <a:off x="6699250" y="5295925"/>
            <a:ext cx="1587500" cy="12700"/>
          </a:xfrm>
          <a:prstGeom prst="straightConnector1">
            <a:avLst/>
          </a:prstGeom>
          <a:solidFill>
            <a:srgbClr val="DEE0E3">
              <a:alpha val="100000"/>
            </a:srgbClr>
          </a:solidFill>
          <a:ln w="12700" cap="flat" cmpd="sng">
            <a:solidFill>
              <a:srgbClr val="22C55E">
                <a:alpha val="20000"/>
              </a:srgbClr>
            </a:solidFill>
            <a:prstDash val="dash"/>
            <a:round/>
            <a:headEnd type="none" w="med" len="med"/>
            <a:tailEnd type="none" w="med" len="med"/>
          </a:ln>
        </p:spPr>
      </p:cxnSp>
      <p:sp>
        <p:nvSpPr>
          <p:cNvPr id="44" name="AutoShape 44"/>
          <p:cNvSpPr/>
          <p:nvPr/>
        </p:nvSpPr>
        <p:spPr>
          <a:xfrm>
            <a:off x="7556500" y="4381500"/>
            <a:ext cx="2032000" cy="1841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5" name="AutoShape 45"/>
          <p:cNvSpPr/>
          <p:nvPr/>
        </p:nvSpPr>
        <p:spPr>
          <a:xfrm>
            <a:off x="7556500" y="4381500"/>
            <a:ext cx="2032000" cy="381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46" name="AutoShape 46"/>
          <p:cNvSpPr/>
          <p:nvPr/>
        </p:nvSpPr>
        <p:spPr>
          <a:xfrm>
            <a:off x="7620000" y="45085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执行SQL</a:t>
            </a:r>
            <a:endParaRPr lang="en-US" sz="1100"/>
          </a:p>
        </p:txBody>
      </p:sp>
      <p:sp>
        <p:nvSpPr>
          <p:cNvPr id="47" name="AutoShape 47"/>
          <p:cNvSpPr/>
          <p:nvPr/>
        </p:nvSpPr>
        <p:spPr>
          <a:xfrm>
            <a:off x="7620000" y="4953000"/>
            <a:ext cx="190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DAO从DBCP池中获取可用连接，执行SQL语句，完成数据的读写操作。</a:t>
            </a:r>
            <a:endParaRPr lang="en-US" sz="1100"/>
          </a:p>
        </p:txBody>
      </p:sp>
      <p:sp>
        <p:nvSpPr>
          <p:cNvPr id="48" name="AutoShape 48"/>
          <p:cNvSpPr/>
          <p:nvPr/>
        </p:nvSpPr>
        <p:spPr>
          <a:xfrm>
            <a:off x="7620000" y="5651500"/>
            <a:ext cx="1905000" cy="508000"/>
          </a:xfrm>
          <a:prstGeom prst="roundRect">
            <a:avLst>
              <a:gd name="adj" fmla="val 0"/>
            </a:avLst>
          </a:prstGeom>
          <a:solidFill>
            <a:srgbClr val="22C55E">
              <a:alpha val="7000"/>
            </a:srgbClr>
          </a:solidFill>
          <a:ln w="25400" cap="flat" cmpd="sng">
            <a:noFill/>
            <a:prstDash val="solid"/>
            <a:round/>
          </a:ln>
        </p:spPr>
        <p:txBody>
          <a:bodyPr vert="horz" wrap="square" lIns="63500" tIns="63500" rIns="63500" bIns="63500" rtlCol="0" anchor="ctr"/>
          <a:lstStyle/>
          <a:p>
            <a:pPr algn="ctr">
              <a:defRPr/>
            </a:pPr>
          </a:p>
        </p:txBody>
      </p:sp>
      <p:sp>
        <p:nvSpPr>
          <p:cNvPr id="49" name="AutoShape 49"/>
          <p:cNvSpPr/>
          <p:nvPr/>
        </p:nvSpPr>
        <p:spPr>
          <a:xfrm>
            <a:off x="7683500" y="5676900"/>
            <a:ext cx="177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56533"/>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高效复用连接资源</a:t>
            </a:r>
            <a:endParaRPr lang="en-US" sz="1100"/>
          </a:p>
        </p:txBody>
      </p:sp>
      <p:cxnSp>
        <p:nvCxnSpPr>
          <p:cNvPr id="50" name="Connector 50"/>
          <p:cNvCxnSpPr/>
          <p:nvPr/>
        </p:nvCxnSpPr>
        <p:spPr>
          <a:xfrm rot="5372498">
            <a:off x="8921750" y="5295925"/>
            <a:ext cx="1587500" cy="12700"/>
          </a:xfrm>
          <a:prstGeom prst="straightConnector1">
            <a:avLst/>
          </a:prstGeom>
          <a:solidFill>
            <a:srgbClr val="DEE0E3">
              <a:alpha val="100000"/>
            </a:srgbClr>
          </a:solidFill>
          <a:ln w="12700" cap="flat" cmpd="sng">
            <a:solidFill>
              <a:srgbClr val="22C55E">
                <a:alpha val="20000"/>
              </a:srgbClr>
            </a:solidFill>
            <a:prstDash val="dash"/>
            <a:round/>
            <a:headEnd type="none" w="med" len="med"/>
            <a:tailEnd type="none" w="med" len="med"/>
          </a:ln>
        </p:spPr>
      </p:cxnSp>
      <p:sp>
        <p:nvSpPr>
          <p:cNvPr id="51" name="AutoShape 51"/>
          <p:cNvSpPr/>
          <p:nvPr/>
        </p:nvSpPr>
        <p:spPr>
          <a:xfrm>
            <a:off x="9753600" y="4381500"/>
            <a:ext cx="1968500" cy="1841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2" name="AutoShape 52"/>
          <p:cNvSpPr/>
          <p:nvPr/>
        </p:nvSpPr>
        <p:spPr>
          <a:xfrm>
            <a:off x="9753600" y="4381500"/>
            <a:ext cx="1968500" cy="381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3" name="AutoShape 53"/>
          <p:cNvSpPr/>
          <p:nvPr/>
        </p:nvSpPr>
        <p:spPr>
          <a:xfrm>
            <a:off x="9817100" y="4508500"/>
            <a:ext cx="184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归还连接</a:t>
            </a:r>
            <a:endParaRPr lang="en-US" sz="1100"/>
          </a:p>
        </p:txBody>
      </p:sp>
      <p:sp>
        <p:nvSpPr>
          <p:cNvPr id="54" name="AutoShape 54"/>
          <p:cNvSpPr/>
          <p:nvPr/>
        </p:nvSpPr>
        <p:spPr>
          <a:xfrm>
            <a:off x="9817100" y="4953000"/>
            <a:ext cx="184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操作结束后，将Connection对象归还至连接池，以便后续请求复用。</a:t>
            </a:r>
            <a:endParaRPr lang="en-US" sz="1100"/>
          </a:p>
        </p:txBody>
      </p:sp>
      <p:sp>
        <p:nvSpPr>
          <p:cNvPr id="55" name="AutoShape 55"/>
          <p:cNvSpPr/>
          <p:nvPr/>
        </p:nvSpPr>
        <p:spPr>
          <a:xfrm>
            <a:off x="9817100" y="5651500"/>
            <a:ext cx="1841500" cy="508000"/>
          </a:xfrm>
          <a:prstGeom prst="roundRect">
            <a:avLst>
              <a:gd name="adj" fmla="val 0"/>
            </a:avLst>
          </a:prstGeom>
          <a:solidFill>
            <a:srgbClr val="22C55E">
              <a:alpha val="7000"/>
            </a:srgbClr>
          </a:solidFill>
          <a:ln w="25400" cap="flat" cmpd="sng">
            <a:noFill/>
            <a:prstDash val="solid"/>
            <a:round/>
          </a:ln>
        </p:spPr>
        <p:txBody>
          <a:bodyPr vert="horz" wrap="square" lIns="63500" tIns="63500" rIns="63500" bIns="63500" rtlCol="0" anchor="ctr"/>
          <a:lstStyle/>
          <a:p>
            <a:pPr algn="ctr">
              <a:defRPr/>
            </a:pPr>
          </a:p>
        </p:txBody>
      </p:sp>
      <p:sp>
        <p:nvSpPr>
          <p:cNvPr id="56" name="AutoShape 56"/>
          <p:cNvSpPr/>
          <p:nvPr/>
        </p:nvSpPr>
        <p:spPr>
          <a:xfrm>
            <a:off x="9880600" y="5676900"/>
            <a:ext cx="1714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56533"/>
                </a:solidFill>
                <a:latin typeface="Noto Sans SC" panose="020B0200000000000000" charset="-122"/>
                <a:ea typeface="Noto Sans SC" panose="020B0200000000000000" charset="-122"/>
                <a:cs typeface="Noto Sans SC" panose="020B0200000000000000" charset="-122"/>
                <a:sym typeface="Noto Sans SC" panose="020B0200000000000000" charset="-122"/>
              </a:rPr>
              <a:t>避免资源泄漏风险</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实战案例：用户查询Servlet</a:t>
            </a:r>
            <a:endParaRPr lang="en-US" sz="1100"/>
          </a:p>
        </p:txBody>
      </p:sp>
      <p:sp>
        <p:nvSpPr>
          <p:cNvPr id="4" name="AutoShape 4"/>
          <p:cNvSpPr/>
          <p:nvPr/>
        </p:nvSpPr>
        <p:spPr>
          <a:xfrm>
            <a:off x="762000" y="1524000"/>
            <a:ext cx="5207000" cy="3619500"/>
          </a:xfrm>
          <a:prstGeom prst="roundRect">
            <a:avLst>
              <a:gd name="adj" fmla="val 0"/>
            </a:avLst>
          </a:prstGeom>
          <a:solidFill>
            <a:srgbClr val="FFFFFF">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145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UserDAO 数据访问对象封装</a:t>
            </a:r>
            <a:endParaRPr lang="en-US" sz="1100"/>
          </a:p>
        </p:txBody>
      </p:sp>
      <p:sp>
        <p:nvSpPr>
          <p:cNvPr id="7" name="AutoShape 7"/>
          <p:cNvSpPr/>
          <p:nvPr/>
        </p:nvSpPr>
        <p:spPr>
          <a:xfrm>
            <a:off x="952500" y="2286000"/>
            <a:ext cx="4826000" cy="1714500"/>
          </a:xfrm>
          <a:prstGeom prst="roundRect">
            <a:avLst>
              <a:gd name="adj" fmla="val 0"/>
            </a:avLst>
          </a:prstGeom>
          <a:solidFill>
            <a:srgbClr val="1F2937">
              <a:alpha val="96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349500"/>
            <a:ext cx="4572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Source Code Pro"/>
                <a:ea typeface="Source Code Pro"/>
                <a:cs typeface="Source Code Pro"/>
                <a:sym typeface="Source Code Pro"/>
              </a:rPr>
              <a:t>public class UserDAO {</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private QueryRunner qr = new QueryRunner(DBCPUtil.getDataSource());</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public List&lt;User&gt; findAll() throws SQLException {</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String sql = "SELECT id, username, email FROM users";</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return qr.query(sql, new BeanListHandler&lt;&gt;(User.class));</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a:t>
            </a:r>
            <a:endParaRPr lang="en-US" sz="1100"/>
          </a:p>
        </p:txBody>
      </p:sp>
      <p:sp>
        <p:nvSpPr>
          <p:cNvPr id="9" name="AutoShape 9"/>
          <p:cNvSpPr/>
          <p:nvPr/>
        </p:nvSpPr>
        <p:spPr>
          <a:xfrm>
            <a:off x="952500" y="4127500"/>
            <a:ext cx="4826000" cy="889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4191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commons-dbutils 工具封装数据层，利用 QueryRunner 与数据源直接交互。将繁琐的 ResultSet 映射和资源关闭逻辑交由工具类自动处理，让数据访问代码更简洁、更不易出错。</a:t>
            </a:r>
            <a:endParaRPr lang="en-US" sz="1100"/>
          </a:p>
        </p:txBody>
      </p:sp>
      <p:sp>
        <p:nvSpPr>
          <p:cNvPr id="11" name="AutoShape 11"/>
          <p:cNvSpPr/>
          <p:nvPr/>
        </p:nvSpPr>
        <p:spPr>
          <a:xfrm>
            <a:off x="6223000" y="1524000"/>
            <a:ext cx="5207000" cy="3619500"/>
          </a:xfrm>
          <a:prstGeom prst="roundRect">
            <a:avLst>
              <a:gd name="adj" fmla="val 0"/>
            </a:avLst>
          </a:prstGeom>
          <a:solidFill>
            <a:srgbClr val="FFFFFF">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17145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UserServlet 业务请求处理</a:t>
            </a:r>
            <a:endParaRPr lang="en-US" sz="1100"/>
          </a:p>
        </p:txBody>
      </p:sp>
      <p:sp>
        <p:nvSpPr>
          <p:cNvPr id="14" name="AutoShape 14"/>
          <p:cNvSpPr/>
          <p:nvPr/>
        </p:nvSpPr>
        <p:spPr>
          <a:xfrm>
            <a:off x="6413500" y="2286000"/>
            <a:ext cx="4826000" cy="1714500"/>
          </a:xfrm>
          <a:prstGeom prst="roundRect">
            <a:avLst>
              <a:gd name="adj" fmla="val 0"/>
            </a:avLst>
          </a:prstGeom>
          <a:solidFill>
            <a:srgbClr val="1F2937">
              <a:alpha val="96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540500" y="2349500"/>
            <a:ext cx="4572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Source Code Pro"/>
                <a:ea typeface="Source Code Pro"/>
                <a:cs typeface="Source Code Pro"/>
                <a:sym typeface="Source Code Pro"/>
              </a:rPr>
              <a:t>@WebServlet("/users")</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public class UserServlet extends HttpServlet {</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protected void doGet(...) {</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List&lt;User&gt; users = new UserDAO().findAll();</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 构建 HTML 响应，将用户列表渲染到页面</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resp.getWriter().println("&lt;h1&gt;用户列表&lt;/h1&gt;" + users);</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a:t>
            </a:r>
            <a:endParaRPr lang="en-US" sz="1100"/>
          </a:p>
        </p:txBody>
      </p:sp>
      <p:sp>
        <p:nvSpPr>
          <p:cNvPr id="16" name="AutoShape 16"/>
          <p:cNvSpPr/>
          <p:nvPr/>
        </p:nvSpPr>
        <p:spPr>
          <a:xfrm>
            <a:off x="6413500" y="4127500"/>
            <a:ext cx="4826000" cy="889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540500" y="4191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作为前端与后端的桥梁，Servlet 接收 /users 路径的 GET 请求，调用 DAO 获取数据后，直接拼接 HTML 内容响应给客户端。这种模式清晰地分离了请求处理与数据获取的职责。</a:t>
            </a:r>
            <a:endParaRPr lang="en-US" sz="1100"/>
          </a:p>
        </p:txBody>
      </p:sp>
      <p:sp>
        <p:nvSpPr>
          <p:cNvPr id="18" name="AutoShape 18"/>
          <p:cNvSpPr/>
          <p:nvPr/>
        </p:nvSpPr>
        <p:spPr>
          <a:xfrm>
            <a:off x="762000" y="5334000"/>
            <a:ext cx="10668000" cy="1143000"/>
          </a:xfrm>
          <a:prstGeom prst="roundRect">
            <a:avLst>
              <a:gd name="adj" fmla="val 0"/>
            </a:avLst>
          </a:prstGeom>
          <a:solidFill>
            <a:srgbClr val="F0FDF4">
              <a:alpha val="9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1016000" y="5435600"/>
            <a:ext cx="1016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核心价值体现：通过分层架构（表现层 Servlet + 数据访问层 DAO），我们成功将业务逻辑与底层数据库操作解耦。配合 DBCP 连接池的资源复用能力，系统不仅在开发阶段减少了大量样板代码，在运行阶段也获得了更高效的数据库连接管理与更稳定的服务响应。</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DBCP性能调优关键参数（一）</a:t>
            </a:r>
            <a:endParaRPr lang="en-US" sz="1100"/>
          </a:p>
        </p:txBody>
      </p:sp>
      <p:sp>
        <p:nvSpPr>
          <p:cNvPr id="4" name="AutoShape 4"/>
          <p:cNvSpPr/>
          <p:nvPr/>
        </p:nvSpPr>
        <p:spPr>
          <a:xfrm>
            <a:off x="762000" y="1524000"/>
            <a:ext cx="10668000" cy="762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5875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合理的配置是发挥连接池性能的关键。通过精准设置核心参数，可以有效平衡系统资源消耗与业务响应速度，避免因连接不足导致的请求等待或资源浪费引发的系统负载过高。</a:t>
            </a:r>
            <a:endParaRPr lang="en-US" sz="1100"/>
          </a:p>
        </p:txBody>
      </p:sp>
      <p:sp>
        <p:nvSpPr>
          <p:cNvPr id="6" name="AutoShape 6"/>
          <p:cNvSpPr/>
          <p:nvPr/>
        </p:nvSpPr>
        <p:spPr>
          <a:xfrm>
            <a:off x="762000" y="2413000"/>
            <a:ext cx="3492500" cy="19685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2413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89000" y="2540000"/>
            <a:ext cx="3238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initialSize</a:t>
            </a:r>
            <a:endParaRPr lang="en-US" sz="1100"/>
          </a:p>
        </p:txBody>
      </p:sp>
      <p:sp>
        <p:nvSpPr>
          <p:cNvPr id="9" name="AutoShape 9"/>
          <p:cNvSpPr/>
          <p:nvPr/>
        </p:nvSpPr>
        <p:spPr>
          <a:xfrm>
            <a:off x="889000" y="2946400"/>
            <a:ext cx="3238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默认值：0 | 初始连接数</a:t>
            </a:r>
            <a:endParaRPr lang="en-US" sz="1100"/>
          </a:p>
        </p:txBody>
      </p:sp>
      <p:cxnSp>
        <p:nvCxnSpPr>
          <p:cNvPr id="10" name="Connector 10"/>
          <p:cNvCxnSpPr/>
          <p:nvPr/>
        </p:nvCxnSpPr>
        <p:spPr>
          <a:xfrm rot="-13481">
            <a:off x="889012" y="3346450"/>
            <a:ext cx="3238500"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sp>
        <p:nvSpPr>
          <p:cNvPr id="11" name="AutoShape 11"/>
          <p:cNvSpPr/>
          <p:nvPr/>
        </p:nvSpPr>
        <p:spPr>
          <a:xfrm>
            <a:off x="889000" y="34290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连接池启动时创建的初始物理连接数量。建议设置为应用日常平稳运行时所需的平均连接数，避免系统启动后瞬时创建大量连接造成的性能抖动。</a:t>
            </a:r>
            <a:endParaRPr lang="en-US" sz="1100"/>
          </a:p>
        </p:txBody>
      </p:sp>
      <p:sp>
        <p:nvSpPr>
          <p:cNvPr id="12" name="AutoShape 12"/>
          <p:cNvSpPr/>
          <p:nvPr/>
        </p:nvSpPr>
        <p:spPr>
          <a:xfrm>
            <a:off x="4419600" y="2413000"/>
            <a:ext cx="3492500" cy="1968500"/>
          </a:xfrm>
          <a:prstGeom prst="roundRect">
            <a:avLst>
              <a:gd name="adj" fmla="val 0"/>
            </a:avLst>
          </a:prstGeom>
          <a:solidFill>
            <a:srgbClr val="22C55E">
              <a:alpha val="13000"/>
            </a:srgbClr>
          </a:solidFill>
          <a:ln w="12700" cap="flat" cmpd="sng">
            <a:solidFill>
              <a:srgbClr val="22C55E">
                <a:alpha val="5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419600" y="2413000"/>
            <a:ext cx="3492500" cy="38100"/>
          </a:xfrm>
          <a:prstGeom prst="roundRect">
            <a:avLst>
              <a:gd name="adj" fmla="val 0"/>
            </a:avLst>
          </a:prstGeom>
          <a:solidFill>
            <a:srgbClr val="15803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46600" y="2540000"/>
            <a:ext cx="3238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maxTotal (核心参数)</a:t>
            </a:r>
            <a:endParaRPr lang="en-US" sz="1100"/>
          </a:p>
        </p:txBody>
      </p:sp>
      <p:sp>
        <p:nvSpPr>
          <p:cNvPr id="15" name="AutoShape 15"/>
          <p:cNvSpPr/>
          <p:nvPr/>
        </p:nvSpPr>
        <p:spPr>
          <a:xfrm>
            <a:off x="4546600" y="2946400"/>
            <a:ext cx="3238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默认值：8 | 最大活动连接数</a:t>
            </a:r>
            <a:endParaRPr lang="en-US" sz="1100"/>
          </a:p>
        </p:txBody>
      </p:sp>
      <p:cxnSp>
        <p:nvCxnSpPr>
          <p:cNvPr id="16" name="Connector 16"/>
          <p:cNvCxnSpPr/>
          <p:nvPr/>
        </p:nvCxnSpPr>
        <p:spPr>
          <a:xfrm rot="-13481">
            <a:off x="4546612" y="3346450"/>
            <a:ext cx="3238500" cy="12700"/>
          </a:xfrm>
          <a:prstGeom prst="straightConnector1">
            <a:avLst/>
          </a:prstGeom>
          <a:solidFill>
            <a:srgbClr val="DEE0E3">
              <a:alpha val="100000"/>
            </a:srgbClr>
          </a:solidFill>
          <a:ln w="12700" cap="flat" cmpd="sng">
            <a:solidFill>
              <a:srgbClr val="22C55E">
                <a:alpha val="30000"/>
              </a:srgbClr>
            </a:solidFill>
            <a:prstDash val="dash"/>
            <a:round/>
            <a:headEnd type="none" w="med" len="med"/>
            <a:tailEnd type="none" w="med" len="med"/>
          </a:ln>
        </p:spPr>
      </p:cxnSp>
      <p:sp>
        <p:nvSpPr>
          <p:cNvPr id="17" name="AutoShape 17"/>
          <p:cNvSpPr/>
          <p:nvPr/>
        </p:nvSpPr>
        <p:spPr>
          <a:xfrm>
            <a:off x="4546600" y="34290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池中允许的最大活跃连接数。必须根据数据库最大连接数和业务并发量进行设置，其值严禁超过数据库服务器的最大连接限制，否则会导致获取连接失败。</a:t>
            </a:r>
            <a:endParaRPr lang="en-US" sz="1100"/>
          </a:p>
        </p:txBody>
      </p:sp>
      <p:sp>
        <p:nvSpPr>
          <p:cNvPr id="18" name="AutoShape 18"/>
          <p:cNvSpPr/>
          <p:nvPr/>
        </p:nvSpPr>
        <p:spPr>
          <a:xfrm>
            <a:off x="8077200" y="2413000"/>
            <a:ext cx="3492500" cy="19685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8077200" y="2413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204200" y="2540000"/>
            <a:ext cx="3238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maxIdle</a:t>
            </a:r>
            <a:endParaRPr lang="en-US" sz="1100"/>
          </a:p>
        </p:txBody>
      </p:sp>
      <p:sp>
        <p:nvSpPr>
          <p:cNvPr id="21" name="AutoShape 21"/>
          <p:cNvSpPr/>
          <p:nvPr/>
        </p:nvSpPr>
        <p:spPr>
          <a:xfrm>
            <a:off x="8204200" y="2946400"/>
            <a:ext cx="3238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默认值：8 | 最大空闲连接数</a:t>
            </a:r>
            <a:endParaRPr lang="en-US" sz="1100"/>
          </a:p>
        </p:txBody>
      </p:sp>
      <p:cxnSp>
        <p:nvCxnSpPr>
          <p:cNvPr id="22" name="Connector 22"/>
          <p:cNvCxnSpPr/>
          <p:nvPr/>
        </p:nvCxnSpPr>
        <p:spPr>
          <a:xfrm rot="-13481">
            <a:off x="8204212" y="3346450"/>
            <a:ext cx="3238500"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sp>
        <p:nvSpPr>
          <p:cNvPr id="23" name="AutoShape 23"/>
          <p:cNvSpPr/>
          <p:nvPr/>
        </p:nvSpPr>
        <p:spPr>
          <a:xfrm>
            <a:off x="8204200" y="34290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连接池允许保持的最大空闲连接数量。对于流量波动较大的高并发系统，建议将此值设置为与 maxTotal 相同，以保留足够的热连接，减少频繁创建/销毁连接的开销。</a:t>
            </a:r>
            <a:endParaRPr lang="en-US" sz="1100"/>
          </a:p>
        </p:txBody>
      </p:sp>
      <p:sp>
        <p:nvSpPr>
          <p:cNvPr id="24" name="AutoShape 24"/>
          <p:cNvSpPr/>
          <p:nvPr/>
        </p:nvSpPr>
        <p:spPr>
          <a:xfrm>
            <a:off x="762000" y="4508500"/>
            <a:ext cx="5270500" cy="1905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762000" y="4508500"/>
            <a:ext cx="5270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52500" y="4610100"/>
            <a:ext cx="4889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minIdle</a:t>
            </a: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默认值：0 (最小空闲连接数)</a:t>
            </a:r>
            <a:endParaRPr lang="en-US" sz="1100"/>
          </a:p>
        </p:txBody>
      </p:sp>
      <p:cxnSp>
        <p:nvCxnSpPr>
          <p:cNvPr id="27" name="Connector 27"/>
          <p:cNvCxnSpPr/>
          <p:nvPr/>
        </p:nvCxnSpPr>
        <p:spPr>
          <a:xfrm rot="-8929">
            <a:off x="952508" y="5073650"/>
            <a:ext cx="4889500"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sp>
        <p:nvSpPr>
          <p:cNvPr id="28" name="AutoShape 28"/>
          <p:cNvSpPr/>
          <p:nvPr/>
        </p:nvSpPr>
        <p:spPr>
          <a:xfrm>
            <a:off x="952500" y="51816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连接池在空闲时会维护的最小物理连接数。设置一个合理的非零值（如CPU核心数或业务基准并发数），可以保证系统在突发请求时能立即获取到可用连接，显著提高响应速度，避免冷启动时的性能损耗。</a:t>
            </a:r>
            <a:endParaRPr lang="en-US" sz="1100"/>
          </a:p>
        </p:txBody>
      </p:sp>
      <p:sp>
        <p:nvSpPr>
          <p:cNvPr id="29" name="AutoShape 29"/>
          <p:cNvSpPr/>
          <p:nvPr/>
        </p:nvSpPr>
        <p:spPr>
          <a:xfrm>
            <a:off x="6223000" y="4508500"/>
            <a:ext cx="5334000" cy="1905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6223000" y="4508500"/>
            <a:ext cx="5334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413500" y="4610100"/>
            <a:ext cx="495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maxWaitMillis</a:t>
            </a: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默认值：无限 (获取连接超时时间)</a:t>
            </a:r>
            <a:endParaRPr lang="en-US" sz="1100"/>
          </a:p>
        </p:txBody>
      </p:sp>
      <p:cxnSp>
        <p:nvCxnSpPr>
          <p:cNvPr id="32" name="Connector 32"/>
          <p:cNvCxnSpPr/>
          <p:nvPr/>
        </p:nvCxnSpPr>
        <p:spPr>
          <a:xfrm rot="-9167">
            <a:off x="6413508" y="5073650"/>
            <a:ext cx="4762500"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sp>
        <p:nvSpPr>
          <p:cNvPr id="33" name="AutoShape 33"/>
          <p:cNvSpPr/>
          <p:nvPr/>
        </p:nvSpPr>
        <p:spPr>
          <a:xfrm>
            <a:off x="6413500" y="51816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当连接池资源耗尽时，客户端获取连接的最大等待时长（毫秒）。必须设置一个明确的超时值（如 3000ms），防止线程无限期阻塞等待，从而避免因数据库连接问题导致的系统线程死锁或长时间无响应。</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DBCP性能调优关键参数（二）</a:t>
            </a:r>
            <a:endParaRPr lang="en-US" sz="1100"/>
          </a:p>
        </p:txBody>
      </p:sp>
      <p:sp>
        <p:nvSpPr>
          <p:cNvPr id="4" name="AutoShape 4"/>
          <p:cNvSpPr/>
          <p:nvPr/>
        </p:nvSpPr>
        <p:spPr>
          <a:xfrm>
            <a:off x="762000" y="1651000"/>
            <a:ext cx="2603500" cy="29845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8415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validationQuery</a:t>
            </a:r>
            <a:endParaRPr lang="en-US" sz="1100"/>
          </a:p>
        </p:txBody>
      </p:sp>
      <p:sp>
        <p:nvSpPr>
          <p:cNvPr id="7" name="AutoShape 7"/>
          <p:cNvSpPr/>
          <p:nvPr/>
        </p:nvSpPr>
        <p:spPr>
          <a:xfrm>
            <a:off x="889000" y="2413000"/>
            <a:ext cx="2349500" cy="4064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438400"/>
            <a:ext cx="2222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默认值：- (必须配置)</a:t>
            </a:r>
            <a:endParaRPr lang="en-US" sz="1100"/>
          </a:p>
        </p:txBody>
      </p:sp>
      <p:sp>
        <p:nvSpPr>
          <p:cNvPr id="9" name="AutoShape 9"/>
          <p:cNvSpPr/>
          <p:nvPr/>
        </p:nvSpPr>
        <p:spPr>
          <a:xfrm>
            <a:off x="889000" y="3048000"/>
            <a:ext cx="234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用于验证数据库连接有效性的测试SQL，如MySQL使用 "SELECT 1"。这是连接池检测坏连接的核心依据，若不配置，连接池将无法识别并剔除无效连接，导致业务报错。</a:t>
            </a:r>
            <a:endParaRPr lang="en-US" sz="1100"/>
          </a:p>
        </p:txBody>
      </p:sp>
      <p:sp>
        <p:nvSpPr>
          <p:cNvPr id="10" name="AutoShape 10"/>
          <p:cNvSpPr/>
          <p:nvPr/>
        </p:nvSpPr>
        <p:spPr>
          <a:xfrm>
            <a:off x="3530600" y="1651000"/>
            <a:ext cx="2603500" cy="29845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530600" y="1651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657600" y="18415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testOnBorrow</a:t>
            </a:r>
            <a:endParaRPr lang="en-US" sz="1100"/>
          </a:p>
        </p:txBody>
      </p:sp>
      <p:sp>
        <p:nvSpPr>
          <p:cNvPr id="13" name="AutoShape 13"/>
          <p:cNvSpPr/>
          <p:nvPr/>
        </p:nvSpPr>
        <p:spPr>
          <a:xfrm>
            <a:off x="3657600" y="2413000"/>
            <a:ext cx="2349500" cy="4064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721100" y="2438400"/>
            <a:ext cx="2222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默认值：true</a:t>
            </a:r>
            <a:endParaRPr lang="en-US" sz="1100"/>
          </a:p>
        </p:txBody>
      </p:sp>
      <p:sp>
        <p:nvSpPr>
          <p:cNvPr id="15" name="AutoShape 15"/>
          <p:cNvSpPr/>
          <p:nvPr/>
        </p:nvSpPr>
        <p:spPr>
          <a:xfrm>
            <a:off x="3657600" y="3048000"/>
            <a:ext cx="234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应用从连接池获取连接时，立即执行验证SQL。安全性最高，能确保拿到的连接可用，但每次获取都执行SQL会增加网络开销。高并发、低延迟场景建议设为 false。</a:t>
            </a:r>
            <a:endParaRPr lang="en-US" sz="1100"/>
          </a:p>
        </p:txBody>
      </p:sp>
      <p:sp>
        <p:nvSpPr>
          <p:cNvPr id="16" name="AutoShape 16"/>
          <p:cNvSpPr/>
          <p:nvPr/>
        </p:nvSpPr>
        <p:spPr>
          <a:xfrm>
            <a:off x="6299200" y="1651000"/>
            <a:ext cx="2603500" cy="29845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299200" y="1651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26200" y="18415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testWhileIdle</a:t>
            </a:r>
            <a:endParaRPr lang="en-US" sz="1100"/>
          </a:p>
        </p:txBody>
      </p:sp>
      <p:sp>
        <p:nvSpPr>
          <p:cNvPr id="19" name="AutoShape 19"/>
          <p:cNvSpPr/>
          <p:nvPr/>
        </p:nvSpPr>
        <p:spPr>
          <a:xfrm>
            <a:off x="6426200" y="2413000"/>
            <a:ext cx="2349500" cy="4064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489700" y="2438400"/>
            <a:ext cx="2222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默认值：false (推荐开启)</a:t>
            </a:r>
            <a:endParaRPr lang="en-US" sz="1100"/>
          </a:p>
        </p:txBody>
      </p:sp>
      <p:sp>
        <p:nvSpPr>
          <p:cNvPr id="21" name="AutoShape 21"/>
          <p:cNvSpPr/>
          <p:nvPr/>
        </p:nvSpPr>
        <p:spPr>
          <a:xfrm>
            <a:off x="6426200" y="3048000"/>
            <a:ext cx="234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后台空闲线程在连接空闲时进行有效性检查。这是生产环境的最佳实践：既不会影响前台业务的连接获取速度，又能在连接被借出前提前剔除失效连接，平衡了性能与可靠性。</a:t>
            </a:r>
            <a:endParaRPr lang="en-US" sz="1100"/>
          </a:p>
        </p:txBody>
      </p:sp>
      <p:sp>
        <p:nvSpPr>
          <p:cNvPr id="22" name="AutoShape 22"/>
          <p:cNvSpPr/>
          <p:nvPr/>
        </p:nvSpPr>
        <p:spPr>
          <a:xfrm>
            <a:off x="9067800" y="1651000"/>
            <a:ext cx="2603500" cy="29845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9067800" y="1651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194800" y="18415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timeBetweenEvictionRuns</a:t>
            </a:r>
            <a:endParaRPr lang="en-US" sz="1100"/>
          </a:p>
        </p:txBody>
      </p:sp>
      <p:sp>
        <p:nvSpPr>
          <p:cNvPr id="25" name="AutoShape 25"/>
          <p:cNvSpPr/>
          <p:nvPr/>
        </p:nvSpPr>
        <p:spPr>
          <a:xfrm>
            <a:off x="9194800" y="2413000"/>
            <a:ext cx="2349500" cy="4064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258300" y="2438400"/>
            <a:ext cx="2222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默认值：-1 (未启用)</a:t>
            </a:r>
            <a:endParaRPr lang="en-US" sz="1100"/>
          </a:p>
        </p:txBody>
      </p:sp>
      <p:sp>
        <p:nvSpPr>
          <p:cNvPr id="27" name="AutoShape 27"/>
          <p:cNvSpPr/>
          <p:nvPr/>
        </p:nvSpPr>
        <p:spPr>
          <a:xfrm>
            <a:off x="9194800" y="3048000"/>
            <a:ext cx="234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配置后台清理线程的运行间隔（毫秒）。-1 表示关闭该线程。建议设置为 30000（30秒）或 60000（60秒），让线程定期扫描并清理空闲超时或无效的连接，释放数据库资源。</a:t>
            </a:r>
            <a:endParaRPr lang="en-US" sz="1100"/>
          </a:p>
        </p:txBody>
      </p:sp>
      <p:sp>
        <p:nvSpPr>
          <p:cNvPr id="28" name="AutoShape 28"/>
          <p:cNvSpPr/>
          <p:nvPr/>
        </p:nvSpPr>
        <p:spPr>
          <a:xfrm>
            <a:off x="762000" y="4826000"/>
            <a:ext cx="10922000" cy="1397000"/>
          </a:xfrm>
          <a:prstGeom prst="roundRect">
            <a:avLst>
              <a:gd name="adj" fmla="val 0"/>
            </a:avLst>
          </a:prstGeom>
          <a:solidFill>
            <a:srgbClr val="F0FDF4">
              <a:alpha val="95000"/>
            </a:srgbClr>
          </a:solidFill>
          <a:ln w="12700" cap="flat" cmpd="sng">
            <a:solidFill>
              <a:srgbClr val="86EFAC">
                <a:alpha val="7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762000" y="4826000"/>
            <a:ext cx="50800" cy="1397000"/>
          </a:xfrm>
          <a:prstGeom prst="roundRect">
            <a:avLst>
              <a:gd name="adj" fmla="val 0"/>
            </a:avLst>
          </a:prstGeom>
          <a:solidFill>
            <a:srgbClr val="22C55E">
              <a:alpha val="8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1016000" y="4978400"/>
            <a:ext cx="1041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核心调优策略：异步验证优于同步验证</a:t>
            </a:r>
            <a:endParaRPr lang="en-US" sz="1100"/>
          </a:p>
        </p:txBody>
      </p:sp>
      <p:sp>
        <p:nvSpPr>
          <p:cNvPr id="31" name="AutoShape 31"/>
          <p:cNvSpPr/>
          <p:nvPr/>
        </p:nvSpPr>
        <p:spPr>
          <a:xfrm>
            <a:off x="1016000" y="5461000"/>
            <a:ext cx="1041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在生产环境中，建议将 testOnBorrow 关闭，同时开启 testWhileIdle 并配置合理的清理间隔。配合必须设置的 validationQuery，这种组合既能避免因网络波动导致的无效连接问题，又能将性能损耗降到最低，保障高并发场景下的系统稳定性。</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本章核心知识点回顾</a:t>
            </a:r>
            <a:endParaRPr lang="en-US" sz="1100"/>
          </a:p>
        </p:txBody>
      </p:sp>
      <p:sp>
        <p:nvSpPr>
          <p:cNvPr id="4" name="AutoShape 4"/>
          <p:cNvSpPr/>
          <p:nvPr/>
        </p:nvSpPr>
        <p:spPr>
          <a:xfrm>
            <a:off x="762000" y="1524000"/>
            <a:ext cx="34925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14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为什么需要连接池？</a:t>
            </a:r>
            <a:endParaRPr lang="en-US" sz="1100"/>
          </a:p>
        </p:txBody>
      </p:sp>
      <p:sp>
        <p:nvSpPr>
          <p:cNvPr id="7" name="AutoShape 7"/>
          <p:cNvSpPr/>
          <p:nvPr/>
        </p:nvSpPr>
        <p:spPr>
          <a:xfrm>
            <a:off x="952500" y="2286000"/>
            <a:ext cx="311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传统JDBC每次操作都新建和销毁连接，这会带来巨大的性能开销。连接池从根源上解决了这个瓶颈，避免了系统资源的无效浪费，是支撑高并发数据库操作的基础优化手段。</a:t>
            </a:r>
            <a:endParaRPr lang="en-US" sz="1100"/>
          </a:p>
        </p:txBody>
      </p:sp>
      <p:sp>
        <p:nvSpPr>
          <p:cNvPr id="8" name="AutoShape 8"/>
          <p:cNvSpPr/>
          <p:nvPr/>
        </p:nvSpPr>
        <p:spPr>
          <a:xfrm>
            <a:off x="4445000" y="1524000"/>
            <a:ext cx="34925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45000" y="1524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635500" y="1714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连接池的核心思想</a:t>
            </a:r>
            <a:endParaRPr lang="en-US" sz="1100"/>
          </a:p>
        </p:txBody>
      </p:sp>
      <p:sp>
        <p:nvSpPr>
          <p:cNvPr id="11" name="AutoShape 11"/>
          <p:cNvSpPr/>
          <p:nvPr/>
        </p:nvSpPr>
        <p:spPr>
          <a:xfrm>
            <a:off x="4635500" y="2286000"/>
            <a:ext cx="311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核心在于“池化”与“复用”。系统预先创建一定数量的数据库连接并统一管理，当业务需要时按需分配，使用完毕后回收，避免了重复创建对象的高昂成本，显著提升响应速度。</a:t>
            </a:r>
            <a:endParaRPr lang="en-US" sz="1100"/>
          </a:p>
        </p:txBody>
      </p:sp>
      <p:sp>
        <p:nvSpPr>
          <p:cNvPr id="12" name="AutoShape 12"/>
          <p:cNvSpPr/>
          <p:nvPr/>
        </p:nvSpPr>
        <p:spPr>
          <a:xfrm>
            <a:off x="8128000" y="1524000"/>
            <a:ext cx="34925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128000" y="1524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318500" y="1714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DBCP 是什么？</a:t>
            </a:r>
            <a:endParaRPr lang="en-US" sz="1100"/>
          </a:p>
        </p:txBody>
      </p:sp>
      <p:sp>
        <p:nvSpPr>
          <p:cNvPr id="15" name="AutoShape 15"/>
          <p:cNvSpPr/>
          <p:nvPr/>
        </p:nvSpPr>
        <p:spPr>
          <a:xfrm>
            <a:off x="8318500" y="2286000"/>
            <a:ext cx="311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它是Apache软件基金会开源的经典数据库连接池实现，完全遵循JDBC规范并实现了DataSource接口。作为一个稳定、成熟的组件，它被广泛应用于各种Java后端项目中。</a:t>
            </a:r>
            <a:endParaRPr lang="en-US" sz="1100"/>
          </a:p>
        </p:txBody>
      </p:sp>
      <p:sp>
        <p:nvSpPr>
          <p:cNvPr id="16" name="AutoShape 16"/>
          <p:cNvSpPr/>
          <p:nvPr/>
        </p:nvSpPr>
        <p:spPr>
          <a:xfrm>
            <a:off x="762000" y="3937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3937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52500" y="4127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DBCP 核心使用步骤</a:t>
            </a:r>
            <a:endParaRPr lang="en-US" sz="1100"/>
          </a:p>
        </p:txBody>
      </p:sp>
      <p:sp>
        <p:nvSpPr>
          <p:cNvPr id="19" name="AutoShape 19"/>
          <p:cNvSpPr/>
          <p:nvPr/>
        </p:nvSpPr>
        <p:spPr>
          <a:xfrm>
            <a:off x="952500" y="46990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首先导入dbcp2、pool2核心包与对应数据库驱动；其次通过BasicDataSource硬编码或BasicDataSourceFactory加载配置文件完成初始化；最后通过getConnection()获取连接，使用后调用close()归还连接至池中，而非真正关闭。</a:t>
            </a:r>
            <a:endParaRPr lang="en-US" sz="1100"/>
          </a:p>
        </p:txBody>
      </p:sp>
      <p:sp>
        <p:nvSpPr>
          <p:cNvPr id="20" name="AutoShape 20"/>
          <p:cNvSpPr/>
          <p:nvPr/>
        </p:nvSpPr>
        <p:spPr>
          <a:xfrm>
            <a:off x="6286500" y="3937000"/>
            <a:ext cx="53340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286500" y="3937000"/>
            <a:ext cx="5334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477000" y="41275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Web 应用整合策略</a:t>
            </a:r>
            <a:endParaRPr lang="en-US" sz="1100"/>
          </a:p>
        </p:txBody>
      </p:sp>
      <p:sp>
        <p:nvSpPr>
          <p:cNvPr id="23" name="AutoShape 23"/>
          <p:cNvSpPr/>
          <p:nvPr/>
        </p:nvSpPr>
        <p:spPr>
          <a:xfrm>
            <a:off x="6477000" y="4699000"/>
            <a:ext cx="495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Web应用启动阶段（如ServletContextListener）初始化DataSource单例。在DAO层通过工厂或依赖注入获取该数据源实例，实现连接的全局复用。这种方式将数据源与业务代码解耦，同时保证了在多线程环境下连接的安全、高效使用。</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667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a:p>
        </p:txBody>
      </p:sp>
      <p:sp>
        <p:nvSpPr>
          <p:cNvPr id="4" name="AutoShape 4"/>
          <p:cNvSpPr/>
          <p:nvPr/>
        </p:nvSpPr>
        <p:spPr>
          <a:xfrm>
            <a:off x="0" y="310896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6753</Words>
  <Application>WPS 演示</Application>
  <PresentationFormat/>
  <Paragraphs>291</Paragraphs>
  <Slides>13</Slides>
  <Notes>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13</vt:i4>
      </vt:variant>
    </vt:vector>
  </HeadingPairs>
  <TitlesOfParts>
    <vt:vector size="32" baseType="lpstr">
      <vt:lpstr>Arial</vt:lpstr>
      <vt:lpstr>宋体</vt:lpstr>
      <vt:lpstr>Wingdings</vt:lpstr>
      <vt:lpstr>Arial</vt:lpstr>
      <vt:lpstr>Noto Sans SC</vt:lpstr>
      <vt:lpstr>Consolas</vt:lpstr>
      <vt:lpstr>Menlo</vt:lpstr>
      <vt:lpstr>Source Code Pro</vt:lpstr>
      <vt:lpstr>JetBrains Mono</vt:lpstr>
      <vt:lpstr>微软雅黑</vt:lpstr>
      <vt:lpstr>Arial Unicode MS</vt:lpstr>
      <vt:lpstr>Consolas</vt:lpstr>
      <vt:lpstr>JetBrains Mono</vt:lpstr>
      <vt:lpstr>Menlo</vt:lpstr>
      <vt:lpstr>Source Code Pro</vt:lpstr>
      <vt:lpstr>Advent Pro</vt:lpstr>
      <vt:lpstr>Jetter</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WPS_1629239143</cp:lastModifiedBy>
  <cp:revision>1</cp:revision>
  <dcterms:created xsi:type="dcterms:W3CDTF">2026-05-31T12:40:38Z</dcterms:created>
  <dcterms:modified xsi:type="dcterms:W3CDTF">2026-05-31T12:40:38Z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{"Label":"1","ContentProducer":"001191110102MACQD9K64010000","ProduceID":"7646033386449423296","ReservedCode1":"","ContentPropagator":"","PropagateID":"","ReservedCode2":""}</vt:lpwstr>
  </property>
  <property fmtid="{D5CDD505-2E9C-101B-9397-08002B2CF9AE}" pid="3" name="ICV">
    <vt:lpwstr>F46A8A3FA67748E188D9A677C40FA1A3_13</vt:lpwstr>
  </property>
  <property fmtid="{D5CDD505-2E9C-101B-9397-08002B2CF9AE}" pid="4" name="KSOProductBuildVer">
    <vt:lpwstr>2052-12.1.0.26375</vt:lpwstr>
  </property>
</Properties>
</file>