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28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95"/>
        <p:guide pos="286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我们先来看 DBCP 插入操作的整体流程。大家注意，这不是随意的代码编写，而是一个经过验证的标准模式。第一步配置数据源，这是连接池的入口；第二步获取连接，从池中取出可用资源；第三步执行插入，完成实际的数据写入；第四步归还资源，确保连接能被复用。这四步缺一不可，任何一步出错都可能导致连接泄漏或性能问题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接下来我们看具体的代码实现。第一部分数据源配置，大家注意 BasicDataSource 是 DBCP 的核心类，需要设置驱动类名、数据库 URL、用户名密码这些基础信息，同时还要配置连接池参数。第二部分获取连接和执行插入，getConnection() 从池中取连接，PreparedStatement 执行 SQL。第三部分资源释放，一定要在 finally 块中关闭，确保即使发生异常也能正确归还连接。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这部分是 DBCP 配置中最容易踩坑的地方。大家看表格，testOnBorrow、testOnReturn、testWhileIdle 这三个验证属性默认都是 false，这意味着什么？意味着连接断开后，从池中取出的可能是无效连接，直接使用会抛出异常。解决方案很简单，把它们设为 true，并配置 validationQuery。不同数据库写法不同，Oracle 用 SELECT COUNT(*) FROM DUAL，MySQL 用 SELECT 1 就可以了。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我们来看 DBCP 的 8 个核心配置参数。这些参数可以分为三类：容量控制类包括 initialSize、maxTotal 控制连接数量上限；空闲管理类 maxIdle、minIdle 平衡资源占用与响应速度；检测回收类 timeBetweenEvictionRunsMillis、minEvictableIdleTimeMillis 实现定期检测自动回收无效连接。大家不需要死记硬背，理解每类参数的作用即可，实际项目中可根据并发量调整具体数值。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我们来看 DBCP 的 8 个核心配置参数。这些参数可以分为三类：容量控制类包括 initialSize、maxTotal 控制连接数量上限；空闲管理类 maxIdle、minIdle 平衡资源占用与响应速度；检测回收类 timeBetweenEvictionRunsMillis、minEvictableIdleTimeMillis 实现定期检测自动回收无效连接。大家不需要死记硬背，理解每类参数的作用即可，实际项目中可根据并发量调整具体数值。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最后我们总结三个最佳实践。第一，验证机制要完整，三个 test 属性全开，validationQuery 必须设置，这是避免无效连接的基础。第二，资源释放要规范，finally 块中关闭 Connection 和 PreparedStatement，确保即使发生异常也能正确归还连接。第三，异常处理要用标准的 try-catch-finally 结构，避免连接泄漏导致连接池耗尽，影响整个系统的稳定性。这三点做到了，你的 DBCP 使用就基本没问题了。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我们来看一个完整的插入操作代码示例。首先配置 BasicDataSource，设置驱动、URL、用户名密码和连接池参数。然后获取连接，注意这里可能抛出 SQLException 要处理。接着用 PreparedStatement 执行 INSERT 语句，设置参数时注意索引从 1 开始。最后在 finally 块中关闭资源，先关 PreparedStatement 再关 Connection。这个模板可以直接用到你的项目中，根据实际数据库调整驱动和 URL 即可。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A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C20">
                    <a:alpha val="6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DBCP 连接池插入操作详解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52475"/>
            <a:ext cx="11274781" cy="469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1C2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DBCP 插入操作标准流程</a:t>
            </a:r>
            <a:endParaRPr lang="en-US" sz="1100"/>
          </a:p>
        </p:txBody>
      </p:sp>
      <p:sp>
        <p:nvSpPr>
          <p:cNvPr id="5" name="TextBox 5"/>
          <p:cNvSpPr txBox="1"/>
          <p:nvPr>
            <p:custDataLst>
              <p:tags r:id="rId1"/>
            </p:custDataLst>
          </p:nvPr>
        </p:nvSpPr>
        <p:spPr>
          <a:xfrm>
            <a:off x="457086" y="1524000"/>
            <a:ext cx="22854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4A7FD7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01</a:t>
            </a:r>
            <a:endParaRPr lang="en-US" sz="1100"/>
          </a:p>
        </p:txBody>
      </p:sp>
      <p:sp>
        <p:nvSpPr>
          <p:cNvPr id="6" name="TextBox 6"/>
          <p:cNvSpPr txBox="1"/>
          <p:nvPr>
            <p:custDataLst>
              <p:tags r:id="rId2"/>
            </p:custDataLst>
          </p:nvPr>
        </p:nvSpPr>
        <p:spPr>
          <a:xfrm>
            <a:off x="837990" y="1524000"/>
            <a:ext cx="5929318" cy="215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1A1C2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配置数据源参数</a:t>
            </a:r>
            <a:endParaRPr lang="en-US" sz="1100"/>
          </a:p>
        </p:txBody>
      </p:sp>
      <p:sp>
        <p:nvSpPr>
          <p:cNvPr id="7" name="TextBox 7"/>
          <p:cNvSpPr txBox="1"/>
          <p:nvPr>
            <p:custDataLst>
              <p:tags r:id="rId3"/>
            </p:custDataLst>
          </p:nvPr>
        </p:nvSpPr>
        <p:spPr>
          <a:xfrm>
            <a:off x="837990" y="1830586"/>
            <a:ext cx="5929318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C20">
                    <a:alpha val="85098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通过 BasicDataSource 类实例化数据源对象，设置 driverClassName、url、username、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C20">
                    <a:alpha val="85098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password 等基础连接信息，同时配置 maxTotal、maxIdle 等池参数完成连接池初始化。</a:t>
            </a:r>
            <a:endParaRPr sz="1100" b="0" i="0" strike="noStrike">
              <a:solidFill>
                <a:srgbClr val="1A1C20">
                  <a:alpha val="85098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8" name="TextBox 8"/>
          <p:cNvSpPr txBox="1"/>
          <p:nvPr>
            <p:custDataLst>
              <p:tags r:id="rId4"/>
            </p:custDataLst>
          </p:nvPr>
        </p:nvSpPr>
        <p:spPr>
          <a:xfrm>
            <a:off x="457086" y="2506861"/>
            <a:ext cx="22854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4A7FD7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02</a:t>
            </a:r>
            <a:endParaRPr lang="en-US" sz="1100"/>
          </a:p>
        </p:txBody>
      </p:sp>
      <p:sp>
        <p:nvSpPr>
          <p:cNvPr id="9" name="TextBox 9"/>
          <p:cNvSpPr txBox="1"/>
          <p:nvPr>
            <p:custDataLst>
              <p:tags r:id="rId5"/>
            </p:custDataLst>
          </p:nvPr>
        </p:nvSpPr>
        <p:spPr>
          <a:xfrm>
            <a:off x="837990" y="2506861"/>
            <a:ext cx="5929318" cy="215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1A1C2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获取数据库连接</a:t>
            </a:r>
            <a:endParaRPr lang="en-US" sz="1100"/>
          </a:p>
        </p:txBody>
      </p:sp>
      <p:sp>
        <p:nvSpPr>
          <p:cNvPr id="10" name="TextBox 10"/>
          <p:cNvSpPr txBox="1"/>
          <p:nvPr>
            <p:custDataLst>
              <p:tags r:id="rId6"/>
            </p:custDataLst>
          </p:nvPr>
        </p:nvSpPr>
        <p:spPr>
          <a:xfrm>
            <a:off x="837990" y="2813448"/>
            <a:ext cx="5929318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C20">
                    <a:alpha val="85098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调用 dataSource.getConnection() 方法从连接池中取出一个可用连接，若池中无空闲连接则根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C20">
                    <a:alpha val="85098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据配置创建新连接或等待，实现连接的快速复用。</a:t>
            </a:r>
            <a:endParaRPr sz="1100" b="0" i="0" strike="noStrike">
              <a:solidFill>
                <a:srgbClr val="1A1C20">
                  <a:alpha val="85098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11" name="TextBox 11"/>
          <p:cNvSpPr txBox="1"/>
          <p:nvPr>
            <p:custDataLst>
              <p:tags r:id="rId7"/>
            </p:custDataLst>
          </p:nvPr>
        </p:nvSpPr>
        <p:spPr>
          <a:xfrm>
            <a:off x="457086" y="3489723"/>
            <a:ext cx="22854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4A7FD7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03</a:t>
            </a:r>
            <a:endParaRPr lang="en-US" sz="1100"/>
          </a:p>
        </p:txBody>
      </p:sp>
      <p:sp>
        <p:nvSpPr>
          <p:cNvPr id="12" name="TextBox 12"/>
          <p:cNvSpPr txBox="1"/>
          <p:nvPr>
            <p:custDataLst>
              <p:tags r:id="rId8"/>
            </p:custDataLst>
          </p:nvPr>
        </p:nvSpPr>
        <p:spPr>
          <a:xfrm>
            <a:off x="837990" y="3489723"/>
            <a:ext cx="5929318" cy="215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1A1C2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执行 INSERT 语句</a:t>
            </a:r>
            <a:endParaRPr lang="en-US" sz="1100"/>
          </a:p>
        </p:txBody>
      </p:sp>
      <p:sp>
        <p:nvSpPr>
          <p:cNvPr id="13" name="TextBox 13"/>
          <p:cNvSpPr txBox="1"/>
          <p:nvPr>
            <p:custDataLst>
              <p:tags r:id="rId9"/>
            </p:custDataLst>
          </p:nvPr>
        </p:nvSpPr>
        <p:spPr>
          <a:xfrm>
            <a:off x="837990" y="3796308"/>
            <a:ext cx="5929318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C20">
                    <a:alpha val="85098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使用 PreparedStatement 设置 SQL 参数并调用 executeUpdate() 方法执行插入操作，返回受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C20">
                    <a:alpha val="85098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影响的行数，PreparedStatement 还能有效防止 SQL 注入攻击。</a:t>
            </a:r>
            <a:endParaRPr sz="1100" b="0" i="0" strike="noStrike">
              <a:solidFill>
                <a:srgbClr val="1A1C20">
                  <a:alpha val="85098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14" name="TextBox 14"/>
          <p:cNvSpPr txBox="1"/>
          <p:nvPr>
            <p:custDataLst>
              <p:tags r:id="rId10"/>
            </p:custDataLst>
          </p:nvPr>
        </p:nvSpPr>
        <p:spPr>
          <a:xfrm>
            <a:off x="457086" y="4472583"/>
            <a:ext cx="22854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4A7FD7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04</a:t>
            </a:r>
            <a:endParaRPr lang="en-US" sz="1100"/>
          </a:p>
        </p:txBody>
      </p:sp>
      <p:sp>
        <p:nvSpPr>
          <p:cNvPr id="15" name="TextBox 15"/>
          <p:cNvSpPr txBox="1"/>
          <p:nvPr>
            <p:custDataLst>
              <p:tags r:id="rId11"/>
            </p:custDataLst>
          </p:nvPr>
        </p:nvSpPr>
        <p:spPr>
          <a:xfrm>
            <a:off x="837990" y="4472583"/>
            <a:ext cx="5929318" cy="215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1A1C2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归还连接资源</a:t>
            </a:r>
            <a:endParaRPr lang="en-US" sz="1100"/>
          </a:p>
        </p:txBody>
      </p:sp>
      <p:sp>
        <p:nvSpPr>
          <p:cNvPr id="16" name="TextBox 16"/>
          <p:cNvSpPr txBox="1"/>
          <p:nvPr>
            <p:custDataLst>
              <p:tags r:id="rId12"/>
            </p:custDataLst>
          </p:nvPr>
        </p:nvSpPr>
        <p:spPr>
          <a:xfrm>
            <a:off x="837990" y="4779169"/>
            <a:ext cx="5929318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C20">
                    <a:alpha val="85098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在 finally 块中依次关闭 PreparedStatement 和 Connection，注意 Connection.close() 并非物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C20">
                    <a:alpha val="85098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理关闭而是归还到连接池供后续请求复用，避免资源泄漏。</a:t>
            </a:r>
            <a:endParaRPr sz="1100" b="0" i="0" strike="noStrike">
              <a:solidFill>
                <a:srgbClr val="1A1C20">
                  <a:alpha val="85098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57086" y="5512594"/>
            <a:ext cx="6310222" cy="1036141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8" name="AutoShape 18"/>
          <p:cNvSpPr/>
          <p:nvPr/>
        </p:nvSpPr>
        <p:spPr>
          <a:xfrm>
            <a:off x="457086" y="5512594"/>
            <a:ext cx="9522" cy="1036141"/>
          </a:xfrm>
          <a:prstGeom prst="line">
            <a:avLst/>
          </a:prstGeom>
          <a:ln w="28575">
            <a:solidFill>
              <a:srgbClr val="4A7FD7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TextBox 19"/>
          <p:cNvSpPr txBox="1"/>
          <p:nvPr/>
        </p:nvSpPr>
        <p:spPr>
          <a:xfrm>
            <a:off x="714196" y="5703094"/>
            <a:ext cx="6053112" cy="64948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1" strike="noStrike">
                <a:solidFill>
                  <a:srgbClr val="1A1C20">
                    <a:alpha val="90196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"DBCP 插入操作遵循配置数据源、获取连接、执行 INSERT、归还资源的四步标准流</a:t>
            </a:r>
            <a:endParaRPr lang="en-US" sz="1100"/>
          </a:p>
          <a:p>
            <a:pPr algn="l"/>
            <a:r>
              <a:rPr sz="1200" b="0" i="1" strike="noStrike">
                <a:solidFill>
                  <a:srgbClr val="1A1C20">
                    <a:alpha val="90196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程。这一模式的核心价值在于通过连接池复用机制，避免传统 JDBC 每次操作都创建新</a:t>
            </a:r>
            <a:endParaRPr sz="1200" b="0" i="1" strike="noStrike">
              <a:solidFill>
                <a:srgbClr val="1A1C20">
                  <a:alpha val="90196"/>
                </a:srgbClr>
              </a:solidFill>
              <a:latin typeface="Source Han Serif CN" panose="02020400000000000000" charset="-122"/>
              <a:ea typeface="Source Han Serif CN" panose="02020400000000000000" charset="-122"/>
              <a:cs typeface="Source Han Serif CN" panose="02020400000000000000" charset="-122"/>
            </a:endParaRPr>
          </a:p>
          <a:p>
            <a:pPr algn="l"/>
            <a:r>
              <a:rPr sz="1200" b="0" i="1" strike="noStrike">
                <a:solidFill>
                  <a:srgbClr val="1A1C20">
                    <a:alpha val="90196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连接的开销。"</a:t>
            </a:r>
            <a:endParaRPr sz="1200" b="0" i="1" strike="noStrike">
              <a:solidFill>
                <a:srgbClr val="1A1C20">
                  <a:alpha val="90196"/>
                </a:srgbClr>
              </a:solidFill>
              <a:latin typeface="Source Han Serif CN" panose="02020400000000000000" charset="-122"/>
              <a:ea typeface="Source Han Serif CN" panose="02020400000000000000" charset="-122"/>
              <a:cs typeface="Source Han Serif CN" panose="02020400000000000000" charset="-122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3">
            <a:alphaModFix amt="100000"/>
          </a:blip>
          <a:srcRect t="11655" b="11655"/>
          <a:stretch>
            <a:fillRect/>
          </a:stretch>
        </p:blipFill>
        <p:spPr>
          <a:xfrm>
            <a:off x="7224394" y="1504950"/>
            <a:ext cx="4507323" cy="46101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AutoShape 21"/>
          <p:cNvSpPr/>
          <p:nvPr/>
        </p:nvSpPr>
        <p:spPr>
          <a:xfrm>
            <a:off x="10098886" y="6248400"/>
            <a:ext cx="1632831" cy="133350"/>
          </a:xfrm>
          <a:prstGeom prst="rect">
            <a:avLst/>
          </a:prstGeom>
          <a:ln>
            <a:headEnd type="none"/>
            <a:tailEnd type="non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3333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A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>
            <a:off x="450167" y="476250"/>
            <a:ext cx="114271" cy="1143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7640" y="1856"/>
                </a:moveTo>
                <a:lnTo>
                  <a:pt x="9998" y="5000"/>
                </a:lnTo>
                <a:lnTo>
                  <a:pt x="7640" y="8144"/>
                </a:lnTo>
                <a:lnTo>
                  <a:pt x="7049" y="7356"/>
                </a:lnTo>
                <a:lnTo>
                  <a:pt x="8823" y="5000"/>
                </a:lnTo>
                <a:lnTo>
                  <a:pt x="7049" y="2644"/>
                </a:lnTo>
                <a:lnTo>
                  <a:pt x="7640" y="1856"/>
                </a:lnTo>
                <a:moveTo>
                  <a:pt x="2949" y="2644"/>
                </a:moveTo>
                <a:lnTo>
                  <a:pt x="1175" y="5000"/>
                </a:lnTo>
                <a:lnTo>
                  <a:pt x="2949" y="7356"/>
                </a:lnTo>
                <a:lnTo>
                  <a:pt x="2358" y="8144"/>
                </a:lnTo>
                <a:lnTo>
                  <a:pt x="0" y="5000"/>
                </a:lnTo>
                <a:lnTo>
                  <a:pt x="2358" y="1856"/>
                </a:lnTo>
                <a:lnTo>
                  <a:pt x="2949" y="2644"/>
                </a:lnTo>
                <a:moveTo>
                  <a:pt x="6807" y="0"/>
                </a:moveTo>
                <a:lnTo>
                  <a:pt x="4074" y="10000"/>
                </a:lnTo>
                <a:lnTo>
                  <a:pt x="3191" y="10000"/>
                </a:lnTo>
                <a:lnTo>
                  <a:pt x="5924" y="0"/>
                </a:lnTo>
              </a:path>
            </a:pathLst>
          </a:custGeom>
          <a:solidFill>
            <a:srgbClr val="4A7FD7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5" name="TextBox 5"/>
          <p:cNvSpPr txBox="1"/>
          <p:nvPr/>
        </p:nvSpPr>
        <p:spPr>
          <a:xfrm>
            <a:off x="633701" y="466725"/>
            <a:ext cx="11098166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C20">
                    <a:alpha val="6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Implementation Details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457086" y="742950"/>
            <a:ext cx="11274781" cy="431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2700" b="1" i="0" strike="noStrike">
                <a:solidFill>
                  <a:srgbClr val="1A1C2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插入操作代码实现详解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457086" y="1343025"/>
            <a:ext cx="11274781" cy="46910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1A1C20">
                    <a:alpha val="8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DBCP 插入操作围绕 BasicDataSource 配置、连接获取与执行、资源释放三个核心环节展开，代</a:t>
            </a:r>
            <a:endParaRPr lang="en-US" sz="1100"/>
          </a:p>
          <a:p>
            <a:pPr algn="l"/>
            <a:r>
              <a:rPr sz="1300" b="0" i="0" strike="noStrike">
                <a:solidFill>
                  <a:srgbClr val="1A1C20">
                    <a:alpha val="8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码结构清晰但细节决定稳定性。</a:t>
            </a:r>
            <a:endParaRPr sz="1300" b="0" i="0" strike="noStrike">
              <a:solidFill>
                <a:srgbClr val="1A1C20">
                  <a:alpha val="8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57086" y="2166938"/>
            <a:ext cx="3605799" cy="4233862"/>
          </a:xfrm>
          <a:prstGeom prst="roundRect">
            <a:avLst>
              <a:gd name="adj" fmla="val 134"/>
            </a:avLst>
          </a:prstGeom>
          <a:solidFill>
            <a:srgbClr val="FFFFFF">
              <a:alpha val="100000"/>
            </a:srgbClr>
          </a:solidFill>
          <a:ln w="9525">
            <a:solidFill>
              <a:srgbClr val="E5E7E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466608" y="2176462"/>
            <a:ext cx="3586754" cy="4681538"/>
          </a:xfrm>
          <a:prstGeom prst="rect">
            <a:avLst/>
          </a:prstGeom>
          <a:solidFill>
            <a:srgbClr val="F9FAFB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>
            <a:alphaModFix amt="100000"/>
          </a:blip>
          <a:srcRect t="8375" b="8375"/>
          <a:stretch>
            <a:fillRect/>
          </a:stretch>
        </p:blipFill>
        <p:spPr>
          <a:xfrm>
            <a:off x="466608" y="2176462"/>
            <a:ext cx="3586754" cy="4224338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" name="AutoShape 11"/>
          <p:cNvSpPr/>
          <p:nvPr/>
        </p:nvSpPr>
        <p:spPr>
          <a:xfrm>
            <a:off x="580880" y="2290762"/>
            <a:ext cx="866558" cy="228600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2" name="TextBox 12"/>
          <p:cNvSpPr txBox="1"/>
          <p:nvPr/>
        </p:nvSpPr>
        <p:spPr>
          <a:xfrm>
            <a:off x="676106" y="2338388"/>
            <a:ext cx="768356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solidFill>
                  <a:srgbClr val="1A1C20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01. Config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56421" y="5486361"/>
            <a:ext cx="3205850" cy="2413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1A1C2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数据源配置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775572" y="5772785"/>
            <a:ext cx="3025960" cy="4953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C2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实例化 BasicDataSource，设置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C2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driverClassName、url、username、password 完</a:t>
            </a:r>
            <a:endParaRPr sz="1000" b="0" i="0" strike="noStrike">
              <a:solidFill>
                <a:srgbClr val="1A1C20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  <a:p>
            <a:pPr algn="l"/>
            <a:r>
              <a:rPr sz="1000" b="0" i="0" strike="noStrike">
                <a:solidFill>
                  <a:srgbClr val="1A1C2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成初始化。</a:t>
            </a:r>
            <a:endParaRPr sz="1000" b="0" i="0" strike="noStrike">
              <a:solidFill>
                <a:srgbClr val="1A1C20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291428" y="2166938"/>
            <a:ext cx="3605948" cy="4233862"/>
          </a:xfrm>
          <a:prstGeom prst="roundRect">
            <a:avLst>
              <a:gd name="adj" fmla="val 134"/>
            </a:avLst>
          </a:prstGeom>
          <a:solidFill>
            <a:srgbClr val="FFFFFF">
              <a:alpha val="100000"/>
            </a:srgbClr>
          </a:solidFill>
          <a:ln w="9525">
            <a:solidFill>
              <a:srgbClr val="E5E7E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AutoShape 16"/>
          <p:cNvSpPr/>
          <p:nvPr/>
        </p:nvSpPr>
        <p:spPr>
          <a:xfrm>
            <a:off x="4300950" y="2176462"/>
            <a:ext cx="3586903" cy="2018110"/>
          </a:xfrm>
          <a:prstGeom prst="rect">
            <a:avLst/>
          </a:prstGeom>
          <a:solidFill>
            <a:srgbClr val="F9FAFB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>
            <a:alphaModFix amt="100000"/>
          </a:blip>
          <a:srcRect l="260" r="260"/>
          <a:stretch>
            <a:fillRect/>
          </a:stretch>
        </p:blipFill>
        <p:spPr>
          <a:xfrm>
            <a:off x="4300950" y="2176462"/>
            <a:ext cx="3586903" cy="201811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8" name="AutoShape 18"/>
          <p:cNvSpPr/>
          <p:nvPr/>
        </p:nvSpPr>
        <p:spPr>
          <a:xfrm>
            <a:off x="4415222" y="2290762"/>
            <a:ext cx="961785" cy="228600"/>
          </a:xfrm>
          <a:prstGeom prst="rect">
            <a:avLst/>
          </a:prstGeom>
          <a:blipFill rotWithShape="1">
            <a:blip r:embed="rId4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9" name="TextBox 19"/>
          <p:cNvSpPr txBox="1"/>
          <p:nvPr/>
        </p:nvSpPr>
        <p:spPr>
          <a:xfrm>
            <a:off x="4510448" y="2338388"/>
            <a:ext cx="869385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solidFill>
                  <a:srgbClr val="1A1C20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02. Execute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4491403" y="4602361"/>
            <a:ext cx="3205998" cy="2413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1A1C2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获取连接与执行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476598" y="5091708"/>
            <a:ext cx="133317" cy="1333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000" y="5000"/>
                </a:moveTo>
                <a:cubicBezTo>
                  <a:pt x="1000" y="4273"/>
                  <a:pt x="1183" y="3600"/>
                  <a:pt x="1550" y="2980"/>
                </a:cubicBezTo>
                <a:cubicBezTo>
                  <a:pt x="1903" y="2380"/>
                  <a:pt x="2379" y="1903"/>
                  <a:pt x="2979" y="1550"/>
                </a:cubicBezTo>
                <a:cubicBezTo>
                  <a:pt x="3599" y="1183"/>
                  <a:pt x="4272" y="1000"/>
                  <a:pt x="4999" y="1000"/>
                </a:cubicBezTo>
                <a:cubicBezTo>
                  <a:pt x="5725" y="1000"/>
                  <a:pt x="6399" y="1183"/>
                  <a:pt x="7019" y="1550"/>
                </a:cubicBezTo>
                <a:cubicBezTo>
                  <a:pt x="7618" y="1903"/>
                  <a:pt x="8094" y="2380"/>
                  <a:pt x="8448" y="2980"/>
                </a:cubicBezTo>
                <a:cubicBezTo>
                  <a:pt x="8814" y="3600"/>
                  <a:pt x="8998" y="4273"/>
                  <a:pt x="8998" y="5000"/>
                </a:cubicBezTo>
                <a:cubicBezTo>
                  <a:pt x="8998" y="5726"/>
                  <a:pt x="8814" y="6400"/>
                  <a:pt x="8448" y="7020"/>
                </a:cubicBezTo>
                <a:cubicBezTo>
                  <a:pt x="8094" y="7620"/>
                  <a:pt x="7618" y="8096"/>
                  <a:pt x="7019" y="8450"/>
                </a:cubicBezTo>
                <a:cubicBezTo>
                  <a:pt x="6399" y="8816"/>
                  <a:pt x="5725" y="9000"/>
                  <a:pt x="4999" y="9000"/>
                </a:cubicBezTo>
                <a:cubicBezTo>
                  <a:pt x="4272" y="9000"/>
                  <a:pt x="3599" y="8816"/>
                  <a:pt x="2979" y="8450"/>
                </a:cubicBezTo>
                <a:cubicBezTo>
                  <a:pt x="2379" y="8096"/>
                  <a:pt x="1903" y="7620"/>
                  <a:pt x="1550" y="7020"/>
                </a:cubicBezTo>
                <a:cubicBezTo>
                  <a:pt x="1183" y="6400"/>
                  <a:pt x="1000" y="5726"/>
                  <a:pt x="1000" y="5000"/>
                </a:cubicBezTo>
                <a:moveTo>
                  <a:pt x="4999" y="0"/>
                </a:moveTo>
                <a:cubicBezTo>
                  <a:pt x="4319" y="0"/>
                  <a:pt x="3669" y="130"/>
                  <a:pt x="3049" y="390"/>
                </a:cubicBezTo>
                <a:cubicBezTo>
                  <a:pt x="2456" y="643"/>
                  <a:pt x="1928" y="1001"/>
                  <a:pt x="1465" y="1465"/>
                </a:cubicBezTo>
                <a:cubicBezTo>
                  <a:pt x="1001" y="1928"/>
                  <a:pt x="643" y="2456"/>
                  <a:pt x="390" y="3050"/>
                </a:cubicBezTo>
                <a:cubicBezTo>
                  <a:pt x="130" y="3670"/>
                  <a:pt x="0" y="4320"/>
                  <a:pt x="0" y="5000"/>
                </a:cubicBezTo>
                <a:cubicBezTo>
                  <a:pt x="0" y="5680"/>
                  <a:pt x="130" y="6330"/>
                  <a:pt x="390" y="6950"/>
                </a:cubicBezTo>
                <a:cubicBezTo>
                  <a:pt x="643" y="7543"/>
                  <a:pt x="1001" y="8071"/>
                  <a:pt x="1465" y="8535"/>
                </a:cubicBezTo>
                <a:cubicBezTo>
                  <a:pt x="1928" y="8998"/>
                  <a:pt x="2456" y="9356"/>
                  <a:pt x="3049" y="9610"/>
                </a:cubicBezTo>
                <a:cubicBezTo>
                  <a:pt x="3669" y="9870"/>
                  <a:pt x="4319" y="10000"/>
                  <a:pt x="4999" y="10000"/>
                </a:cubicBezTo>
                <a:cubicBezTo>
                  <a:pt x="5679" y="10000"/>
                  <a:pt x="6329" y="9870"/>
                  <a:pt x="6949" y="9610"/>
                </a:cubicBezTo>
                <a:cubicBezTo>
                  <a:pt x="7541" y="9356"/>
                  <a:pt x="8069" y="8998"/>
                  <a:pt x="8533" y="8535"/>
                </a:cubicBezTo>
                <a:cubicBezTo>
                  <a:pt x="8996" y="8071"/>
                  <a:pt x="9354" y="7543"/>
                  <a:pt x="9608" y="6950"/>
                </a:cubicBezTo>
                <a:cubicBezTo>
                  <a:pt x="9868" y="6330"/>
                  <a:pt x="9998" y="5680"/>
                  <a:pt x="9998" y="5000"/>
                </a:cubicBezTo>
                <a:cubicBezTo>
                  <a:pt x="9998" y="4320"/>
                  <a:pt x="9868" y="3670"/>
                  <a:pt x="9608" y="3050"/>
                </a:cubicBezTo>
                <a:cubicBezTo>
                  <a:pt x="9354" y="2456"/>
                  <a:pt x="8996" y="1928"/>
                  <a:pt x="8533" y="1465"/>
                </a:cubicBezTo>
                <a:cubicBezTo>
                  <a:pt x="8069" y="1001"/>
                  <a:pt x="7541" y="643"/>
                  <a:pt x="6949" y="390"/>
                </a:cubicBezTo>
                <a:cubicBezTo>
                  <a:pt x="6329" y="130"/>
                  <a:pt x="5679" y="0"/>
                  <a:pt x="4999" y="0"/>
                </a:cubicBezTo>
                <a:moveTo>
                  <a:pt x="4499" y="6960"/>
                </a:moveTo>
                <a:lnTo>
                  <a:pt x="7728" y="3730"/>
                </a:lnTo>
                <a:lnTo>
                  <a:pt x="7019" y="3020"/>
                </a:lnTo>
                <a:lnTo>
                  <a:pt x="4499" y="5540"/>
                </a:lnTo>
                <a:lnTo>
                  <a:pt x="3099" y="4150"/>
                </a:lnTo>
                <a:lnTo>
                  <a:pt x="2400" y="4850"/>
                </a:lnTo>
              </a:path>
            </a:pathLst>
          </a:custGeom>
          <a:solidFill>
            <a:srgbClr val="4A7FD7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2" name="TextBox 22"/>
          <p:cNvSpPr txBox="1"/>
          <p:nvPr/>
        </p:nvSpPr>
        <p:spPr>
          <a:xfrm>
            <a:off x="4671291" y="5059561"/>
            <a:ext cx="3026110" cy="369094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C2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调用 getConnection() 获取连接，若无空闲则根据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C2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maxWaitMillis 等待或新建。</a:t>
            </a:r>
            <a:endParaRPr sz="1000" b="0" i="0" strike="noStrike">
              <a:solidFill>
                <a:srgbClr val="1A1C20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4476598" y="5639396"/>
            <a:ext cx="133317" cy="1333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000" y="5000"/>
                </a:moveTo>
                <a:cubicBezTo>
                  <a:pt x="1000" y="4273"/>
                  <a:pt x="1183" y="3600"/>
                  <a:pt x="1550" y="2980"/>
                </a:cubicBezTo>
                <a:cubicBezTo>
                  <a:pt x="1903" y="2380"/>
                  <a:pt x="2379" y="1903"/>
                  <a:pt x="2979" y="1550"/>
                </a:cubicBezTo>
                <a:cubicBezTo>
                  <a:pt x="3599" y="1183"/>
                  <a:pt x="4272" y="1000"/>
                  <a:pt x="4999" y="1000"/>
                </a:cubicBezTo>
                <a:cubicBezTo>
                  <a:pt x="5725" y="1000"/>
                  <a:pt x="6399" y="1183"/>
                  <a:pt x="7019" y="1550"/>
                </a:cubicBezTo>
                <a:cubicBezTo>
                  <a:pt x="7618" y="1903"/>
                  <a:pt x="8094" y="2380"/>
                  <a:pt x="8448" y="2980"/>
                </a:cubicBezTo>
                <a:cubicBezTo>
                  <a:pt x="8814" y="3600"/>
                  <a:pt x="8998" y="4273"/>
                  <a:pt x="8998" y="5000"/>
                </a:cubicBezTo>
                <a:cubicBezTo>
                  <a:pt x="8998" y="5726"/>
                  <a:pt x="8814" y="6400"/>
                  <a:pt x="8448" y="7020"/>
                </a:cubicBezTo>
                <a:cubicBezTo>
                  <a:pt x="8094" y="7620"/>
                  <a:pt x="7618" y="8096"/>
                  <a:pt x="7019" y="8450"/>
                </a:cubicBezTo>
                <a:cubicBezTo>
                  <a:pt x="6399" y="8816"/>
                  <a:pt x="5725" y="9000"/>
                  <a:pt x="4999" y="9000"/>
                </a:cubicBezTo>
                <a:cubicBezTo>
                  <a:pt x="4272" y="9000"/>
                  <a:pt x="3599" y="8816"/>
                  <a:pt x="2979" y="8450"/>
                </a:cubicBezTo>
                <a:cubicBezTo>
                  <a:pt x="2379" y="8096"/>
                  <a:pt x="1903" y="7620"/>
                  <a:pt x="1550" y="7020"/>
                </a:cubicBezTo>
                <a:cubicBezTo>
                  <a:pt x="1183" y="6400"/>
                  <a:pt x="1000" y="5726"/>
                  <a:pt x="1000" y="5000"/>
                </a:cubicBezTo>
                <a:moveTo>
                  <a:pt x="4999" y="0"/>
                </a:moveTo>
                <a:cubicBezTo>
                  <a:pt x="4319" y="0"/>
                  <a:pt x="3669" y="130"/>
                  <a:pt x="3049" y="390"/>
                </a:cubicBezTo>
                <a:cubicBezTo>
                  <a:pt x="2456" y="643"/>
                  <a:pt x="1928" y="1001"/>
                  <a:pt x="1465" y="1465"/>
                </a:cubicBezTo>
                <a:cubicBezTo>
                  <a:pt x="1001" y="1928"/>
                  <a:pt x="643" y="2456"/>
                  <a:pt x="390" y="3050"/>
                </a:cubicBezTo>
                <a:cubicBezTo>
                  <a:pt x="130" y="3670"/>
                  <a:pt x="0" y="4320"/>
                  <a:pt x="0" y="5000"/>
                </a:cubicBezTo>
                <a:cubicBezTo>
                  <a:pt x="0" y="5680"/>
                  <a:pt x="130" y="6330"/>
                  <a:pt x="390" y="6950"/>
                </a:cubicBezTo>
                <a:cubicBezTo>
                  <a:pt x="643" y="7543"/>
                  <a:pt x="1001" y="8071"/>
                  <a:pt x="1465" y="8535"/>
                </a:cubicBezTo>
                <a:cubicBezTo>
                  <a:pt x="1928" y="8998"/>
                  <a:pt x="2456" y="9356"/>
                  <a:pt x="3049" y="9610"/>
                </a:cubicBezTo>
                <a:cubicBezTo>
                  <a:pt x="3669" y="9870"/>
                  <a:pt x="4319" y="10000"/>
                  <a:pt x="4999" y="10000"/>
                </a:cubicBezTo>
                <a:cubicBezTo>
                  <a:pt x="5679" y="10000"/>
                  <a:pt x="6329" y="9870"/>
                  <a:pt x="6949" y="9610"/>
                </a:cubicBezTo>
                <a:cubicBezTo>
                  <a:pt x="7541" y="9356"/>
                  <a:pt x="8069" y="8998"/>
                  <a:pt x="8533" y="8535"/>
                </a:cubicBezTo>
                <a:cubicBezTo>
                  <a:pt x="8996" y="8071"/>
                  <a:pt x="9354" y="7543"/>
                  <a:pt x="9608" y="6950"/>
                </a:cubicBezTo>
                <a:cubicBezTo>
                  <a:pt x="9868" y="6330"/>
                  <a:pt x="9998" y="5680"/>
                  <a:pt x="9998" y="5000"/>
                </a:cubicBezTo>
                <a:cubicBezTo>
                  <a:pt x="9998" y="4320"/>
                  <a:pt x="9868" y="3670"/>
                  <a:pt x="9608" y="3050"/>
                </a:cubicBezTo>
                <a:cubicBezTo>
                  <a:pt x="9354" y="2456"/>
                  <a:pt x="8996" y="1928"/>
                  <a:pt x="8533" y="1465"/>
                </a:cubicBezTo>
                <a:cubicBezTo>
                  <a:pt x="8069" y="1001"/>
                  <a:pt x="7541" y="643"/>
                  <a:pt x="6949" y="390"/>
                </a:cubicBezTo>
                <a:cubicBezTo>
                  <a:pt x="6329" y="130"/>
                  <a:pt x="5679" y="0"/>
                  <a:pt x="4999" y="0"/>
                </a:cubicBezTo>
                <a:moveTo>
                  <a:pt x="4499" y="6960"/>
                </a:moveTo>
                <a:lnTo>
                  <a:pt x="7728" y="3730"/>
                </a:lnTo>
                <a:lnTo>
                  <a:pt x="7019" y="3020"/>
                </a:lnTo>
                <a:lnTo>
                  <a:pt x="4499" y="5540"/>
                </a:lnTo>
                <a:lnTo>
                  <a:pt x="3099" y="4150"/>
                </a:lnTo>
                <a:lnTo>
                  <a:pt x="2400" y="4850"/>
                </a:lnTo>
              </a:path>
            </a:pathLst>
          </a:custGeom>
          <a:solidFill>
            <a:srgbClr val="4A7FD7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4" name="TextBox 24"/>
          <p:cNvSpPr txBox="1"/>
          <p:nvPr/>
        </p:nvSpPr>
        <p:spPr>
          <a:xfrm>
            <a:off x="4671291" y="5607248"/>
            <a:ext cx="3026110" cy="369094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C2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使用 PreparedStatement 设置参数并执行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C2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executeUpdate()，返回受影响行数。</a:t>
            </a:r>
            <a:endParaRPr sz="1000" b="0" i="0" strike="noStrike">
              <a:solidFill>
                <a:srgbClr val="1A1C20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8125918" y="2166938"/>
            <a:ext cx="3605799" cy="4233862"/>
          </a:xfrm>
          <a:prstGeom prst="roundRect">
            <a:avLst>
              <a:gd name="adj" fmla="val 134"/>
            </a:avLst>
          </a:prstGeom>
          <a:solidFill>
            <a:srgbClr val="FFFFFF">
              <a:alpha val="100000"/>
            </a:srgbClr>
          </a:solidFill>
          <a:ln w="9525">
            <a:solidFill>
              <a:srgbClr val="E5E7E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AutoShape 26"/>
          <p:cNvSpPr/>
          <p:nvPr/>
        </p:nvSpPr>
        <p:spPr>
          <a:xfrm>
            <a:off x="8135441" y="2176462"/>
            <a:ext cx="3586754" cy="2017960"/>
          </a:xfrm>
          <a:prstGeom prst="rect">
            <a:avLst/>
          </a:prstGeom>
          <a:solidFill>
            <a:srgbClr val="F9FAFB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5">
            <a:alphaModFix amt="100000"/>
          </a:blip>
          <a:srcRect l="19790" r="19790"/>
          <a:stretch>
            <a:fillRect/>
          </a:stretch>
        </p:blipFill>
        <p:spPr>
          <a:xfrm>
            <a:off x="8135441" y="2176462"/>
            <a:ext cx="3586754" cy="201796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8" name="AutoShape 28"/>
          <p:cNvSpPr/>
          <p:nvPr/>
        </p:nvSpPr>
        <p:spPr>
          <a:xfrm>
            <a:off x="8249713" y="2290762"/>
            <a:ext cx="961785" cy="228600"/>
          </a:xfrm>
          <a:prstGeom prst="rect">
            <a:avLst/>
          </a:prstGeom>
          <a:blipFill rotWithShape="1">
            <a:blip r:embed="rId4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9" name="TextBox 29"/>
          <p:cNvSpPr txBox="1"/>
          <p:nvPr/>
        </p:nvSpPr>
        <p:spPr>
          <a:xfrm>
            <a:off x="8344939" y="2338388"/>
            <a:ext cx="869385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solidFill>
                  <a:srgbClr val="1A1C20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03. Release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8325894" y="4602212"/>
            <a:ext cx="3205850" cy="2413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1A1C2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资源释放与异常处理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311088" y="5091560"/>
            <a:ext cx="133317" cy="1333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000" y="5000"/>
                </a:moveTo>
                <a:cubicBezTo>
                  <a:pt x="1000" y="4273"/>
                  <a:pt x="1183" y="3600"/>
                  <a:pt x="1550" y="2980"/>
                </a:cubicBezTo>
                <a:cubicBezTo>
                  <a:pt x="1903" y="2380"/>
                  <a:pt x="2379" y="1903"/>
                  <a:pt x="2979" y="1550"/>
                </a:cubicBezTo>
                <a:cubicBezTo>
                  <a:pt x="3599" y="1183"/>
                  <a:pt x="4272" y="1000"/>
                  <a:pt x="4999" y="1000"/>
                </a:cubicBezTo>
                <a:cubicBezTo>
                  <a:pt x="5725" y="1000"/>
                  <a:pt x="6399" y="1183"/>
                  <a:pt x="7019" y="1550"/>
                </a:cubicBezTo>
                <a:cubicBezTo>
                  <a:pt x="7618" y="1903"/>
                  <a:pt x="8094" y="2380"/>
                  <a:pt x="8448" y="2980"/>
                </a:cubicBezTo>
                <a:cubicBezTo>
                  <a:pt x="8814" y="3600"/>
                  <a:pt x="8998" y="4273"/>
                  <a:pt x="8998" y="5000"/>
                </a:cubicBezTo>
                <a:cubicBezTo>
                  <a:pt x="8998" y="5726"/>
                  <a:pt x="8814" y="6400"/>
                  <a:pt x="8448" y="7020"/>
                </a:cubicBezTo>
                <a:cubicBezTo>
                  <a:pt x="8094" y="7620"/>
                  <a:pt x="7618" y="8096"/>
                  <a:pt x="7019" y="8450"/>
                </a:cubicBezTo>
                <a:cubicBezTo>
                  <a:pt x="6399" y="8816"/>
                  <a:pt x="5725" y="9000"/>
                  <a:pt x="4999" y="9000"/>
                </a:cubicBezTo>
                <a:cubicBezTo>
                  <a:pt x="4272" y="9000"/>
                  <a:pt x="3599" y="8816"/>
                  <a:pt x="2979" y="8450"/>
                </a:cubicBezTo>
                <a:cubicBezTo>
                  <a:pt x="2379" y="8096"/>
                  <a:pt x="1903" y="7620"/>
                  <a:pt x="1550" y="7020"/>
                </a:cubicBezTo>
                <a:cubicBezTo>
                  <a:pt x="1183" y="6400"/>
                  <a:pt x="1000" y="5726"/>
                  <a:pt x="1000" y="5000"/>
                </a:cubicBezTo>
                <a:moveTo>
                  <a:pt x="4999" y="0"/>
                </a:moveTo>
                <a:cubicBezTo>
                  <a:pt x="4319" y="0"/>
                  <a:pt x="3669" y="130"/>
                  <a:pt x="3049" y="390"/>
                </a:cubicBezTo>
                <a:cubicBezTo>
                  <a:pt x="2456" y="643"/>
                  <a:pt x="1928" y="1001"/>
                  <a:pt x="1465" y="1465"/>
                </a:cubicBezTo>
                <a:cubicBezTo>
                  <a:pt x="1001" y="1928"/>
                  <a:pt x="643" y="2456"/>
                  <a:pt x="390" y="3050"/>
                </a:cubicBezTo>
                <a:cubicBezTo>
                  <a:pt x="130" y="3670"/>
                  <a:pt x="0" y="4320"/>
                  <a:pt x="0" y="5000"/>
                </a:cubicBezTo>
                <a:cubicBezTo>
                  <a:pt x="0" y="5680"/>
                  <a:pt x="130" y="6330"/>
                  <a:pt x="390" y="6950"/>
                </a:cubicBezTo>
                <a:cubicBezTo>
                  <a:pt x="643" y="7543"/>
                  <a:pt x="1001" y="8071"/>
                  <a:pt x="1465" y="8535"/>
                </a:cubicBezTo>
                <a:cubicBezTo>
                  <a:pt x="1928" y="8998"/>
                  <a:pt x="2456" y="9356"/>
                  <a:pt x="3049" y="9610"/>
                </a:cubicBezTo>
                <a:cubicBezTo>
                  <a:pt x="3669" y="9870"/>
                  <a:pt x="4319" y="10000"/>
                  <a:pt x="4999" y="10000"/>
                </a:cubicBezTo>
                <a:cubicBezTo>
                  <a:pt x="5679" y="10000"/>
                  <a:pt x="6329" y="9870"/>
                  <a:pt x="6949" y="9610"/>
                </a:cubicBezTo>
                <a:cubicBezTo>
                  <a:pt x="7541" y="9356"/>
                  <a:pt x="8069" y="8998"/>
                  <a:pt x="8533" y="8535"/>
                </a:cubicBezTo>
                <a:cubicBezTo>
                  <a:pt x="8996" y="8071"/>
                  <a:pt x="9354" y="7543"/>
                  <a:pt x="9608" y="6950"/>
                </a:cubicBezTo>
                <a:cubicBezTo>
                  <a:pt x="9868" y="6330"/>
                  <a:pt x="9998" y="5680"/>
                  <a:pt x="9998" y="5000"/>
                </a:cubicBezTo>
                <a:cubicBezTo>
                  <a:pt x="9998" y="4320"/>
                  <a:pt x="9868" y="3670"/>
                  <a:pt x="9608" y="3050"/>
                </a:cubicBezTo>
                <a:cubicBezTo>
                  <a:pt x="9354" y="2456"/>
                  <a:pt x="8996" y="1928"/>
                  <a:pt x="8533" y="1465"/>
                </a:cubicBezTo>
                <a:cubicBezTo>
                  <a:pt x="8069" y="1001"/>
                  <a:pt x="7541" y="643"/>
                  <a:pt x="6949" y="390"/>
                </a:cubicBezTo>
                <a:cubicBezTo>
                  <a:pt x="6329" y="130"/>
                  <a:pt x="5679" y="0"/>
                  <a:pt x="4999" y="0"/>
                </a:cubicBezTo>
                <a:moveTo>
                  <a:pt x="4499" y="6960"/>
                </a:moveTo>
                <a:lnTo>
                  <a:pt x="7728" y="3730"/>
                </a:lnTo>
                <a:lnTo>
                  <a:pt x="7019" y="3020"/>
                </a:lnTo>
                <a:lnTo>
                  <a:pt x="4499" y="5540"/>
                </a:lnTo>
                <a:lnTo>
                  <a:pt x="3099" y="4150"/>
                </a:lnTo>
                <a:lnTo>
                  <a:pt x="2400" y="4850"/>
                </a:lnTo>
              </a:path>
            </a:pathLst>
          </a:custGeom>
          <a:solidFill>
            <a:srgbClr val="4A7FD7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2" name="TextBox 32"/>
          <p:cNvSpPr txBox="1"/>
          <p:nvPr/>
        </p:nvSpPr>
        <p:spPr>
          <a:xfrm>
            <a:off x="8505782" y="5059412"/>
            <a:ext cx="3025960" cy="369094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C2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在 finally 块中依次关闭 PreparedStatement 和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C2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Connection，确保资源归还。</a:t>
            </a:r>
            <a:endParaRPr sz="1000" b="0" i="0" strike="noStrike">
              <a:solidFill>
                <a:srgbClr val="1A1C20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8311088" y="5639247"/>
            <a:ext cx="133317" cy="1333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000" y="5000"/>
                </a:moveTo>
                <a:cubicBezTo>
                  <a:pt x="1000" y="4273"/>
                  <a:pt x="1183" y="3600"/>
                  <a:pt x="1550" y="2980"/>
                </a:cubicBezTo>
                <a:cubicBezTo>
                  <a:pt x="1903" y="2380"/>
                  <a:pt x="2379" y="1903"/>
                  <a:pt x="2979" y="1550"/>
                </a:cubicBezTo>
                <a:cubicBezTo>
                  <a:pt x="3599" y="1183"/>
                  <a:pt x="4272" y="1000"/>
                  <a:pt x="4999" y="1000"/>
                </a:cubicBezTo>
                <a:cubicBezTo>
                  <a:pt x="5725" y="1000"/>
                  <a:pt x="6399" y="1183"/>
                  <a:pt x="7019" y="1550"/>
                </a:cubicBezTo>
                <a:cubicBezTo>
                  <a:pt x="7618" y="1903"/>
                  <a:pt x="8094" y="2380"/>
                  <a:pt x="8448" y="2980"/>
                </a:cubicBezTo>
                <a:cubicBezTo>
                  <a:pt x="8814" y="3600"/>
                  <a:pt x="8998" y="4273"/>
                  <a:pt x="8998" y="5000"/>
                </a:cubicBezTo>
                <a:cubicBezTo>
                  <a:pt x="8998" y="5726"/>
                  <a:pt x="8814" y="6400"/>
                  <a:pt x="8448" y="7020"/>
                </a:cubicBezTo>
                <a:cubicBezTo>
                  <a:pt x="8094" y="7620"/>
                  <a:pt x="7618" y="8096"/>
                  <a:pt x="7019" y="8450"/>
                </a:cubicBezTo>
                <a:cubicBezTo>
                  <a:pt x="6399" y="8816"/>
                  <a:pt x="5725" y="9000"/>
                  <a:pt x="4999" y="9000"/>
                </a:cubicBezTo>
                <a:cubicBezTo>
                  <a:pt x="4272" y="9000"/>
                  <a:pt x="3599" y="8816"/>
                  <a:pt x="2979" y="8450"/>
                </a:cubicBezTo>
                <a:cubicBezTo>
                  <a:pt x="2379" y="8096"/>
                  <a:pt x="1903" y="7620"/>
                  <a:pt x="1550" y="7020"/>
                </a:cubicBezTo>
                <a:cubicBezTo>
                  <a:pt x="1183" y="6400"/>
                  <a:pt x="1000" y="5726"/>
                  <a:pt x="1000" y="5000"/>
                </a:cubicBezTo>
                <a:moveTo>
                  <a:pt x="4999" y="0"/>
                </a:moveTo>
                <a:cubicBezTo>
                  <a:pt x="4319" y="0"/>
                  <a:pt x="3669" y="130"/>
                  <a:pt x="3049" y="390"/>
                </a:cubicBezTo>
                <a:cubicBezTo>
                  <a:pt x="2456" y="643"/>
                  <a:pt x="1928" y="1001"/>
                  <a:pt x="1465" y="1465"/>
                </a:cubicBezTo>
                <a:cubicBezTo>
                  <a:pt x="1001" y="1928"/>
                  <a:pt x="643" y="2456"/>
                  <a:pt x="390" y="3050"/>
                </a:cubicBezTo>
                <a:cubicBezTo>
                  <a:pt x="130" y="3670"/>
                  <a:pt x="0" y="4320"/>
                  <a:pt x="0" y="5000"/>
                </a:cubicBezTo>
                <a:cubicBezTo>
                  <a:pt x="0" y="5680"/>
                  <a:pt x="130" y="6330"/>
                  <a:pt x="390" y="6950"/>
                </a:cubicBezTo>
                <a:cubicBezTo>
                  <a:pt x="643" y="7543"/>
                  <a:pt x="1001" y="8071"/>
                  <a:pt x="1465" y="8535"/>
                </a:cubicBezTo>
                <a:cubicBezTo>
                  <a:pt x="1928" y="8998"/>
                  <a:pt x="2456" y="9356"/>
                  <a:pt x="3049" y="9610"/>
                </a:cubicBezTo>
                <a:cubicBezTo>
                  <a:pt x="3669" y="9870"/>
                  <a:pt x="4319" y="10000"/>
                  <a:pt x="4999" y="10000"/>
                </a:cubicBezTo>
                <a:cubicBezTo>
                  <a:pt x="5679" y="10000"/>
                  <a:pt x="6329" y="9870"/>
                  <a:pt x="6949" y="9610"/>
                </a:cubicBezTo>
                <a:cubicBezTo>
                  <a:pt x="7541" y="9356"/>
                  <a:pt x="8069" y="8998"/>
                  <a:pt x="8533" y="8535"/>
                </a:cubicBezTo>
                <a:cubicBezTo>
                  <a:pt x="8996" y="8071"/>
                  <a:pt x="9354" y="7543"/>
                  <a:pt x="9608" y="6950"/>
                </a:cubicBezTo>
                <a:cubicBezTo>
                  <a:pt x="9868" y="6330"/>
                  <a:pt x="9998" y="5680"/>
                  <a:pt x="9998" y="5000"/>
                </a:cubicBezTo>
                <a:cubicBezTo>
                  <a:pt x="9998" y="4320"/>
                  <a:pt x="9868" y="3670"/>
                  <a:pt x="9608" y="3050"/>
                </a:cubicBezTo>
                <a:cubicBezTo>
                  <a:pt x="9354" y="2456"/>
                  <a:pt x="8996" y="1928"/>
                  <a:pt x="8533" y="1465"/>
                </a:cubicBezTo>
                <a:cubicBezTo>
                  <a:pt x="8069" y="1001"/>
                  <a:pt x="7541" y="643"/>
                  <a:pt x="6949" y="390"/>
                </a:cubicBezTo>
                <a:cubicBezTo>
                  <a:pt x="6329" y="130"/>
                  <a:pt x="5679" y="0"/>
                  <a:pt x="4999" y="0"/>
                </a:cubicBezTo>
                <a:moveTo>
                  <a:pt x="4499" y="6960"/>
                </a:moveTo>
                <a:lnTo>
                  <a:pt x="7728" y="3730"/>
                </a:lnTo>
                <a:lnTo>
                  <a:pt x="7019" y="3020"/>
                </a:lnTo>
                <a:lnTo>
                  <a:pt x="4499" y="5540"/>
                </a:lnTo>
                <a:lnTo>
                  <a:pt x="3099" y="4150"/>
                </a:lnTo>
                <a:lnTo>
                  <a:pt x="2400" y="4850"/>
                </a:lnTo>
              </a:path>
            </a:pathLst>
          </a:custGeom>
          <a:solidFill>
            <a:srgbClr val="4A7FD7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4" name="TextBox 34"/>
          <p:cNvSpPr txBox="1"/>
          <p:nvPr/>
        </p:nvSpPr>
        <p:spPr>
          <a:xfrm>
            <a:off x="8505782" y="5607100"/>
            <a:ext cx="3053189" cy="369094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C2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Connection.close() 实为归还连接池而非物理关闭，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C2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这是复用机制的关键。</a:t>
            </a:r>
            <a:endParaRPr sz="1000" b="0" i="0" strike="noStrike">
              <a:solidFill>
                <a:srgbClr val="1A1C20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3333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A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>
            <a:off x="448977" y="485775"/>
            <a:ext cx="114271" cy="1143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111" y="3853"/>
                </a:moveTo>
                <a:lnTo>
                  <a:pt x="1111" y="5000"/>
                </a:lnTo>
                <a:cubicBezTo>
                  <a:pt x="1111" y="5091"/>
                  <a:pt x="1177" y="5200"/>
                  <a:pt x="1311" y="5326"/>
                </a:cubicBezTo>
                <a:cubicBezTo>
                  <a:pt x="1466" y="5466"/>
                  <a:pt x="1684" y="5603"/>
                  <a:pt x="1966" y="5737"/>
                </a:cubicBezTo>
                <a:cubicBezTo>
                  <a:pt x="2351" y="5919"/>
                  <a:pt x="2807" y="6061"/>
                  <a:pt x="3333" y="6163"/>
                </a:cubicBezTo>
                <a:cubicBezTo>
                  <a:pt x="3858" y="6265"/>
                  <a:pt x="4413" y="6316"/>
                  <a:pt x="4999" y="6316"/>
                </a:cubicBezTo>
                <a:cubicBezTo>
                  <a:pt x="5584" y="6316"/>
                  <a:pt x="6139" y="6265"/>
                  <a:pt x="6665" y="6163"/>
                </a:cubicBezTo>
                <a:cubicBezTo>
                  <a:pt x="7191" y="6061"/>
                  <a:pt x="7646" y="5919"/>
                  <a:pt x="8032" y="5737"/>
                </a:cubicBezTo>
                <a:cubicBezTo>
                  <a:pt x="8313" y="5603"/>
                  <a:pt x="8531" y="5466"/>
                  <a:pt x="8687" y="5326"/>
                </a:cubicBezTo>
                <a:cubicBezTo>
                  <a:pt x="8820" y="5200"/>
                  <a:pt x="8887" y="5091"/>
                  <a:pt x="8887" y="5000"/>
                </a:cubicBezTo>
                <a:lnTo>
                  <a:pt x="8887" y="3853"/>
                </a:lnTo>
                <a:cubicBezTo>
                  <a:pt x="8420" y="4126"/>
                  <a:pt x="7853" y="4340"/>
                  <a:pt x="7187" y="4495"/>
                </a:cubicBezTo>
                <a:cubicBezTo>
                  <a:pt x="6498" y="4656"/>
                  <a:pt x="5769" y="4737"/>
                  <a:pt x="4999" y="4737"/>
                </a:cubicBezTo>
                <a:cubicBezTo>
                  <a:pt x="4229" y="4737"/>
                  <a:pt x="3499" y="4656"/>
                  <a:pt x="2811" y="4495"/>
                </a:cubicBezTo>
                <a:cubicBezTo>
                  <a:pt x="2144" y="4340"/>
                  <a:pt x="1577" y="4126"/>
                  <a:pt x="1111" y="3853"/>
                </a:cubicBezTo>
                <a:moveTo>
                  <a:pt x="8887" y="7632"/>
                </a:moveTo>
                <a:lnTo>
                  <a:pt x="8887" y="6484"/>
                </a:lnTo>
                <a:cubicBezTo>
                  <a:pt x="8420" y="6758"/>
                  <a:pt x="7853" y="6972"/>
                  <a:pt x="7187" y="7126"/>
                </a:cubicBezTo>
                <a:cubicBezTo>
                  <a:pt x="6498" y="7287"/>
                  <a:pt x="5769" y="7368"/>
                  <a:pt x="4999" y="7368"/>
                </a:cubicBezTo>
                <a:cubicBezTo>
                  <a:pt x="4229" y="7368"/>
                  <a:pt x="3499" y="7287"/>
                  <a:pt x="2811" y="7126"/>
                </a:cubicBezTo>
                <a:cubicBezTo>
                  <a:pt x="2144" y="6972"/>
                  <a:pt x="1577" y="6758"/>
                  <a:pt x="1111" y="6484"/>
                </a:cubicBezTo>
                <a:lnTo>
                  <a:pt x="1111" y="7632"/>
                </a:lnTo>
                <a:cubicBezTo>
                  <a:pt x="1111" y="7722"/>
                  <a:pt x="1177" y="7831"/>
                  <a:pt x="1311" y="7958"/>
                </a:cubicBezTo>
                <a:cubicBezTo>
                  <a:pt x="1466" y="8098"/>
                  <a:pt x="1684" y="8234"/>
                  <a:pt x="1966" y="8368"/>
                </a:cubicBezTo>
                <a:cubicBezTo>
                  <a:pt x="2351" y="8550"/>
                  <a:pt x="2807" y="8693"/>
                  <a:pt x="3333" y="8795"/>
                </a:cubicBezTo>
                <a:cubicBezTo>
                  <a:pt x="3858" y="8896"/>
                  <a:pt x="4413" y="8947"/>
                  <a:pt x="4999" y="8947"/>
                </a:cubicBezTo>
                <a:cubicBezTo>
                  <a:pt x="5584" y="8947"/>
                  <a:pt x="6139" y="8896"/>
                  <a:pt x="6665" y="8795"/>
                </a:cubicBezTo>
                <a:cubicBezTo>
                  <a:pt x="7191" y="8693"/>
                  <a:pt x="7646" y="8550"/>
                  <a:pt x="8032" y="8368"/>
                </a:cubicBezTo>
                <a:cubicBezTo>
                  <a:pt x="8313" y="8234"/>
                  <a:pt x="8531" y="8098"/>
                  <a:pt x="8687" y="7958"/>
                </a:cubicBezTo>
                <a:cubicBezTo>
                  <a:pt x="8820" y="7831"/>
                  <a:pt x="8887" y="7722"/>
                  <a:pt x="8887" y="7632"/>
                </a:cubicBezTo>
                <a:moveTo>
                  <a:pt x="0" y="7632"/>
                </a:moveTo>
                <a:lnTo>
                  <a:pt x="0" y="2368"/>
                </a:lnTo>
                <a:cubicBezTo>
                  <a:pt x="0" y="1940"/>
                  <a:pt x="226" y="1540"/>
                  <a:pt x="678" y="1168"/>
                </a:cubicBezTo>
                <a:cubicBezTo>
                  <a:pt x="1122" y="817"/>
                  <a:pt x="1721" y="536"/>
                  <a:pt x="2477" y="326"/>
                </a:cubicBezTo>
                <a:cubicBezTo>
                  <a:pt x="3255" y="108"/>
                  <a:pt x="4095" y="0"/>
                  <a:pt x="4999" y="0"/>
                </a:cubicBezTo>
                <a:cubicBezTo>
                  <a:pt x="5902" y="0"/>
                  <a:pt x="6743" y="108"/>
                  <a:pt x="7521" y="326"/>
                </a:cubicBezTo>
                <a:cubicBezTo>
                  <a:pt x="8276" y="536"/>
                  <a:pt x="8876" y="817"/>
                  <a:pt x="9320" y="1168"/>
                </a:cubicBezTo>
                <a:cubicBezTo>
                  <a:pt x="9772" y="1540"/>
                  <a:pt x="9998" y="1940"/>
                  <a:pt x="9998" y="2368"/>
                </a:cubicBezTo>
                <a:lnTo>
                  <a:pt x="9998" y="7632"/>
                </a:lnTo>
                <a:cubicBezTo>
                  <a:pt x="9998" y="8060"/>
                  <a:pt x="9772" y="8460"/>
                  <a:pt x="9320" y="8832"/>
                </a:cubicBezTo>
                <a:cubicBezTo>
                  <a:pt x="8876" y="9182"/>
                  <a:pt x="8276" y="9463"/>
                  <a:pt x="7521" y="9674"/>
                </a:cubicBezTo>
                <a:cubicBezTo>
                  <a:pt x="6743" y="9891"/>
                  <a:pt x="5902" y="10000"/>
                  <a:pt x="4999" y="10000"/>
                </a:cubicBezTo>
                <a:cubicBezTo>
                  <a:pt x="4095" y="10000"/>
                  <a:pt x="3255" y="9891"/>
                  <a:pt x="2477" y="9674"/>
                </a:cubicBezTo>
                <a:cubicBezTo>
                  <a:pt x="1721" y="9463"/>
                  <a:pt x="1122" y="9182"/>
                  <a:pt x="678" y="8832"/>
                </a:cubicBezTo>
                <a:cubicBezTo>
                  <a:pt x="226" y="8460"/>
                  <a:pt x="0" y="8060"/>
                  <a:pt x="0" y="7632"/>
                </a:cubicBezTo>
                <a:moveTo>
                  <a:pt x="4999" y="3684"/>
                </a:moveTo>
                <a:cubicBezTo>
                  <a:pt x="5584" y="3684"/>
                  <a:pt x="6139" y="3633"/>
                  <a:pt x="6665" y="3532"/>
                </a:cubicBezTo>
                <a:cubicBezTo>
                  <a:pt x="7191" y="3430"/>
                  <a:pt x="7646" y="3287"/>
                  <a:pt x="8032" y="3105"/>
                </a:cubicBezTo>
                <a:cubicBezTo>
                  <a:pt x="8313" y="2971"/>
                  <a:pt x="8531" y="2835"/>
                  <a:pt x="8687" y="2695"/>
                </a:cubicBezTo>
                <a:cubicBezTo>
                  <a:pt x="8820" y="2568"/>
                  <a:pt x="8887" y="2459"/>
                  <a:pt x="8887" y="2368"/>
                </a:cubicBezTo>
                <a:cubicBezTo>
                  <a:pt x="8887" y="2277"/>
                  <a:pt x="8820" y="2168"/>
                  <a:pt x="8687" y="2042"/>
                </a:cubicBezTo>
                <a:cubicBezTo>
                  <a:pt x="8531" y="1902"/>
                  <a:pt x="8313" y="1765"/>
                  <a:pt x="8032" y="1632"/>
                </a:cubicBezTo>
                <a:cubicBezTo>
                  <a:pt x="7646" y="1449"/>
                  <a:pt x="7191" y="1307"/>
                  <a:pt x="6665" y="1205"/>
                </a:cubicBezTo>
                <a:cubicBezTo>
                  <a:pt x="6139" y="1103"/>
                  <a:pt x="5584" y="1053"/>
                  <a:pt x="4999" y="1053"/>
                </a:cubicBezTo>
                <a:cubicBezTo>
                  <a:pt x="4413" y="1053"/>
                  <a:pt x="3858" y="1103"/>
                  <a:pt x="3333" y="1205"/>
                </a:cubicBezTo>
                <a:cubicBezTo>
                  <a:pt x="2807" y="1307"/>
                  <a:pt x="2351" y="1449"/>
                  <a:pt x="1966" y="1632"/>
                </a:cubicBezTo>
                <a:cubicBezTo>
                  <a:pt x="1684" y="1765"/>
                  <a:pt x="1466" y="1902"/>
                  <a:pt x="1311" y="2042"/>
                </a:cubicBezTo>
                <a:cubicBezTo>
                  <a:pt x="1177" y="2168"/>
                  <a:pt x="1111" y="2277"/>
                  <a:pt x="1111" y="2368"/>
                </a:cubicBezTo>
                <a:cubicBezTo>
                  <a:pt x="1111" y="2459"/>
                  <a:pt x="1177" y="2568"/>
                  <a:pt x="1311" y="2695"/>
                </a:cubicBezTo>
                <a:cubicBezTo>
                  <a:pt x="1466" y="2835"/>
                  <a:pt x="1684" y="2971"/>
                  <a:pt x="1966" y="3105"/>
                </a:cubicBezTo>
                <a:cubicBezTo>
                  <a:pt x="2351" y="3287"/>
                  <a:pt x="2807" y="3430"/>
                  <a:pt x="3333" y="3532"/>
                </a:cubicBezTo>
                <a:cubicBezTo>
                  <a:pt x="3858" y="3633"/>
                  <a:pt x="4413" y="3684"/>
                  <a:pt x="4999" y="3684"/>
                </a:cubicBezTo>
              </a:path>
            </a:pathLst>
          </a:custGeom>
          <a:solidFill>
            <a:srgbClr val="4A7FD7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5" name="TextBox 5"/>
          <p:cNvSpPr txBox="1"/>
          <p:nvPr/>
        </p:nvSpPr>
        <p:spPr>
          <a:xfrm>
            <a:off x="631320" y="476250"/>
            <a:ext cx="1110054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C20">
                    <a:alpha val="6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Configuration Guide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457086" y="733425"/>
            <a:ext cx="11274781" cy="469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1C2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连接有效性验证机制配置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57086" y="1466850"/>
            <a:ext cx="11274781" cy="838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solidFill>
              <a:srgbClr val="E5E7E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Box 8"/>
          <p:cNvSpPr txBox="1"/>
          <p:nvPr/>
        </p:nvSpPr>
        <p:spPr>
          <a:xfrm>
            <a:off x="695151" y="1657350"/>
            <a:ext cx="11493801" cy="4476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1" strike="noStrike">
                <a:solidFill>
                  <a:srgbClr val="1A1C2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"DBCP 的 testOnBorrow、testOnReturn、testWhileIdle 三个验证属性默认均为 false，这是连接池'失效'的根源。必须显式配置为 true 并设置</a:t>
            </a:r>
            <a:endParaRPr lang="en-US" sz="1100"/>
          </a:p>
          <a:p>
            <a:pPr algn="l"/>
            <a:r>
              <a:rPr sz="1300" b="0" i="1" strike="noStrike">
                <a:solidFill>
                  <a:srgbClr val="1A1C2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validationQuery。"</a:t>
            </a:r>
            <a:endParaRPr sz="1300" b="0" i="1" strike="noStrike">
              <a:solidFill>
                <a:srgbClr val="1A1C20">
                  <a:alpha val="100000"/>
                </a:srgbClr>
              </a:solidFill>
              <a:latin typeface="Source Han Serif CN" panose="02020400000000000000" charset="-122"/>
              <a:ea typeface="Source Han Serif CN" panose="02020400000000000000" charset="-122"/>
              <a:cs typeface="Source Han Serif CN" panose="020204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1"/>
            </p:custDataLst>
          </p:nvPr>
        </p:nvSpPr>
        <p:spPr>
          <a:xfrm>
            <a:off x="457086" y="2533650"/>
            <a:ext cx="228543" cy="228600"/>
          </a:xfrm>
          <a:prstGeom prst="ellipse">
            <a:avLst/>
          </a:prstGeom>
          <a:solidFill>
            <a:srgbClr val="1A1C20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TextBox 10"/>
          <p:cNvSpPr txBox="1"/>
          <p:nvPr>
            <p:custDataLst>
              <p:tags r:id="rId2"/>
            </p:custDataLst>
          </p:nvPr>
        </p:nvSpPr>
        <p:spPr>
          <a:xfrm>
            <a:off x="539516" y="2581275"/>
            <a:ext cx="14611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0"/>
          <a:lstStyle/>
          <a:p>
            <a:pPr algn="l">
              <a:defRPr/>
            </a:pPr>
            <a:r>
              <a:rPr lang="en-US" sz="900" b="1" i="0" strike="noStrike">
                <a:solidFill>
                  <a:srgbClr val="F7F8FA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1</a:t>
            </a:r>
            <a:endParaRPr lang="en-US" sz="1100"/>
          </a:p>
        </p:txBody>
      </p:sp>
      <p:sp>
        <p:nvSpPr>
          <p:cNvPr id="11" name="TextBox 11"/>
          <p:cNvSpPr txBox="1"/>
          <p:nvPr>
            <p:custDataLst>
              <p:tags r:id="rId3"/>
            </p:custDataLst>
          </p:nvPr>
        </p:nvSpPr>
        <p:spPr>
          <a:xfrm>
            <a:off x="799899" y="2562225"/>
            <a:ext cx="5180305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A1C2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默认行为风险</a:t>
            </a:r>
            <a:endParaRPr lang="en-US" sz="1100"/>
          </a:p>
        </p:txBody>
      </p:sp>
      <p:sp>
        <p:nvSpPr>
          <p:cNvPr id="12" name="TextBox 12"/>
          <p:cNvSpPr txBox="1"/>
          <p:nvPr>
            <p:custDataLst>
              <p:tags r:id="rId4"/>
            </p:custDataLst>
          </p:nvPr>
        </p:nvSpPr>
        <p:spPr>
          <a:xfrm>
            <a:off x="799899" y="2828925"/>
            <a:ext cx="5180305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C20">
                    <a:alpha val="8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三个验证属性默认关闭导致连接断开后无法自动剔除，应用取出已断开连接直接使用时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C20">
                    <a:alpha val="8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抛出 SQLException。</a:t>
            </a:r>
            <a:endParaRPr sz="1000" b="0" i="0" strike="noStrike">
              <a:solidFill>
                <a:srgbClr val="1A1C20">
                  <a:alpha val="8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5"/>
            </p:custDataLst>
          </p:nvPr>
        </p:nvSpPr>
        <p:spPr>
          <a:xfrm>
            <a:off x="6208747" y="2533650"/>
            <a:ext cx="228543" cy="228600"/>
          </a:xfrm>
          <a:prstGeom prst="ellipse">
            <a:avLst/>
          </a:prstGeom>
          <a:solidFill>
            <a:srgbClr val="1A1C20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4" name="TextBox 14"/>
          <p:cNvSpPr txBox="1"/>
          <p:nvPr>
            <p:custDataLst>
              <p:tags r:id="rId6"/>
            </p:custDataLst>
          </p:nvPr>
        </p:nvSpPr>
        <p:spPr>
          <a:xfrm>
            <a:off x="6291177" y="2581275"/>
            <a:ext cx="14611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0"/>
          <a:lstStyle/>
          <a:p>
            <a:pPr algn="l">
              <a:defRPr/>
            </a:pPr>
            <a:r>
              <a:rPr lang="en-US" sz="900" b="1" i="0" strike="noStrike">
                <a:solidFill>
                  <a:srgbClr val="F7F8FA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2</a:t>
            </a:r>
            <a:endParaRPr lang="en-US" sz="1100"/>
          </a:p>
        </p:txBody>
      </p:sp>
      <p:sp>
        <p:nvSpPr>
          <p:cNvPr id="15" name="TextBox 15"/>
          <p:cNvSpPr txBox="1"/>
          <p:nvPr>
            <p:custDataLst>
              <p:tags r:id="rId7"/>
            </p:custDataLst>
          </p:nvPr>
        </p:nvSpPr>
        <p:spPr>
          <a:xfrm>
            <a:off x="6551562" y="2562225"/>
            <a:ext cx="5180305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A1C2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解决方案配置</a:t>
            </a:r>
            <a:endParaRPr lang="en-US" sz="1100"/>
          </a:p>
        </p:txBody>
      </p:sp>
      <p:sp>
        <p:nvSpPr>
          <p:cNvPr id="16" name="TextBox 16"/>
          <p:cNvSpPr txBox="1"/>
          <p:nvPr>
            <p:custDataLst>
              <p:tags r:id="rId8"/>
            </p:custDataLst>
          </p:nvPr>
        </p:nvSpPr>
        <p:spPr>
          <a:xfrm>
            <a:off x="6551562" y="2828925"/>
            <a:ext cx="5180305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C20">
                    <a:alpha val="8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将 testOnBorrow/Return/Idle 均设为 true，并配置 validationQuery，确保每次获取连接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C20">
                    <a:alpha val="8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时进行有效性验证。</a:t>
            </a:r>
            <a:endParaRPr sz="1000" b="0" i="0" strike="noStrike">
              <a:solidFill>
                <a:srgbClr val="1A1C20">
                  <a:alpha val="8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9"/>
            </p:custDataLst>
          </p:nvPr>
        </p:nvSpPr>
        <p:spPr>
          <a:xfrm>
            <a:off x="457086" y="3455491"/>
            <a:ext cx="228543" cy="228600"/>
          </a:xfrm>
          <a:prstGeom prst="ellipse">
            <a:avLst/>
          </a:prstGeom>
          <a:solidFill>
            <a:srgbClr val="1A1C20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8" name="TextBox 18"/>
          <p:cNvSpPr txBox="1"/>
          <p:nvPr>
            <p:custDataLst>
              <p:tags r:id="rId10"/>
            </p:custDataLst>
          </p:nvPr>
        </p:nvSpPr>
        <p:spPr>
          <a:xfrm>
            <a:off x="539516" y="3503116"/>
            <a:ext cx="14611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0"/>
          <a:lstStyle/>
          <a:p>
            <a:pPr algn="l">
              <a:defRPr/>
            </a:pPr>
            <a:r>
              <a:rPr lang="en-US" sz="900" b="1" i="0" strike="noStrike">
                <a:solidFill>
                  <a:srgbClr val="F7F8FA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3</a:t>
            </a:r>
            <a:endParaRPr lang="en-US" sz="1100"/>
          </a:p>
        </p:txBody>
      </p:sp>
      <p:sp>
        <p:nvSpPr>
          <p:cNvPr id="19" name="TextBox 19"/>
          <p:cNvSpPr txBox="1"/>
          <p:nvPr>
            <p:custDataLst>
              <p:tags r:id="rId11"/>
            </p:custDataLst>
          </p:nvPr>
        </p:nvSpPr>
        <p:spPr>
          <a:xfrm>
            <a:off x="799899" y="3484066"/>
            <a:ext cx="4948042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A1C2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不同数据库写法</a:t>
            </a:r>
            <a:endParaRPr lang="en-US" sz="1100"/>
          </a:p>
        </p:txBody>
      </p:sp>
      <p:sp>
        <p:nvSpPr>
          <p:cNvPr id="22" name="TextBox 22"/>
          <p:cNvSpPr txBox="1"/>
          <p:nvPr>
            <p:custDataLst>
              <p:tags r:id="rId12"/>
            </p:custDataLst>
          </p:nvPr>
        </p:nvSpPr>
        <p:spPr>
          <a:xfrm>
            <a:off x="799899" y="3748226"/>
            <a:ext cx="5180305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C20">
                    <a:alpha val="8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Oracle 使用 </a:t>
            </a:r>
            <a:r>
              <a:rPr sz="900" b="0" i="0" strike="noStrike">
                <a:solidFill>
                  <a:srgbClr val="1A1C20">
                    <a:alpha val="80000"/>
                  </a:srgbClr>
                </a:solidFill>
                <a:latin typeface="Poppins" panose="00000500000000000000"/>
                <a:ea typeface="Poppins" panose="00000500000000000000"/>
                <a:cs typeface="Poppins" panose="00000500000000000000"/>
              </a:rPr>
              <a:t>SELECT COUNT(*) FROM DUAL</a:t>
            </a:r>
            <a:r>
              <a:rPr sz="1000" b="0" i="0" strike="noStrike">
                <a:solidFill>
                  <a:srgbClr val="1A1C20">
                    <a:alpha val="8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，MySQL/SQL Server 使用 </a:t>
            </a:r>
            <a:r>
              <a:rPr sz="900" b="0" i="0" strike="noStrike">
                <a:solidFill>
                  <a:srgbClr val="1A1C20">
                    <a:alpha val="80000"/>
                  </a:srgbClr>
                </a:solidFill>
                <a:latin typeface="Poppins" panose="00000500000000000000"/>
                <a:ea typeface="Poppins" panose="00000500000000000000"/>
                <a:cs typeface="Poppins" panose="00000500000000000000"/>
              </a:rPr>
              <a:t>SELECT 1</a:t>
            </a:r>
            <a:r>
              <a:rPr sz="1000" b="0" i="0" strike="noStrike">
                <a:solidFill>
                  <a:srgbClr val="1A1C20">
                    <a:alpha val="8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。</a:t>
            </a:r>
            <a:endParaRPr lang="en-US" sz="1100"/>
          </a:p>
        </p:txBody>
      </p:sp>
      <p:sp>
        <p:nvSpPr>
          <p:cNvPr id="23" name="AutoShape 23"/>
          <p:cNvSpPr/>
          <p:nvPr>
            <p:custDataLst>
              <p:tags r:id="rId13"/>
            </p:custDataLst>
          </p:nvPr>
        </p:nvSpPr>
        <p:spPr>
          <a:xfrm>
            <a:off x="6208747" y="3455491"/>
            <a:ext cx="228543" cy="228600"/>
          </a:xfrm>
          <a:prstGeom prst="ellipse">
            <a:avLst/>
          </a:prstGeom>
          <a:solidFill>
            <a:srgbClr val="1A1C20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4" name="TextBox 24"/>
          <p:cNvSpPr txBox="1"/>
          <p:nvPr>
            <p:custDataLst>
              <p:tags r:id="rId14"/>
            </p:custDataLst>
          </p:nvPr>
        </p:nvSpPr>
        <p:spPr>
          <a:xfrm>
            <a:off x="6291177" y="3503116"/>
            <a:ext cx="14611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0"/>
          <a:lstStyle/>
          <a:p>
            <a:pPr algn="l">
              <a:defRPr/>
            </a:pPr>
            <a:r>
              <a:rPr lang="en-US" sz="900" b="1" i="0" strike="noStrike">
                <a:solidFill>
                  <a:srgbClr val="F7F8FA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4</a:t>
            </a:r>
            <a:endParaRPr lang="en-US" sz="1100"/>
          </a:p>
        </p:txBody>
      </p:sp>
      <p:sp>
        <p:nvSpPr>
          <p:cNvPr id="25" name="TextBox 25"/>
          <p:cNvSpPr txBox="1"/>
          <p:nvPr>
            <p:custDataLst>
              <p:tags r:id="rId15"/>
            </p:custDataLst>
          </p:nvPr>
        </p:nvSpPr>
        <p:spPr>
          <a:xfrm>
            <a:off x="6551562" y="3484066"/>
            <a:ext cx="5180305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A1C2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性能权衡考虑</a:t>
            </a:r>
            <a:endParaRPr lang="en-US" sz="1100"/>
          </a:p>
        </p:txBody>
      </p:sp>
      <p:sp>
        <p:nvSpPr>
          <p:cNvPr id="26" name="TextBox 26"/>
          <p:cNvSpPr txBox="1"/>
          <p:nvPr>
            <p:custDataLst>
              <p:tags r:id="rId16"/>
            </p:custDataLst>
          </p:nvPr>
        </p:nvSpPr>
        <p:spPr>
          <a:xfrm>
            <a:off x="6551562" y="3750766"/>
            <a:ext cx="5180305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C20">
                    <a:alpha val="8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开启验证会增加获取连接开销，但在高并发下能有效避免无效连接导致的请求失败，生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C20">
                    <a:alpha val="8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产环境务必开启。</a:t>
            </a:r>
            <a:endParaRPr sz="1000" b="0" i="0" strike="noStrike">
              <a:solidFill>
                <a:srgbClr val="1A1C20">
                  <a:alpha val="8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342814" y="4116437"/>
            <a:ext cx="11274781" cy="2404467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solidFill>
              <a:srgbClr val="E5E7E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AutoShape 28"/>
          <p:cNvSpPr/>
          <p:nvPr/>
        </p:nvSpPr>
        <p:spPr>
          <a:xfrm>
            <a:off x="-291705" y="7832831"/>
            <a:ext cx="11255736" cy="9525"/>
          </a:xfrm>
          <a:prstGeom prst="line">
            <a:avLst/>
          </a:prstGeom>
          <a:ln w="9525">
            <a:solidFill>
              <a:srgbClr val="E5E7E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TextBox 29"/>
          <p:cNvSpPr txBox="1"/>
          <p:nvPr/>
        </p:nvSpPr>
        <p:spPr>
          <a:xfrm>
            <a:off x="448977" y="4259312"/>
            <a:ext cx="2090364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1A1C2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DBCP 连接验证属性对照表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2470994" y="4660160"/>
            <a:ext cx="1116675" cy="133350"/>
          </a:xfrm>
          <a:prstGeom prst="rect">
            <a:avLst/>
          </a:prstGeom>
          <a:ln>
            <a:headEnd type="none"/>
            <a:tailEnd type="none"/>
          </a:ln>
        </p:spPr>
      </p:sp>
      <p:graphicFrame>
        <p:nvGraphicFramePr>
          <p:cNvPr id="31" name="Table 31"/>
          <p:cNvGraphicFramePr>
            <a:graphicFrameLocks noGrp="1"/>
          </p:cNvGraphicFramePr>
          <p:nvPr/>
        </p:nvGraphicFramePr>
        <p:xfrm>
          <a:off x="448977" y="4548783"/>
          <a:ext cx="11049000" cy="1778000"/>
        </p:xfrm>
        <a:graphic>
          <a:graphicData uri="http://schemas.openxmlformats.org/drawingml/2006/table">
            <a:tbl>
              <a:tblPr/>
              <a:tblGrid>
                <a:gridCol w="2616200"/>
                <a:gridCol w="1663700"/>
                <a:gridCol w="4826000"/>
                <a:gridCol w="1917700"/>
              </a:tblGrid>
              <a:tr h="355600">
                <a:tc>
                  <a:txBody>
                    <a:bodyPr rot="0" wrap="square"/>
                    <a:p>
                      <a:pPr algn="l">
                        <a:defRPr sz="900" b="1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sz="900" b="1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验证属性</a:t>
                      </a:r>
                      <a:endParaRPr sz="900" b="1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228600" marR="228600" marT="114300" marB="114300" vert="horz" anchor="ctr" anchorCtr="0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sz="900" b="1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sz="900" b="1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默认值</a:t>
                      </a:r>
                      <a:endParaRPr sz="900" b="1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228600" marR="228600" marT="114300" marB="114300" vert="horz" anchor="ctr" anchorCtr="1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900" b="1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sz="900" b="1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默认关闭风险</a:t>
                      </a:r>
                      <a:endParaRPr sz="900" b="1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228600" marR="228600" marT="114300" marB="114300" vert="horz" anchor="ctr" anchorCtr="0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sz="900" b="1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sz="900" b="1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推荐配置</a:t>
                      </a:r>
                      <a:endParaRPr sz="900" b="1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228600" marR="228600" marT="114300" marB="114300" vert="horz" anchor="ctr" anchorCtr="1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</a:tr>
              <a:tr h="444500">
                <a:tc>
                  <a:txBody>
                    <a:bodyPr rot="0" wrap="square"/>
                    <a:p>
                      <a:pPr algn="l">
                        <a:defRPr sz="1100" b="0" i="0" strike="noStrike">
                          <a:solidFill>
                            <a:srgbClr val="4A7FD7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defRPr>
                      </a:pPr>
                      <a:r>
                        <a:rPr sz="1100" b="0" i="0" strike="noStrike">
                          <a:solidFill>
                            <a:srgbClr val="4A7FD7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rPr>
                        <a:t>testOnBorrow</a:t>
                      </a:r>
                      <a:endParaRPr sz="1100" b="0" i="0" strike="noStrike">
                        <a:solidFill>
                          <a:srgbClr val="4A7FD7">
                            <a:alpha val="100000"/>
                          </a:srgbClr>
                        </a:solidFill>
                        <a:latin typeface="Poppins, sans-serif"/>
                        <a:ea typeface="Poppins, sans-serif"/>
                        <a:cs typeface="Poppins, sans-serif"/>
                      </a:endParaRPr>
                    </a:p>
                  </a:txBody>
                  <a:tcPr marL="228600" marR="228600" marT="152400" marB="152400" vert="horz" anchor="ctr" anchorCtr="0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sz="11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defRPr>
                      </a:pPr>
                      <a:r>
                        <a:rPr sz="11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rPr>
                        <a:t>false</a:t>
                      </a:r>
                      <a:endParaRPr sz="1100" b="0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Poppins, sans-serif"/>
                        <a:ea typeface="Poppins, sans-serif"/>
                        <a:cs typeface="Poppins, sans-serif"/>
                      </a:endParaRPr>
                    </a:p>
                  </a:txBody>
                  <a:tcPr marL="228600" marR="228600" marT="152400" marB="152400" vert="horz" anchor="ctr" anchorCtr="1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1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rPr>
                        <a:t>借出无效连接直接使用导致异常</a:t>
                      </a:r>
                      <a:endParaRPr sz="1100" b="0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&quot;Source Han Sans&quot;, sans-serif"/>
                        <a:ea typeface="&quot;Source Han Sans&quot;, sans-serif"/>
                        <a:cs typeface="&quot;Source Han Sans&quot;, sans-serif"/>
                      </a:endParaRPr>
                    </a:p>
                  </a:txBody>
                  <a:tcPr marL="228600" marR="228600" marT="152400" marB="152400" vert="horz" anchor="ctr" anchorCtr="0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sz="11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rPr>
                        <a:t>true</a:t>
                      </a:r>
                      <a:endParaRPr sz="1100" b="0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&quot;Source Han Sans&quot;, sans-serif"/>
                        <a:ea typeface="&quot;Source Han Sans&quot;, sans-serif"/>
                        <a:cs typeface="&quot;Source Han Sans&quot;, sans-serif"/>
                      </a:endParaRPr>
                    </a:p>
                  </a:txBody>
                  <a:tcPr marL="228600" marR="228600" marT="152400" marB="152400" vert="horz" anchor="ctr" anchorCtr="1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</a:tr>
              <a:tr h="444500">
                <a:tc>
                  <a:txBody>
                    <a:bodyPr rot="0" wrap="square"/>
                    <a:p>
                      <a:pPr algn="l">
                        <a:defRPr sz="1100" b="0" i="0" strike="noStrike">
                          <a:solidFill>
                            <a:srgbClr val="4A7FD7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defRPr>
                      </a:pPr>
                      <a:r>
                        <a:rPr sz="1100" b="0" i="0" strike="noStrike">
                          <a:solidFill>
                            <a:srgbClr val="4A7FD7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rPr>
                        <a:t>testOnReturn</a:t>
                      </a:r>
                      <a:endParaRPr sz="1100" b="0" i="0" strike="noStrike">
                        <a:solidFill>
                          <a:srgbClr val="4A7FD7">
                            <a:alpha val="100000"/>
                          </a:srgbClr>
                        </a:solidFill>
                        <a:latin typeface="Poppins, sans-serif"/>
                        <a:ea typeface="Poppins, sans-serif"/>
                        <a:cs typeface="Poppins, sans-serif"/>
                      </a:endParaRPr>
                    </a:p>
                  </a:txBody>
                  <a:tcPr marL="228600" marR="228600" marT="152400" marB="152400" vert="horz" anchor="ctr" anchorCtr="0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sz="11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defRPr>
                      </a:pPr>
                      <a:r>
                        <a:rPr sz="11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rPr>
                        <a:t>false</a:t>
                      </a:r>
                      <a:endParaRPr sz="1100" b="0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Poppins, sans-serif"/>
                        <a:ea typeface="Poppins, sans-serif"/>
                        <a:cs typeface="Poppins, sans-serif"/>
                      </a:endParaRPr>
                    </a:p>
                  </a:txBody>
                  <a:tcPr marL="228600" marR="228600" marT="152400" marB="152400" vert="horz" anchor="ctr" anchorCtr="1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1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rPr>
                        <a:t>归还无效连接污染连接池</a:t>
                      </a:r>
                      <a:endParaRPr sz="1100" b="0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&quot;Source Han Sans&quot;, sans-serif"/>
                        <a:ea typeface="&quot;Source Han Sans&quot;, sans-serif"/>
                        <a:cs typeface="&quot;Source Han Sans&quot;, sans-serif"/>
                      </a:endParaRPr>
                    </a:p>
                  </a:txBody>
                  <a:tcPr marL="228600" marR="228600" marT="152400" marB="152400" vert="horz" anchor="ctr" anchorCtr="0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sz="11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rPr>
                        <a:t>true</a:t>
                      </a:r>
                      <a:endParaRPr sz="1100" b="0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&quot;Source Han Sans&quot;, sans-serif"/>
                        <a:ea typeface="&quot;Source Han Sans&quot;, sans-serif"/>
                        <a:cs typeface="&quot;Source Han Sans&quot;, sans-serif"/>
                      </a:endParaRPr>
                    </a:p>
                  </a:txBody>
                  <a:tcPr marL="228600" marR="228600" marT="152400" marB="152400" vert="horz" anchor="ctr" anchorCtr="1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</a:tr>
              <a:tr h="444500">
                <a:tc>
                  <a:txBody>
                    <a:bodyPr rot="0" wrap="square"/>
                    <a:p>
                      <a:pPr algn="l">
                        <a:defRPr sz="1100" b="0" i="0" strike="noStrike">
                          <a:solidFill>
                            <a:srgbClr val="4A7FD7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defRPr>
                      </a:pPr>
                      <a:r>
                        <a:rPr sz="1100" b="0" i="0" strike="noStrike">
                          <a:solidFill>
                            <a:srgbClr val="4A7FD7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rPr>
                        <a:t>testWhileIdle</a:t>
                      </a:r>
                      <a:endParaRPr sz="1100" b="0" i="0" strike="noStrike">
                        <a:solidFill>
                          <a:srgbClr val="4A7FD7">
                            <a:alpha val="100000"/>
                          </a:srgbClr>
                        </a:solidFill>
                        <a:latin typeface="Poppins, sans-serif"/>
                        <a:ea typeface="Poppins, sans-serif"/>
                        <a:cs typeface="Poppins, sans-serif"/>
                      </a:endParaRPr>
                    </a:p>
                  </a:txBody>
                  <a:tcPr marL="228600" marR="228600" marT="152400" marB="152400" vert="horz" anchor="ctr" anchorCtr="0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sz="11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defRPr>
                      </a:pPr>
                      <a:r>
                        <a:rPr sz="11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rPr>
                        <a:t>false</a:t>
                      </a:r>
                      <a:endParaRPr sz="1100" b="0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Poppins, sans-serif"/>
                        <a:ea typeface="Poppins, sans-serif"/>
                        <a:cs typeface="Poppins, sans-serif"/>
                      </a:endParaRPr>
                    </a:p>
                  </a:txBody>
                  <a:tcPr marL="228600" marR="228600" marT="152400" marB="152400" vert="horz" anchor="ctr" anchorCtr="1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1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rPr>
                        <a:t>空闲连接失效未被及时发现</a:t>
                      </a:r>
                      <a:endParaRPr sz="1100" b="0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&quot;Source Han Sans&quot;, sans-serif"/>
                        <a:ea typeface="&quot;Source Han Sans&quot;, sans-serif"/>
                        <a:cs typeface="&quot;Source Han Sans&quot;, sans-serif"/>
                      </a:endParaRPr>
                    </a:p>
                  </a:txBody>
                  <a:tcPr marL="228600" marR="228600" marT="152400" marB="152400" vert="horz" anchor="ctr" anchorCtr="0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sz="11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rPr>
                        <a:t>true</a:t>
                      </a:r>
                      <a:endParaRPr sz="1100" b="0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&quot;Source Han Sans&quot;, sans-serif"/>
                        <a:ea typeface="&quot;Source Han Sans&quot;, sans-serif"/>
                        <a:cs typeface="&quot;Source Han Sans&quot;, sans-serif"/>
                      </a:endParaRPr>
                    </a:p>
                  </a:txBody>
                  <a:tcPr marL="228600" marR="228600" marT="152400" marB="152400" vert="horz" anchor="ctr" anchorCtr="1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4" name="TextBox 34"/>
          <p:cNvSpPr txBox="1"/>
          <p:nvPr/>
        </p:nvSpPr>
        <p:spPr>
          <a:xfrm>
            <a:off x="582404" y="6387554"/>
            <a:ext cx="11027193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C20">
                    <a:alpha val="6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Summary: 三个验证属性默认均为 false，生产环境建议全部开启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3333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A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>
            <a:off x="448977" y="485775"/>
            <a:ext cx="114271" cy="1143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111" y="3853"/>
                </a:moveTo>
                <a:lnTo>
                  <a:pt x="1111" y="5000"/>
                </a:lnTo>
                <a:cubicBezTo>
                  <a:pt x="1111" y="5091"/>
                  <a:pt x="1177" y="5200"/>
                  <a:pt x="1311" y="5326"/>
                </a:cubicBezTo>
                <a:cubicBezTo>
                  <a:pt x="1466" y="5466"/>
                  <a:pt x="1684" y="5603"/>
                  <a:pt x="1966" y="5737"/>
                </a:cubicBezTo>
                <a:cubicBezTo>
                  <a:pt x="2351" y="5919"/>
                  <a:pt x="2807" y="6061"/>
                  <a:pt x="3333" y="6163"/>
                </a:cubicBezTo>
                <a:cubicBezTo>
                  <a:pt x="3858" y="6265"/>
                  <a:pt x="4413" y="6316"/>
                  <a:pt x="4999" y="6316"/>
                </a:cubicBezTo>
                <a:cubicBezTo>
                  <a:pt x="5584" y="6316"/>
                  <a:pt x="6139" y="6265"/>
                  <a:pt x="6665" y="6163"/>
                </a:cubicBezTo>
                <a:cubicBezTo>
                  <a:pt x="7191" y="6061"/>
                  <a:pt x="7646" y="5919"/>
                  <a:pt x="8032" y="5737"/>
                </a:cubicBezTo>
                <a:cubicBezTo>
                  <a:pt x="8313" y="5603"/>
                  <a:pt x="8531" y="5466"/>
                  <a:pt x="8687" y="5326"/>
                </a:cubicBezTo>
                <a:cubicBezTo>
                  <a:pt x="8820" y="5200"/>
                  <a:pt x="8887" y="5091"/>
                  <a:pt x="8887" y="5000"/>
                </a:cubicBezTo>
                <a:lnTo>
                  <a:pt x="8887" y="3853"/>
                </a:lnTo>
                <a:cubicBezTo>
                  <a:pt x="8420" y="4126"/>
                  <a:pt x="7853" y="4340"/>
                  <a:pt x="7187" y="4495"/>
                </a:cubicBezTo>
                <a:cubicBezTo>
                  <a:pt x="6498" y="4656"/>
                  <a:pt x="5769" y="4737"/>
                  <a:pt x="4999" y="4737"/>
                </a:cubicBezTo>
                <a:cubicBezTo>
                  <a:pt x="4229" y="4737"/>
                  <a:pt x="3499" y="4656"/>
                  <a:pt x="2811" y="4495"/>
                </a:cubicBezTo>
                <a:cubicBezTo>
                  <a:pt x="2144" y="4340"/>
                  <a:pt x="1577" y="4126"/>
                  <a:pt x="1111" y="3853"/>
                </a:cubicBezTo>
                <a:moveTo>
                  <a:pt x="8887" y="7632"/>
                </a:moveTo>
                <a:lnTo>
                  <a:pt x="8887" y="6484"/>
                </a:lnTo>
                <a:cubicBezTo>
                  <a:pt x="8420" y="6758"/>
                  <a:pt x="7853" y="6972"/>
                  <a:pt x="7187" y="7126"/>
                </a:cubicBezTo>
                <a:cubicBezTo>
                  <a:pt x="6498" y="7287"/>
                  <a:pt x="5769" y="7368"/>
                  <a:pt x="4999" y="7368"/>
                </a:cubicBezTo>
                <a:cubicBezTo>
                  <a:pt x="4229" y="7368"/>
                  <a:pt x="3499" y="7287"/>
                  <a:pt x="2811" y="7126"/>
                </a:cubicBezTo>
                <a:cubicBezTo>
                  <a:pt x="2144" y="6972"/>
                  <a:pt x="1577" y="6758"/>
                  <a:pt x="1111" y="6484"/>
                </a:cubicBezTo>
                <a:lnTo>
                  <a:pt x="1111" y="7632"/>
                </a:lnTo>
                <a:cubicBezTo>
                  <a:pt x="1111" y="7722"/>
                  <a:pt x="1177" y="7831"/>
                  <a:pt x="1311" y="7958"/>
                </a:cubicBezTo>
                <a:cubicBezTo>
                  <a:pt x="1466" y="8098"/>
                  <a:pt x="1684" y="8234"/>
                  <a:pt x="1966" y="8368"/>
                </a:cubicBezTo>
                <a:cubicBezTo>
                  <a:pt x="2351" y="8550"/>
                  <a:pt x="2807" y="8693"/>
                  <a:pt x="3333" y="8795"/>
                </a:cubicBezTo>
                <a:cubicBezTo>
                  <a:pt x="3858" y="8896"/>
                  <a:pt x="4413" y="8947"/>
                  <a:pt x="4999" y="8947"/>
                </a:cubicBezTo>
                <a:cubicBezTo>
                  <a:pt x="5584" y="8947"/>
                  <a:pt x="6139" y="8896"/>
                  <a:pt x="6665" y="8795"/>
                </a:cubicBezTo>
                <a:cubicBezTo>
                  <a:pt x="7191" y="8693"/>
                  <a:pt x="7646" y="8550"/>
                  <a:pt x="8032" y="8368"/>
                </a:cubicBezTo>
                <a:cubicBezTo>
                  <a:pt x="8313" y="8234"/>
                  <a:pt x="8531" y="8098"/>
                  <a:pt x="8687" y="7958"/>
                </a:cubicBezTo>
                <a:cubicBezTo>
                  <a:pt x="8820" y="7831"/>
                  <a:pt x="8887" y="7722"/>
                  <a:pt x="8887" y="7632"/>
                </a:cubicBezTo>
                <a:moveTo>
                  <a:pt x="0" y="7632"/>
                </a:moveTo>
                <a:lnTo>
                  <a:pt x="0" y="2368"/>
                </a:lnTo>
                <a:cubicBezTo>
                  <a:pt x="0" y="1940"/>
                  <a:pt x="226" y="1540"/>
                  <a:pt x="678" y="1168"/>
                </a:cubicBezTo>
                <a:cubicBezTo>
                  <a:pt x="1122" y="817"/>
                  <a:pt x="1721" y="536"/>
                  <a:pt x="2477" y="326"/>
                </a:cubicBezTo>
                <a:cubicBezTo>
                  <a:pt x="3255" y="108"/>
                  <a:pt x="4095" y="0"/>
                  <a:pt x="4999" y="0"/>
                </a:cubicBezTo>
                <a:cubicBezTo>
                  <a:pt x="5902" y="0"/>
                  <a:pt x="6743" y="108"/>
                  <a:pt x="7521" y="326"/>
                </a:cubicBezTo>
                <a:cubicBezTo>
                  <a:pt x="8276" y="536"/>
                  <a:pt x="8876" y="817"/>
                  <a:pt x="9320" y="1168"/>
                </a:cubicBezTo>
                <a:cubicBezTo>
                  <a:pt x="9772" y="1540"/>
                  <a:pt x="9998" y="1940"/>
                  <a:pt x="9998" y="2368"/>
                </a:cubicBezTo>
                <a:lnTo>
                  <a:pt x="9998" y="7632"/>
                </a:lnTo>
                <a:cubicBezTo>
                  <a:pt x="9998" y="8060"/>
                  <a:pt x="9772" y="8460"/>
                  <a:pt x="9320" y="8832"/>
                </a:cubicBezTo>
                <a:cubicBezTo>
                  <a:pt x="8876" y="9182"/>
                  <a:pt x="8276" y="9463"/>
                  <a:pt x="7521" y="9674"/>
                </a:cubicBezTo>
                <a:cubicBezTo>
                  <a:pt x="6743" y="9891"/>
                  <a:pt x="5902" y="10000"/>
                  <a:pt x="4999" y="10000"/>
                </a:cubicBezTo>
                <a:cubicBezTo>
                  <a:pt x="4095" y="10000"/>
                  <a:pt x="3255" y="9891"/>
                  <a:pt x="2477" y="9674"/>
                </a:cubicBezTo>
                <a:cubicBezTo>
                  <a:pt x="1721" y="9463"/>
                  <a:pt x="1122" y="9182"/>
                  <a:pt x="678" y="8832"/>
                </a:cubicBezTo>
                <a:cubicBezTo>
                  <a:pt x="226" y="8460"/>
                  <a:pt x="0" y="8060"/>
                  <a:pt x="0" y="7632"/>
                </a:cubicBezTo>
                <a:moveTo>
                  <a:pt x="4999" y="3684"/>
                </a:moveTo>
                <a:cubicBezTo>
                  <a:pt x="5584" y="3684"/>
                  <a:pt x="6139" y="3633"/>
                  <a:pt x="6665" y="3532"/>
                </a:cubicBezTo>
                <a:cubicBezTo>
                  <a:pt x="7191" y="3430"/>
                  <a:pt x="7646" y="3287"/>
                  <a:pt x="8032" y="3105"/>
                </a:cubicBezTo>
                <a:cubicBezTo>
                  <a:pt x="8313" y="2971"/>
                  <a:pt x="8531" y="2835"/>
                  <a:pt x="8687" y="2695"/>
                </a:cubicBezTo>
                <a:cubicBezTo>
                  <a:pt x="8820" y="2568"/>
                  <a:pt x="8887" y="2459"/>
                  <a:pt x="8887" y="2368"/>
                </a:cubicBezTo>
                <a:cubicBezTo>
                  <a:pt x="8887" y="2277"/>
                  <a:pt x="8820" y="2168"/>
                  <a:pt x="8687" y="2042"/>
                </a:cubicBezTo>
                <a:cubicBezTo>
                  <a:pt x="8531" y="1902"/>
                  <a:pt x="8313" y="1765"/>
                  <a:pt x="8032" y="1632"/>
                </a:cubicBezTo>
                <a:cubicBezTo>
                  <a:pt x="7646" y="1449"/>
                  <a:pt x="7191" y="1307"/>
                  <a:pt x="6665" y="1205"/>
                </a:cubicBezTo>
                <a:cubicBezTo>
                  <a:pt x="6139" y="1103"/>
                  <a:pt x="5584" y="1053"/>
                  <a:pt x="4999" y="1053"/>
                </a:cubicBezTo>
                <a:cubicBezTo>
                  <a:pt x="4413" y="1053"/>
                  <a:pt x="3858" y="1103"/>
                  <a:pt x="3333" y="1205"/>
                </a:cubicBezTo>
                <a:cubicBezTo>
                  <a:pt x="2807" y="1307"/>
                  <a:pt x="2351" y="1449"/>
                  <a:pt x="1966" y="1632"/>
                </a:cubicBezTo>
                <a:cubicBezTo>
                  <a:pt x="1684" y="1765"/>
                  <a:pt x="1466" y="1902"/>
                  <a:pt x="1311" y="2042"/>
                </a:cubicBezTo>
                <a:cubicBezTo>
                  <a:pt x="1177" y="2168"/>
                  <a:pt x="1111" y="2277"/>
                  <a:pt x="1111" y="2368"/>
                </a:cubicBezTo>
                <a:cubicBezTo>
                  <a:pt x="1111" y="2459"/>
                  <a:pt x="1177" y="2568"/>
                  <a:pt x="1311" y="2695"/>
                </a:cubicBezTo>
                <a:cubicBezTo>
                  <a:pt x="1466" y="2835"/>
                  <a:pt x="1684" y="2971"/>
                  <a:pt x="1966" y="3105"/>
                </a:cubicBezTo>
                <a:cubicBezTo>
                  <a:pt x="2351" y="3287"/>
                  <a:pt x="2807" y="3430"/>
                  <a:pt x="3333" y="3532"/>
                </a:cubicBezTo>
                <a:cubicBezTo>
                  <a:pt x="3858" y="3633"/>
                  <a:pt x="4413" y="3684"/>
                  <a:pt x="4999" y="3684"/>
                </a:cubicBezTo>
              </a:path>
            </a:pathLst>
          </a:custGeom>
          <a:solidFill>
            <a:srgbClr val="4A7FD7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5" name="TextBox 5"/>
          <p:cNvSpPr txBox="1"/>
          <p:nvPr/>
        </p:nvSpPr>
        <p:spPr>
          <a:xfrm>
            <a:off x="631320" y="476250"/>
            <a:ext cx="1110054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C20">
                    <a:alpha val="6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CONFIGURATION GUIDE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457086" y="752475"/>
            <a:ext cx="11274781" cy="469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1C2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DBCP 核心配置参数详解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457086" y="1390650"/>
            <a:ext cx="11274781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1A1C20">
                    <a:alpha val="8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DBCP 提供 8 个核心配置参数构成精细化资源调度策略，涵盖容量控制、空闲管理、检测回收三大维度。合理配置是确保连接池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1A1C20">
                    <a:alpha val="8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稳定运行的关键。</a:t>
            </a:r>
            <a:endParaRPr sz="1200" b="0" i="0" strike="noStrike">
              <a:solidFill>
                <a:srgbClr val="1A1C20">
                  <a:alpha val="8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57086" y="2068711"/>
            <a:ext cx="5523120" cy="12096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solidFill>
              <a:srgbClr val="E5E7E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457086" y="2068711"/>
            <a:ext cx="9522" cy="1209675"/>
          </a:xfrm>
          <a:prstGeom prst="line">
            <a:avLst/>
          </a:prstGeom>
          <a:ln w="28575">
            <a:solidFill>
              <a:srgbClr val="4A7FD7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>
            <a:off x="657135" y="2311598"/>
            <a:ext cx="171407" cy="1714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3054" y="6624"/>
                </a:moveTo>
                <a:lnTo>
                  <a:pt x="2403" y="5972"/>
                </a:lnTo>
                <a:lnTo>
                  <a:pt x="1110" y="7266"/>
                </a:lnTo>
                <a:lnTo>
                  <a:pt x="2733" y="8890"/>
                </a:lnTo>
                <a:lnTo>
                  <a:pt x="8888" y="2734"/>
                </a:lnTo>
                <a:lnTo>
                  <a:pt x="7265" y="1110"/>
                </a:lnTo>
                <a:lnTo>
                  <a:pt x="6292" y="2083"/>
                </a:lnTo>
                <a:lnTo>
                  <a:pt x="6944" y="2734"/>
                </a:lnTo>
                <a:lnTo>
                  <a:pt x="6292" y="3376"/>
                </a:lnTo>
                <a:lnTo>
                  <a:pt x="5650" y="2734"/>
                </a:lnTo>
                <a:lnTo>
                  <a:pt x="4678" y="3706"/>
                </a:lnTo>
                <a:lnTo>
                  <a:pt x="5650" y="4679"/>
                </a:lnTo>
                <a:lnTo>
                  <a:pt x="4999" y="5321"/>
                </a:lnTo>
                <a:lnTo>
                  <a:pt x="4027" y="4349"/>
                </a:lnTo>
                <a:lnTo>
                  <a:pt x="3054" y="5321"/>
                </a:lnTo>
                <a:lnTo>
                  <a:pt x="3706" y="5972"/>
                </a:lnTo>
                <a:lnTo>
                  <a:pt x="3054" y="6624"/>
                </a:lnTo>
                <a:moveTo>
                  <a:pt x="7595" y="138"/>
                </a:moveTo>
                <a:lnTo>
                  <a:pt x="9860" y="2404"/>
                </a:lnTo>
                <a:cubicBezTo>
                  <a:pt x="9952" y="2495"/>
                  <a:pt x="9998" y="2603"/>
                  <a:pt x="9998" y="2729"/>
                </a:cubicBezTo>
                <a:cubicBezTo>
                  <a:pt x="9998" y="2854"/>
                  <a:pt x="9952" y="2963"/>
                  <a:pt x="9860" y="3055"/>
                </a:cubicBezTo>
                <a:lnTo>
                  <a:pt x="3054" y="9862"/>
                </a:lnTo>
                <a:cubicBezTo>
                  <a:pt x="2962" y="9954"/>
                  <a:pt x="2854" y="10000"/>
                  <a:pt x="2729" y="10000"/>
                </a:cubicBezTo>
                <a:cubicBezTo>
                  <a:pt x="2603" y="10000"/>
                  <a:pt x="2495" y="9954"/>
                  <a:pt x="2403" y="9862"/>
                </a:cubicBezTo>
                <a:lnTo>
                  <a:pt x="138" y="7596"/>
                </a:lnTo>
                <a:cubicBezTo>
                  <a:pt x="46" y="7504"/>
                  <a:pt x="0" y="7396"/>
                  <a:pt x="0" y="7271"/>
                </a:cubicBezTo>
                <a:cubicBezTo>
                  <a:pt x="0" y="7145"/>
                  <a:pt x="46" y="7037"/>
                  <a:pt x="138" y="6945"/>
                </a:cubicBezTo>
                <a:lnTo>
                  <a:pt x="6944" y="138"/>
                </a:lnTo>
                <a:cubicBezTo>
                  <a:pt x="7035" y="46"/>
                  <a:pt x="7143" y="0"/>
                  <a:pt x="7269" y="0"/>
                </a:cubicBezTo>
                <a:cubicBezTo>
                  <a:pt x="7394" y="0"/>
                  <a:pt x="7503" y="46"/>
                  <a:pt x="7595" y="138"/>
                </a:cubicBezTo>
              </a:path>
            </a:pathLst>
          </a:custGeom>
          <a:solidFill>
            <a:srgbClr val="1A1C20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" name="TextBox 11"/>
          <p:cNvSpPr txBox="1"/>
          <p:nvPr/>
        </p:nvSpPr>
        <p:spPr>
          <a:xfrm>
            <a:off x="904798" y="2330648"/>
            <a:ext cx="508568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solidFill>
                  <a:srgbClr val="1A1C20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容量控制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676106" y="2649736"/>
            <a:ext cx="5304099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1A1C20">
                    <a:alpha val="90196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initialSize</a:t>
            </a:r>
            <a:r>
              <a:rPr sz="1100" b="0" i="0" strike="noStrike">
                <a:solidFill>
                  <a:srgbClr val="1A1C20">
                    <a:alpha val="90196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 设定启动基数，</a:t>
            </a:r>
            <a:r>
              <a:rPr sz="1100" b="1" i="0" strike="noStrike">
                <a:solidFill>
                  <a:srgbClr val="1A1C20">
                    <a:alpha val="90196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maxTotal</a:t>
            </a:r>
            <a:r>
              <a:rPr sz="1100" b="0" i="0" strike="noStrike">
                <a:solidFill>
                  <a:srgbClr val="1A1C20">
                    <a:alpha val="90196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 防止端口耗尽，</a:t>
            </a:r>
            <a:r>
              <a:rPr sz="1100" b="1" i="0" strike="noStrike">
                <a:solidFill>
                  <a:srgbClr val="1A1C20">
                    <a:alpha val="90196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maxWaitMillis</a:t>
            </a:r>
            <a:r>
              <a:rPr sz="1100" b="0" i="0" strike="noStrike">
                <a:solidFill>
                  <a:srgbClr val="1A1C20">
                    <a:alpha val="90196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 避免请求无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C20">
                    <a:alpha val="90196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限期阻塞。</a:t>
            </a:r>
            <a:endParaRPr sz="1100" b="0" i="0" strike="noStrike">
              <a:solidFill>
                <a:srgbClr val="1A1C20">
                  <a:alpha val="90196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08747" y="2068711"/>
            <a:ext cx="5523120" cy="12096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solidFill>
              <a:srgbClr val="E5E7E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AutoShape 14"/>
          <p:cNvSpPr/>
          <p:nvPr/>
        </p:nvSpPr>
        <p:spPr>
          <a:xfrm>
            <a:off x="6208747" y="2068711"/>
            <a:ext cx="9522" cy="1209675"/>
          </a:xfrm>
          <a:prstGeom prst="line">
            <a:avLst/>
          </a:prstGeom>
          <a:ln w="28575">
            <a:solidFill>
              <a:srgbClr val="4A7FD7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>
            <a:off x="6408797" y="2311598"/>
            <a:ext cx="171407" cy="1714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10000"/>
                </a:move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moveTo>
                  <a:pt x="5499" y="2500"/>
                </a:moveTo>
                <a:lnTo>
                  <a:pt x="5499" y="5000"/>
                </a:lnTo>
                <a:lnTo>
                  <a:pt x="7498" y="5000"/>
                </a:lnTo>
                <a:lnTo>
                  <a:pt x="7498" y="6000"/>
                </a:lnTo>
                <a:lnTo>
                  <a:pt x="4499" y="6000"/>
                </a:lnTo>
                <a:lnTo>
                  <a:pt x="4499" y="2500"/>
                </a:lnTo>
              </a:path>
            </a:pathLst>
          </a:custGeom>
          <a:solidFill>
            <a:srgbClr val="1A1C20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6" name="TextBox 16"/>
          <p:cNvSpPr txBox="1"/>
          <p:nvPr/>
        </p:nvSpPr>
        <p:spPr>
          <a:xfrm>
            <a:off x="6656460" y="2330648"/>
            <a:ext cx="508568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solidFill>
                  <a:srgbClr val="1A1C20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空闲管理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6427767" y="2649736"/>
            <a:ext cx="5304099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1A1C20">
                    <a:alpha val="90196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maxIdle</a:t>
            </a:r>
            <a:r>
              <a:rPr sz="1100" b="0" i="0" strike="noStrike">
                <a:solidFill>
                  <a:srgbClr val="1A1C20">
                    <a:alpha val="90196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 控制空闲上限以防浪费，</a:t>
            </a:r>
            <a:r>
              <a:rPr sz="1100" b="1" i="0" strike="noStrike">
                <a:solidFill>
                  <a:srgbClr val="1A1C20">
                    <a:alpha val="90196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minIdle</a:t>
            </a:r>
            <a:r>
              <a:rPr sz="1100" b="0" i="0" strike="noStrike">
                <a:solidFill>
                  <a:srgbClr val="1A1C20">
                    <a:alpha val="90196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 控制空闲下限保障响应，两者共同平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C20">
                    <a:alpha val="90196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衡资源占用。</a:t>
            </a:r>
            <a:endParaRPr sz="1100" b="0" i="0" strike="noStrike">
              <a:solidFill>
                <a:srgbClr val="1A1C20">
                  <a:alpha val="90196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57086" y="3506986"/>
            <a:ext cx="5523120" cy="12096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solidFill>
              <a:srgbClr val="E5E7E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AutoShape 19"/>
          <p:cNvSpPr/>
          <p:nvPr/>
        </p:nvSpPr>
        <p:spPr>
          <a:xfrm>
            <a:off x="457086" y="3506986"/>
            <a:ext cx="9522" cy="1209675"/>
          </a:xfrm>
          <a:prstGeom prst="line">
            <a:avLst/>
          </a:prstGeom>
          <a:ln w="28575">
            <a:solidFill>
              <a:srgbClr val="4A7FD7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AutoShape 20"/>
          <p:cNvSpPr/>
          <p:nvPr/>
        </p:nvSpPr>
        <p:spPr>
          <a:xfrm>
            <a:off x="657135" y="3749873"/>
            <a:ext cx="171407" cy="1714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8114" y="5300"/>
                </a:moveTo>
                <a:lnTo>
                  <a:pt x="8993" y="4800"/>
                </a:lnTo>
                <a:lnTo>
                  <a:pt x="9761" y="6130"/>
                </a:lnTo>
                <a:cubicBezTo>
                  <a:pt x="9922" y="6403"/>
                  <a:pt x="10001" y="6695"/>
                  <a:pt x="9998" y="7005"/>
                </a:cubicBezTo>
                <a:cubicBezTo>
                  <a:pt x="9994" y="7315"/>
                  <a:pt x="9915" y="7605"/>
                  <a:pt x="9761" y="7875"/>
                </a:cubicBezTo>
                <a:cubicBezTo>
                  <a:pt x="9605" y="8145"/>
                  <a:pt x="9391" y="8358"/>
                  <a:pt x="9119" y="8515"/>
                </a:cubicBezTo>
                <a:cubicBezTo>
                  <a:pt x="8846" y="8671"/>
                  <a:pt x="8551" y="8750"/>
                  <a:pt x="8235" y="8750"/>
                </a:cubicBezTo>
                <a:lnTo>
                  <a:pt x="7194" y="8750"/>
                </a:lnTo>
                <a:lnTo>
                  <a:pt x="7194" y="10000"/>
                </a:lnTo>
                <a:lnTo>
                  <a:pt x="4668" y="8250"/>
                </a:lnTo>
                <a:lnTo>
                  <a:pt x="7194" y="6500"/>
                </a:lnTo>
                <a:lnTo>
                  <a:pt x="7194" y="7750"/>
                </a:lnTo>
                <a:lnTo>
                  <a:pt x="8235" y="7750"/>
                </a:lnTo>
                <a:cubicBezTo>
                  <a:pt x="8369" y="7750"/>
                  <a:pt x="8494" y="7716"/>
                  <a:pt x="8609" y="7650"/>
                </a:cubicBezTo>
                <a:cubicBezTo>
                  <a:pt x="8790" y="7543"/>
                  <a:pt x="8908" y="7390"/>
                  <a:pt x="8962" y="7190"/>
                </a:cubicBezTo>
                <a:cubicBezTo>
                  <a:pt x="9016" y="6990"/>
                  <a:pt x="8992" y="6803"/>
                  <a:pt x="8892" y="6630"/>
                </a:cubicBezTo>
                <a:lnTo>
                  <a:pt x="8114" y="5300"/>
                </a:lnTo>
                <a:moveTo>
                  <a:pt x="0" y="4610"/>
                </a:moveTo>
                <a:lnTo>
                  <a:pt x="2799" y="3320"/>
                </a:lnTo>
                <a:lnTo>
                  <a:pt x="3062" y="6360"/>
                </a:lnTo>
                <a:lnTo>
                  <a:pt x="1970" y="5730"/>
                </a:lnTo>
                <a:lnTo>
                  <a:pt x="1455" y="6630"/>
                </a:lnTo>
                <a:cubicBezTo>
                  <a:pt x="1387" y="6743"/>
                  <a:pt x="1354" y="6866"/>
                  <a:pt x="1354" y="7000"/>
                </a:cubicBezTo>
                <a:cubicBezTo>
                  <a:pt x="1354" y="7206"/>
                  <a:pt x="1426" y="7383"/>
                  <a:pt x="1571" y="7530"/>
                </a:cubicBezTo>
                <a:cubicBezTo>
                  <a:pt x="1715" y="7676"/>
                  <a:pt x="1896" y="7750"/>
                  <a:pt x="2112" y="7750"/>
                </a:cubicBezTo>
                <a:lnTo>
                  <a:pt x="3658" y="7750"/>
                </a:lnTo>
                <a:lnTo>
                  <a:pt x="3658" y="8750"/>
                </a:lnTo>
                <a:lnTo>
                  <a:pt x="2112" y="8750"/>
                </a:lnTo>
                <a:cubicBezTo>
                  <a:pt x="1788" y="8750"/>
                  <a:pt x="1492" y="8671"/>
                  <a:pt x="1223" y="8515"/>
                </a:cubicBezTo>
                <a:cubicBezTo>
                  <a:pt x="953" y="8358"/>
                  <a:pt x="739" y="8146"/>
                  <a:pt x="581" y="7880"/>
                </a:cubicBezTo>
                <a:cubicBezTo>
                  <a:pt x="423" y="7613"/>
                  <a:pt x="344" y="7321"/>
                  <a:pt x="344" y="7005"/>
                </a:cubicBezTo>
                <a:cubicBezTo>
                  <a:pt x="344" y="6688"/>
                  <a:pt x="421" y="6396"/>
                  <a:pt x="576" y="6130"/>
                </a:cubicBezTo>
                <a:lnTo>
                  <a:pt x="1091" y="5230"/>
                </a:lnTo>
                <a:lnTo>
                  <a:pt x="0" y="4610"/>
                </a:lnTo>
                <a:moveTo>
                  <a:pt x="6052" y="230"/>
                </a:moveTo>
                <a:cubicBezTo>
                  <a:pt x="6328" y="390"/>
                  <a:pt x="6544" y="606"/>
                  <a:pt x="6699" y="880"/>
                </a:cubicBezTo>
                <a:lnTo>
                  <a:pt x="7224" y="1770"/>
                </a:lnTo>
                <a:lnTo>
                  <a:pt x="8316" y="1140"/>
                </a:lnTo>
                <a:lnTo>
                  <a:pt x="8043" y="4180"/>
                </a:lnTo>
                <a:lnTo>
                  <a:pt x="5254" y="2890"/>
                </a:lnTo>
                <a:lnTo>
                  <a:pt x="6345" y="2270"/>
                </a:lnTo>
                <a:lnTo>
                  <a:pt x="5830" y="1380"/>
                </a:lnTo>
                <a:cubicBezTo>
                  <a:pt x="5762" y="1260"/>
                  <a:pt x="5668" y="1166"/>
                  <a:pt x="5547" y="1100"/>
                </a:cubicBezTo>
                <a:cubicBezTo>
                  <a:pt x="5365" y="1000"/>
                  <a:pt x="5173" y="976"/>
                  <a:pt x="4971" y="1030"/>
                </a:cubicBezTo>
                <a:cubicBezTo>
                  <a:pt x="4769" y="1083"/>
                  <a:pt x="4617" y="1200"/>
                  <a:pt x="4517" y="1380"/>
                </a:cubicBezTo>
                <a:lnTo>
                  <a:pt x="3739" y="2700"/>
                </a:lnTo>
                <a:lnTo>
                  <a:pt x="2859" y="2200"/>
                </a:lnTo>
                <a:lnTo>
                  <a:pt x="3637" y="880"/>
                </a:lnTo>
                <a:cubicBezTo>
                  <a:pt x="3799" y="600"/>
                  <a:pt x="4016" y="383"/>
                  <a:pt x="4289" y="230"/>
                </a:cubicBezTo>
                <a:cubicBezTo>
                  <a:pt x="4561" y="76"/>
                  <a:pt x="4854" y="0"/>
                  <a:pt x="5168" y="0"/>
                </a:cubicBezTo>
                <a:cubicBezTo>
                  <a:pt x="5481" y="0"/>
                  <a:pt x="5776" y="76"/>
                  <a:pt x="6052" y="230"/>
                </a:cubicBezTo>
              </a:path>
            </a:pathLst>
          </a:custGeom>
          <a:solidFill>
            <a:srgbClr val="1A1C20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1" name="TextBox 21"/>
          <p:cNvSpPr txBox="1"/>
          <p:nvPr/>
        </p:nvSpPr>
        <p:spPr>
          <a:xfrm>
            <a:off x="904798" y="3768923"/>
            <a:ext cx="508568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solidFill>
                  <a:srgbClr val="1A1C20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检测回收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676106" y="4088011"/>
            <a:ext cx="5304099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1A1C20">
                    <a:alpha val="90196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timeBetweenEvictionRunsMillis</a:t>
            </a:r>
            <a:r>
              <a:rPr sz="1100" b="0" i="0" strike="noStrike">
                <a:solidFill>
                  <a:srgbClr val="1A1C20">
                    <a:alpha val="90196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 设置检查间隔，</a:t>
            </a:r>
            <a:r>
              <a:rPr sz="1100" b="1" i="0" strike="noStrike">
                <a:solidFill>
                  <a:srgbClr val="1A1C20">
                    <a:alpha val="90196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minEvictableIdleTimeMillis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C20">
                    <a:alpha val="90196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设置存活时间，超时自动销毁无效连接。</a:t>
            </a:r>
            <a:endParaRPr sz="1100" b="0" i="0" strike="noStrike">
              <a:solidFill>
                <a:srgbClr val="1A1C20">
                  <a:alpha val="90196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208747" y="3506986"/>
            <a:ext cx="5523120" cy="12096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solidFill>
              <a:srgbClr val="E5E7E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AutoShape 24"/>
          <p:cNvSpPr/>
          <p:nvPr/>
        </p:nvSpPr>
        <p:spPr>
          <a:xfrm>
            <a:off x="6208747" y="3506986"/>
            <a:ext cx="9522" cy="1209675"/>
          </a:xfrm>
          <a:prstGeom prst="line">
            <a:avLst/>
          </a:prstGeom>
          <a:ln w="28575">
            <a:solidFill>
              <a:srgbClr val="4A7FD7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AutoShape 25"/>
          <p:cNvSpPr/>
          <p:nvPr/>
        </p:nvSpPr>
        <p:spPr>
          <a:xfrm>
            <a:off x="6408797" y="3749873"/>
            <a:ext cx="171407" cy="1714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3737" y="7619"/>
                </a:moveTo>
                <a:lnTo>
                  <a:pt x="4374" y="7619"/>
                </a:lnTo>
                <a:lnTo>
                  <a:pt x="4374" y="5238"/>
                </a:lnTo>
                <a:lnTo>
                  <a:pt x="5624" y="5238"/>
                </a:lnTo>
                <a:lnTo>
                  <a:pt x="5624" y="7619"/>
                </a:lnTo>
                <a:lnTo>
                  <a:pt x="6261" y="7619"/>
                </a:lnTo>
                <a:cubicBezTo>
                  <a:pt x="6303" y="7346"/>
                  <a:pt x="6419" y="7079"/>
                  <a:pt x="6611" y="6819"/>
                </a:cubicBezTo>
                <a:cubicBezTo>
                  <a:pt x="6777" y="6584"/>
                  <a:pt x="7023" y="6330"/>
                  <a:pt x="7349" y="6057"/>
                </a:cubicBezTo>
                <a:lnTo>
                  <a:pt x="7523" y="5914"/>
                </a:lnTo>
                <a:cubicBezTo>
                  <a:pt x="7765" y="5724"/>
                  <a:pt x="7898" y="5619"/>
                  <a:pt x="7923" y="5600"/>
                </a:cubicBezTo>
                <a:cubicBezTo>
                  <a:pt x="8189" y="5346"/>
                  <a:pt x="8394" y="5066"/>
                  <a:pt x="8536" y="4762"/>
                </a:cubicBezTo>
                <a:cubicBezTo>
                  <a:pt x="8677" y="4457"/>
                  <a:pt x="8748" y="4140"/>
                  <a:pt x="8748" y="3810"/>
                </a:cubicBezTo>
                <a:cubicBezTo>
                  <a:pt x="8748" y="3295"/>
                  <a:pt x="8577" y="2815"/>
                  <a:pt x="8236" y="2371"/>
                </a:cubicBezTo>
                <a:cubicBezTo>
                  <a:pt x="7902" y="1939"/>
                  <a:pt x="7452" y="1597"/>
                  <a:pt x="6886" y="1343"/>
                </a:cubicBezTo>
                <a:cubicBezTo>
                  <a:pt x="6302" y="1082"/>
                  <a:pt x="5673" y="952"/>
                  <a:pt x="4999" y="952"/>
                </a:cubicBezTo>
                <a:cubicBezTo>
                  <a:pt x="4324" y="952"/>
                  <a:pt x="3695" y="1082"/>
                  <a:pt x="3112" y="1343"/>
                </a:cubicBezTo>
                <a:cubicBezTo>
                  <a:pt x="2545" y="1597"/>
                  <a:pt x="2095" y="1939"/>
                  <a:pt x="1762" y="2371"/>
                </a:cubicBezTo>
                <a:cubicBezTo>
                  <a:pt x="1420" y="2815"/>
                  <a:pt x="1250" y="3295"/>
                  <a:pt x="1250" y="3810"/>
                </a:cubicBezTo>
                <a:cubicBezTo>
                  <a:pt x="1250" y="4140"/>
                  <a:pt x="1320" y="4457"/>
                  <a:pt x="1462" y="4762"/>
                </a:cubicBezTo>
                <a:cubicBezTo>
                  <a:pt x="1604" y="5066"/>
                  <a:pt x="1808" y="5342"/>
                  <a:pt x="2075" y="5590"/>
                </a:cubicBezTo>
                <a:cubicBezTo>
                  <a:pt x="2099" y="5616"/>
                  <a:pt x="2233" y="5724"/>
                  <a:pt x="2475" y="5914"/>
                </a:cubicBezTo>
                <a:lnTo>
                  <a:pt x="2649" y="6057"/>
                </a:lnTo>
                <a:cubicBezTo>
                  <a:pt x="2974" y="6330"/>
                  <a:pt x="3220" y="6584"/>
                  <a:pt x="3387" y="6819"/>
                </a:cubicBezTo>
                <a:cubicBezTo>
                  <a:pt x="3578" y="7079"/>
                  <a:pt x="3695" y="7346"/>
                  <a:pt x="3737" y="7619"/>
                </a:cubicBezTo>
                <a:moveTo>
                  <a:pt x="6249" y="8571"/>
                </a:moveTo>
                <a:lnTo>
                  <a:pt x="3749" y="8571"/>
                </a:lnTo>
                <a:lnTo>
                  <a:pt x="3749" y="9048"/>
                </a:lnTo>
                <a:lnTo>
                  <a:pt x="6249" y="9048"/>
                </a:lnTo>
                <a:lnTo>
                  <a:pt x="6249" y="8571"/>
                </a:lnTo>
                <a:moveTo>
                  <a:pt x="1100" y="6190"/>
                </a:moveTo>
                <a:cubicBezTo>
                  <a:pt x="750" y="5860"/>
                  <a:pt x="479" y="5495"/>
                  <a:pt x="287" y="5095"/>
                </a:cubicBezTo>
                <a:cubicBezTo>
                  <a:pt x="95" y="4682"/>
                  <a:pt x="0" y="4254"/>
                  <a:pt x="0" y="3810"/>
                </a:cubicBezTo>
                <a:cubicBezTo>
                  <a:pt x="0" y="3117"/>
                  <a:pt x="229" y="2476"/>
                  <a:pt x="687" y="1886"/>
                </a:cubicBezTo>
                <a:cubicBezTo>
                  <a:pt x="1129" y="1314"/>
                  <a:pt x="1725" y="860"/>
                  <a:pt x="2475" y="524"/>
                </a:cubicBezTo>
                <a:cubicBezTo>
                  <a:pt x="3249" y="174"/>
                  <a:pt x="4091" y="0"/>
                  <a:pt x="4999" y="0"/>
                </a:cubicBezTo>
                <a:cubicBezTo>
                  <a:pt x="5907" y="0"/>
                  <a:pt x="6748" y="174"/>
                  <a:pt x="7523" y="524"/>
                </a:cubicBezTo>
                <a:cubicBezTo>
                  <a:pt x="8273" y="860"/>
                  <a:pt x="8869" y="1314"/>
                  <a:pt x="9311" y="1886"/>
                </a:cubicBezTo>
                <a:cubicBezTo>
                  <a:pt x="9769" y="2476"/>
                  <a:pt x="9998" y="3117"/>
                  <a:pt x="9998" y="3810"/>
                </a:cubicBezTo>
                <a:cubicBezTo>
                  <a:pt x="9998" y="4254"/>
                  <a:pt x="9902" y="4682"/>
                  <a:pt x="9711" y="5095"/>
                </a:cubicBezTo>
                <a:cubicBezTo>
                  <a:pt x="9519" y="5495"/>
                  <a:pt x="9248" y="5860"/>
                  <a:pt x="8898" y="6190"/>
                </a:cubicBezTo>
                <a:cubicBezTo>
                  <a:pt x="8840" y="6247"/>
                  <a:pt x="8723" y="6342"/>
                  <a:pt x="8548" y="6476"/>
                </a:cubicBezTo>
                <a:cubicBezTo>
                  <a:pt x="8223" y="6736"/>
                  <a:pt x="7994" y="6943"/>
                  <a:pt x="7861" y="7095"/>
                </a:cubicBezTo>
                <a:cubicBezTo>
                  <a:pt x="7619" y="7361"/>
                  <a:pt x="7499" y="7615"/>
                  <a:pt x="7499" y="7857"/>
                </a:cubicBezTo>
                <a:lnTo>
                  <a:pt x="7499" y="9048"/>
                </a:lnTo>
                <a:cubicBezTo>
                  <a:pt x="7499" y="9219"/>
                  <a:pt x="7442" y="9378"/>
                  <a:pt x="7330" y="9524"/>
                </a:cubicBezTo>
                <a:cubicBezTo>
                  <a:pt x="7217" y="9670"/>
                  <a:pt x="7065" y="9785"/>
                  <a:pt x="6874" y="9871"/>
                </a:cubicBezTo>
                <a:cubicBezTo>
                  <a:pt x="6682" y="9957"/>
                  <a:pt x="6473" y="10000"/>
                  <a:pt x="6249" y="10000"/>
                </a:cubicBezTo>
                <a:lnTo>
                  <a:pt x="3749" y="10000"/>
                </a:lnTo>
                <a:cubicBezTo>
                  <a:pt x="3524" y="10000"/>
                  <a:pt x="3316" y="9957"/>
                  <a:pt x="3124" y="9871"/>
                </a:cubicBezTo>
                <a:cubicBezTo>
                  <a:pt x="2932" y="9785"/>
                  <a:pt x="2780" y="9670"/>
                  <a:pt x="2668" y="9524"/>
                </a:cubicBezTo>
                <a:cubicBezTo>
                  <a:pt x="2556" y="9378"/>
                  <a:pt x="2500" y="9219"/>
                  <a:pt x="2500" y="9048"/>
                </a:cubicBezTo>
                <a:lnTo>
                  <a:pt x="2500" y="7857"/>
                </a:lnTo>
                <a:cubicBezTo>
                  <a:pt x="2500" y="7615"/>
                  <a:pt x="2379" y="7361"/>
                  <a:pt x="2137" y="7095"/>
                </a:cubicBezTo>
                <a:cubicBezTo>
                  <a:pt x="2003" y="6943"/>
                  <a:pt x="1774" y="6736"/>
                  <a:pt x="1450" y="6476"/>
                </a:cubicBezTo>
                <a:cubicBezTo>
                  <a:pt x="1274" y="6342"/>
                  <a:pt x="1158" y="6247"/>
                  <a:pt x="1100" y="6190"/>
                </a:cubicBezTo>
              </a:path>
            </a:pathLst>
          </a:custGeom>
          <a:solidFill>
            <a:srgbClr val="1A1C20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6" name="TextBox 26"/>
          <p:cNvSpPr txBox="1"/>
          <p:nvPr/>
        </p:nvSpPr>
        <p:spPr>
          <a:xfrm>
            <a:off x="6656460" y="3768923"/>
            <a:ext cx="508568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solidFill>
                  <a:srgbClr val="1A1C20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生产建议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6427767" y="4088011"/>
            <a:ext cx="5304099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C20">
                    <a:alpha val="90196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initialSize 设为 5-10，maxTotal 设为 20-50，maxIdle 与 minIdle 保持合理差值，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C20">
                    <a:alpha val="90196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务必开启 </a:t>
            </a:r>
            <a:r>
              <a:rPr sz="1100" b="1" i="0" strike="noStrike">
                <a:solidFill>
                  <a:srgbClr val="1A1C20">
                    <a:alpha val="90196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testOnBorrow</a:t>
            </a:r>
            <a:r>
              <a:rPr sz="1100" b="0" i="0" strike="noStrike">
                <a:solidFill>
                  <a:srgbClr val="1A1C20">
                    <a:alpha val="90196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 验证参数。</a:t>
            </a:r>
            <a:endParaRPr sz="1100" b="0" i="0" strike="noStrike">
              <a:solidFill>
                <a:srgbClr val="1A1C20">
                  <a:alpha val="90196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695151" y="5135761"/>
            <a:ext cx="1747549" cy="190500"/>
          </a:xfrm>
          <a:prstGeom prst="rect">
            <a:avLst/>
          </a:prstGeom>
          <a:ln>
            <a:headEnd type="none"/>
            <a:tailEnd type="none"/>
          </a:ln>
        </p:spPr>
      </p:sp>
      <p:sp>
        <p:nvSpPr>
          <p:cNvPr id="29" name="AutoShape 29"/>
          <p:cNvSpPr/>
          <p:nvPr/>
        </p:nvSpPr>
        <p:spPr>
          <a:xfrm>
            <a:off x="9974050" y="5169098"/>
            <a:ext cx="1548318" cy="133350"/>
          </a:xfrm>
          <a:prstGeom prst="rect">
            <a:avLst/>
          </a:prstGeom>
          <a:ln>
            <a:headEnd type="none"/>
            <a:tailEnd type="non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rgbClr val="F7F8FA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448977" y="485775"/>
            <a:ext cx="114271" cy="1143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111" y="3853"/>
                </a:moveTo>
                <a:lnTo>
                  <a:pt x="1111" y="5000"/>
                </a:lnTo>
                <a:cubicBezTo>
                  <a:pt x="1111" y="5091"/>
                  <a:pt x="1177" y="5200"/>
                  <a:pt x="1311" y="5326"/>
                </a:cubicBezTo>
                <a:cubicBezTo>
                  <a:pt x="1466" y="5466"/>
                  <a:pt x="1684" y="5603"/>
                  <a:pt x="1966" y="5737"/>
                </a:cubicBezTo>
                <a:cubicBezTo>
                  <a:pt x="2351" y="5919"/>
                  <a:pt x="2807" y="6061"/>
                  <a:pt x="3333" y="6163"/>
                </a:cubicBezTo>
                <a:cubicBezTo>
                  <a:pt x="3858" y="6265"/>
                  <a:pt x="4413" y="6316"/>
                  <a:pt x="4999" y="6316"/>
                </a:cubicBezTo>
                <a:cubicBezTo>
                  <a:pt x="5584" y="6316"/>
                  <a:pt x="6139" y="6265"/>
                  <a:pt x="6665" y="6163"/>
                </a:cubicBezTo>
                <a:cubicBezTo>
                  <a:pt x="7191" y="6061"/>
                  <a:pt x="7646" y="5919"/>
                  <a:pt x="8032" y="5737"/>
                </a:cubicBezTo>
                <a:cubicBezTo>
                  <a:pt x="8313" y="5603"/>
                  <a:pt x="8531" y="5466"/>
                  <a:pt x="8687" y="5326"/>
                </a:cubicBezTo>
                <a:cubicBezTo>
                  <a:pt x="8820" y="5200"/>
                  <a:pt x="8887" y="5091"/>
                  <a:pt x="8887" y="5000"/>
                </a:cubicBezTo>
                <a:lnTo>
                  <a:pt x="8887" y="3853"/>
                </a:lnTo>
                <a:cubicBezTo>
                  <a:pt x="8420" y="4126"/>
                  <a:pt x="7853" y="4340"/>
                  <a:pt x="7187" y="4495"/>
                </a:cubicBezTo>
                <a:cubicBezTo>
                  <a:pt x="6498" y="4656"/>
                  <a:pt x="5769" y="4737"/>
                  <a:pt x="4999" y="4737"/>
                </a:cubicBezTo>
                <a:cubicBezTo>
                  <a:pt x="4229" y="4737"/>
                  <a:pt x="3499" y="4656"/>
                  <a:pt x="2811" y="4495"/>
                </a:cubicBezTo>
                <a:cubicBezTo>
                  <a:pt x="2144" y="4340"/>
                  <a:pt x="1577" y="4126"/>
                  <a:pt x="1111" y="3853"/>
                </a:cubicBezTo>
                <a:moveTo>
                  <a:pt x="8887" y="7632"/>
                </a:moveTo>
                <a:lnTo>
                  <a:pt x="8887" y="6484"/>
                </a:lnTo>
                <a:cubicBezTo>
                  <a:pt x="8420" y="6758"/>
                  <a:pt x="7853" y="6972"/>
                  <a:pt x="7187" y="7126"/>
                </a:cubicBezTo>
                <a:cubicBezTo>
                  <a:pt x="6498" y="7287"/>
                  <a:pt x="5769" y="7368"/>
                  <a:pt x="4999" y="7368"/>
                </a:cubicBezTo>
                <a:cubicBezTo>
                  <a:pt x="4229" y="7368"/>
                  <a:pt x="3499" y="7287"/>
                  <a:pt x="2811" y="7126"/>
                </a:cubicBezTo>
                <a:cubicBezTo>
                  <a:pt x="2144" y="6972"/>
                  <a:pt x="1577" y="6758"/>
                  <a:pt x="1111" y="6484"/>
                </a:cubicBezTo>
                <a:lnTo>
                  <a:pt x="1111" y="7632"/>
                </a:lnTo>
                <a:cubicBezTo>
                  <a:pt x="1111" y="7722"/>
                  <a:pt x="1177" y="7831"/>
                  <a:pt x="1311" y="7958"/>
                </a:cubicBezTo>
                <a:cubicBezTo>
                  <a:pt x="1466" y="8098"/>
                  <a:pt x="1684" y="8234"/>
                  <a:pt x="1966" y="8368"/>
                </a:cubicBezTo>
                <a:cubicBezTo>
                  <a:pt x="2351" y="8550"/>
                  <a:pt x="2807" y="8693"/>
                  <a:pt x="3333" y="8795"/>
                </a:cubicBezTo>
                <a:cubicBezTo>
                  <a:pt x="3858" y="8896"/>
                  <a:pt x="4413" y="8947"/>
                  <a:pt x="4999" y="8947"/>
                </a:cubicBezTo>
                <a:cubicBezTo>
                  <a:pt x="5584" y="8947"/>
                  <a:pt x="6139" y="8896"/>
                  <a:pt x="6665" y="8795"/>
                </a:cubicBezTo>
                <a:cubicBezTo>
                  <a:pt x="7191" y="8693"/>
                  <a:pt x="7646" y="8550"/>
                  <a:pt x="8032" y="8368"/>
                </a:cubicBezTo>
                <a:cubicBezTo>
                  <a:pt x="8313" y="8234"/>
                  <a:pt x="8531" y="8098"/>
                  <a:pt x="8687" y="7958"/>
                </a:cubicBezTo>
                <a:cubicBezTo>
                  <a:pt x="8820" y="7831"/>
                  <a:pt x="8887" y="7722"/>
                  <a:pt x="8887" y="7632"/>
                </a:cubicBezTo>
                <a:moveTo>
                  <a:pt x="0" y="7632"/>
                </a:moveTo>
                <a:lnTo>
                  <a:pt x="0" y="2368"/>
                </a:lnTo>
                <a:cubicBezTo>
                  <a:pt x="0" y="1940"/>
                  <a:pt x="226" y="1540"/>
                  <a:pt x="678" y="1168"/>
                </a:cubicBezTo>
                <a:cubicBezTo>
                  <a:pt x="1122" y="817"/>
                  <a:pt x="1721" y="536"/>
                  <a:pt x="2477" y="326"/>
                </a:cubicBezTo>
                <a:cubicBezTo>
                  <a:pt x="3255" y="108"/>
                  <a:pt x="4095" y="0"/>
                  <a:pt x="4999" y="0"/>
                </a:cubicBezTo>
                <a:cubicBezTo>
                  <a:pt x="5902" y="0"/>
                  <a:pt x="6743" y="108"/>
                  <a:pt x="7521" y="326"/>
                </a:cubicBezTo>
                <a:cubicBezTo>
                  <a:pt x="8276" y="536"/>
                  <a:pt x="8876" y="817"/>
                  <a:pt x="9320" y="1168"/>
                </a:cubicBezTo>
                <a:cubicBezTo>
                  <a:pt x="9772" y="1540"/>
                  <a:pt x="9998" y="1940"/>
                  <a:pt x="9998" y="2368"/>
                </a:cubicBezTo>
                <a:lnTo>
                  <a:pt x="9998" y="7632"/>
                </a:lnTo>
                <a:cubicBezTo>
                  <a:pt x="9998" y="8060"/>
                  <a:pt x="9772" y="8460"/>
                  <a:pt x="9320" y="8832"/>
                </a:cubicBezTo>
                <a:cubicBezTo>
                  <a:pt x="8876" y="9182"/>
                  <a:pt x="8276" y="9463"/>
                  <a:pt x="7521" y="9674"/>
                </a:cubicBezTo>
                <a:cubicBezTo>
                  <a:pt x="6743" y="9891"/>
                  <a:pt x="5902" y="10000"/>
                  <a:pt x="4999" y="10000"/>
                </a:cubicBezTo>
                <a:cubicBezTo>
                  <a:pt x="4095" y="10000"/>
                  <a:pt x="3255" y="9891"/>
                  <a:pt x="2477" y="9674"/>
                </a:cubicBezTo>
                <a:cubicBezTo>
                  <a:pt x="1721" y="9463"/>
                  <a:pt x="1122" y="9182"/>
                  <a:pt x="678" y="8832"/>
                </a:cubicBezTo>
                <a:cubicBezTo>
                  <a:pt x="226" y="8460"/>
                  <a:pt x="0" y="8060"/>
                  <a:pt x="0" y="7632"/>
                </a:cubicBezTo>
                <a:moveTo>
                  <a:pt x="4999" y="3684"/>
                </a:moveTo>
                <a:cubicBezTo>
                  <a:pt x="5584" y="3684"/>
                  <a:pt x="6139" y="3633"/>
                  <a:pt x="6665" y="3532"/>
                </a:cubicBezTo>
                <a:cubicBezTo>
                  <a:pt x="7191" y="3430"/>
                  <a:pt x="7646" y="3287"/>
                  <a:pt x="8032" y="3105"/>
                </a:cubicBezTo>
                <a:cubicBezTo>
                  <a:pt x="8313" y="2971"/>
                  <a:pt x="8531" y="2835"/>
                  <a:pt x="8687" y="2695"/>
                </a:cubicBezTo>
                <a:cubicBezTo>
                  <a:pt x="8820" y="2568"/>
                  <a:pt x="8887" y="2459"/>
                  <a:pt x="8887" y="2368"/>
                </a:cubicBezTo>
                <a:cubicBezTo>
                  <a:pt x="8887" y="2277"/>
                  <a:pt x="8820" y="2168"/>
                  <a:pt x="8687" y="2042"/>
                </a:cubicBezTo>
                <a:cubicBezTo>
                  <a:pt x="8531" y="1902"/>
                  <a:pt x="8313" y="1765"/>
                  <a:pt x="8032" y="1632"/>
                </a:cubicBezTo>
                <a:cubicBezTo>
                  <a:pt x="7646" y="1449"/>
                  <a:pt x="7191" y="1307"/>
                  <a:pt x="6665" y="1205"/>
                </a:cubicBezTo>
                <a:cubicBezTo>
                  <a:pt x="6139" y="1103"/>
                  <a:pt x="5584" y="1053"/>
                  <a:pt x="4999" y="1053"/>
                </a:cubicBezTo>
                <a:cubicBezTo>
                  <a:pt x="4413" y="1053"/>
                  <a:pt x="3858" y="1103"/>
                  <a:pt x="3333" y="1205"/>
                </a:cubicBezTo>
                <a:cubicBezTo>
                  <a:pt x="2807" y="1307"/>
                  <a:pt x="2351" y="1449"/>
                  <a:pt x="1966" y="1632"/>
                </a:cubicBezTo>
                <a:cubicBezTo>
                  <a:pt x="1684" y="1765"/>
                  <a:pt x="1466" y="1902"/>
                  <a:pt x="1311" y="2042"/>
                </a:cubicBezTo>
                <a:cubicBezTo>
                  <a:pt x="1177" y="2168"/>
                  <a:pt x="1111" y="2277"/>
                  <a:pt x="1111" y="2368"/>
                </a:cubicBezTo>
                <a:cubicBezTo>
                  <a:pt x="1111" y="2459"/>
                  <a:pt x="1177" y="2568"/>
                  <a:pt x="1311" y="2695"/>
                </a:cubicBezTo>
                <a:cubicBezTo>
                  <a:pt x="1466" y="2835"/>
                  <a:pt x="1684" y="2971"/>
                  <a:pt x="1966" y="3105"/>
                </a:cubicBezTo>
                <a:cubicBezTo>
                  <a:pt x="2351" y="3287"/>
                  <a:pt x="2807" y="3430"/>
                  <a:pt x="3333" y="3532"/>
                </a:cubicBezTo>
                <a:cubicBezTo>
                  <a:pt x="3858" y="3633"/>
                  <a:pt x="4413" y="3684"/>
                  <a:pt x="4999" y="3684"/>
                </a:cubicBezTo>
              </a:path>
            </a:pathLst>
          </a:custGeom>
          <a:solidFill>
            <a:srgbClr val="4A7FD7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631320" y="476250"/>
            <a:ext cx="1110054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C20">
                    <a:alpha val="6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CONFIGURATION GUIDE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752475"/>
            <a:ext cx="11274781" cy="469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1C2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DBCP 核心配置参数详解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457086" y="1390650"/>
            <a:ext cx="11274781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1A1C20">
                    <a:alpha val="8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DBCP 提供 8 个核心配置参数构成精细化资源调度策略，涵盖容量控制、空闲管理、检测回收三大维度。合理配置是确保连接池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1A1C20">
                    <a:alpha val="8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稳定运行的关键。</a:t>
            </a:r>
            <a:endParaRPr sz="1200" b="0" i="0" strike="noStrike">
              <a:solidFill>
                <a:srgbClr val="1A1C20">
                  <a:alpha val="8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904798" y="2330648"/>
            <a:ext cx="508568" cy="133350"/>
          </a:xfrm>
          <a:prstGeom prst="rect">
            <a:avLst/>
          </a:prstGeom>
          <a:ln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676106" y="2649736"/>
            <a:ext cx="5304099" cy="390525"/>
          </a:xfrm>
          <a:prstGeom prst="rect">
            <a:avLst/>
          </a:prstGeom>
          <a:ln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6656460" y="2330648"/>
            <a:ext cx="508568" cy="133350"/>
          </a:xfrm>
          <a:prstGeom prst="rect">
            <a:avLst/>
          </a:prstGeom>
          <a:ln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>
            <a:off x="6427767" y="2649736"/>
            <a:ext cx="5304099" cy="390525"/>
          </a:xfrm>
          <a:prstGeom prst="rect">
            <a:avLst/>
          </a:prstGeom>
          <a:ln>
            <a:headEnd type="none"/>
            <a:tailEnd type="none"/>
          </a:ln>
        </p:spPr>
      </p:sp>
      <p:sp>
        <p:nvSpPr>
          <p:cNvPr id="11" name="AutoShape 11"/>
          <p:cNvSpPr/>
          <p:nvPr/>
        </p:nvSpPr>
        <p:spPr>
          <a:xfrm>
            <a:off x="904798" y="3768923"/>
            <a:ext cx="508568" cy="133350"/>
          </a:xfrm>
          <a:prstGeom prst="rect">
            <a:avLst/>
          </a:prstGeom>
          <a:ln>
            <a:headEnd type="none"/>
            <a:tailEnd type="none"/>
          </a:ln>
        </p:spPr>
      </p:sp>
      <p:sp>
        <p:nvSpPr>
          <p:cNvPr id="12" name="AutoShape 12"/>
          <p:cNvSpPr/>
          <p:nvPr/>
        </p:nvSpPr>
        <p:spPr>
          <a:xfrm>
            <a:off x="676106" y="4088011"/>
            <a:ext cx="5304099" cy="390525"/>
          </a:xfrm>
          <a:prstGeom prst="rect">
            <a:avLst/>
          </a:prstGeom>
          <a:ln>
            <a:headEnd type="none"/>
            <a:tailEnd type="none"/>
          </a:ln>
        </p:spPr>
      </p:sp>
      <p:sp>
        <p:nvSpPr>
          <p:cNvPr id="13" name="AutoShape 13"/>
          <p:cNvSpPr/>
          <p:nvPr/>
        </p:nvSpPr>
        <p:spPr>
          <a:xfrm>
            <a:off x="6656460" y="3768923"/>
            <a:ext cx="508568" cy="133350"/>
          </a:xfrm>
          <a:prstGeom prst="rect">
            <a:avLst/>
          </a:prstGeom>
          <a:ln>
            <a:headEnd type="none"/>
            <a:tailEnd type="none"/>
          </a:ln>
        </p:spPr>
      </p:sp>
      <p:sp>
        <p:nvSpPr>
          <p:cNvPr id="14" name="AutoShape 14"/>
          <p:cNvSpPr/>
          <p:nvPr/>
        </p:nvSpPr>
        <p:spPr>
          <a:xfrm>
            <a:off x="6427767" y="4088011"/>
            <a:ext cx="5304099" cy="390525"/>
          </a:xfrm>
          <a:prstGeom prst="rect">
            <a:avLst/>
          </a:prstGeom>
          <a:ln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>
            <a:off x="458610" y="1973461"/>
            <a:ext cx="11274781" cy="4528939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solidFill>
              <a:srgbClr val="E5E7E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AutoShape 16"/>
          <p:cNvSpPr/>
          <p:nvPr/>
        </p:nvSpPr>
        <p:spPr>
          <a:xfrm>
            <a:off x="468132" y="2397323"/>
            <a:ext cx="11255736" cy="9525"/>
          </a:xfrm>
          <a:prstGeom prst="line">
            <a:avLst/>
          </a:prstGeom>
          <a:ln w="9525">
            <a:solidFill>
              <a:srgbClr val="E5E7E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TextBox 17"/>
          <p:cNvSpPr txBox="1"/>
          <p:nvPr/>
        </p:nvSpPr>
        <p:spPr>
          <a:xfrm>
            <a:off x="698500" y="2087761"/>
            <a:ext cx="1747549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1A1C2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DBCP 核心配置参数表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974050" y="5169098"/>
            <a:ext cx="1548318" cy="133350"/>
          </a:xfrm>
          <a:prstGeom prst="rect">
            <a:avLst/>
          </a:prstGeom>
          <a:ln>
            <a:headEnd type="none"/>
            <a:tailEnd type="none"/>
          </a:ln>
        </p:spPr>
      </p:sp>
      <p:graphicFrame>
        <p:nvGraphicFramePr>
          <p:cNvPr id="19" name="Table 19"/>
          <p:cNvGraphicFramePr>
            <a:graphicFrameLocks noGrp="1"/>
          </p:cNvGraphicFramePr>
          <p:nvPr/>
        </p:nvGraphicFramePr>
        <p:xfrm>
          <a:off x="698500" y="2579886"/>
          <a:ext cx="10795000" cy="3797300"/>
        </p:xfrm>
        <a:graphic>
          <a:graphicData uri="http://schemas.openxmlformats.org/drawingml/2006/table">
            <a:tbl>
              <a:tblPr/>
              <a:tblGrid>
                <a:gridCol w="2159000"/>
                <a:gridCol w="1612900"/>
                <a:gridCol w="7010400"/>
              </a:tblGrid>
              <a:tr h="406400">
                <a:tc>
                  <a:txBody>
                    <a:bodyPr rot="0" wrap="square"/>
                    <a:p>
                      <a:pPr algn="l">
                        <a:defRPr sz="900" b="1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sz="900" b="1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参数名称</a:t>
                      </a:r>
                      <a:endParaRPr sz="900" b="1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9525" marR="9525" marT="114300" marB="114300" vert="horz" anchor="ctr" anchorCtr="0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sz="900" b="1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sz="900" b="1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默认值</a:t>
                      </a:r>
                      <a:endParaRPr sz="900" b="1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9525" marR="9525" marT="114300" marB="114300" vert="horz" anchor="ctr" anchorCtr="1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900" b="1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sz="900" b="1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功能说明</a:t>
                      </a:r>
                      <a:endParaRPr sz="900" b="1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9525" marR="9525" marT="114300" marB="114300" vert="horz" anchor="ctr" anchorCtr="0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</a:tr>
              <a:tr h="419100">
                <a:tc>
                  <a:txBody>
                    <a:bodyPr rot="0" wrap="square"/>
                    <a:p>
                      <a:pPr algn="l">
                        <a:defRPr sz="1000" b="1" i="0" strike="noStrike">
                          <a:solidFill>
                            <a:srgbClr val="4A7FD7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defRPr>
                      </a:pPr>
                      <a:r>
                        <a:rPr sz="1000" b="1" i="0" strike="noStrike">
                          <a:solidFill>
                            <a:srgbClr val="4A7FD7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rPr>
                        <a:t>initialSize</a:t>
                      </a:r>
                      <a:endParaRPr sz="1000" b="1" i="0" strike="noStrike">
                        <a:solidFill>
                          <a:srgbClr val="4A7FD7">
                            <a:alpha val="100000"/>
                          </a:srgbClr>
                        </a:solidFill>
                        <a:latin typeface="Poppins, sans-serif"/>
                        <a:ea typeface="Poppins, sans-serif"/>
                        <a:cs typeface="Poppins, sans-serif"/>
                      </a:endParaRPr>
                    </a:p>
                  </a:txBody>
                  <a:tcPr marL="9525" marR="9525" marT="114300" marB="114300" vert="horz" anchor="ctr" anchorCtr="0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defRPr>
                      </a:pPr>
                      <a:r>
                        <a: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rPr>
                        <a:t>0</a:t>
                      </a:r>
                      <a:endParaRPr sz="1000" b="0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Poppins, sans-serif"/>
                        <a:ea typeface="Poppins, sans-serif"/>
                        <a:cs typeface="Poppins, sans-serif"/>
                      </a:endParaRPr>
                    </a:p>
                  </a:txBody>
                  <a:tcPr marL="9525" marR="9525" marT="114300" marB="114300" vert="horz" anchor="ctr" anchorCtr="1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rPr>
                        <a:t>连接池初始化时创建的连接数量</a:t>
                      </a:r>
                      <a:endParaRPr sz="1000" b="0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&quot;Source Han Sans&quot;, sans-serif"/>
                        <a:ea typeface="&quot;Source Han Sans&quot;, sans-serif"/>
                        <a:cs typeface="&quot;Source Han Sans&quot;, sans-serif"/>
                      </a:endParaRPr>
                    </a:p>
                  </a:txBody>
                  <a:tcPr marL="9525" marR="9525" marT="114300" marB="114300" vert="horz" anchor="ctr" anchorCtr="0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</a:tr>
              <a:tr h="419100">
                <a:tc>
                  <a:txBody>
                    <a:bodyPr rot="0" wrap="square"/>
                    <a:p>
                      <a:pPr algn="l">
                        <a:defRPr sz="1000" b="1" i="0" strike="noStrike">
                          <a:solidFill>
                            <a:srgbClr val="4A7FD7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defRPr>
                      </a:pPr>
                      <a:r>
                        <a:rPr sz="1000" b="1" i="0" strike="noStrike">
                          <a:solidFill>
                            <a:srgbClr val="4A7FD7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rPr>
                        <a:t>maxTotal</a:t>
                      </a:r>
                      <a:endParaRPr sz="1000" b="1" i="0" strike="noStrike">
                        <a:solidFill>
                          <a:srgbClr val="4A7FD7">
                            <a:alpha val="100000"/>
                          </a:srgbClr>
                        </a:solidFill>
                        <a:latin typeface="Poppins, sans-serif"/>
                        <a:ea typeface="Poppins, sans-serif"/>
                        <a:cs typeface="Poppins, sans-serif"/>
                      </a:endParaRPr>
                    </a:p>
                  </a:txBody>
                  <a:tcPr marL="9525" marR="9525" marT="114300" marB="114300" vert="horz" anchor="ctr" anchorCtr="0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defRPr>
                      </a:pPr>
                      <a:r>
                        <a: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rPr>
                        <a:t>8</a:t>
                      </a:r>
                      <a:endParaRPr sz="1000" b="0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Poppins, sans-serif"/>
                        <a:ea typeface="Poppins, sans-serif"/>
                        <a:cs typeface="Poppins, sans-serif"/>
                      </a:endParaRPr>
                    </a:p>
                  </a:txBody>
                  <a:tcPr marL="9525" marR="9525" marT="114300" marB="114300" vert="horz" anchor="ctr" anchorCtr="1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rPr>
                        <a:t>连接池能容纳的最大连接总数，为 0 表示无限制</a:t>
                      </a:r>
                      <a:endParaRPr sz="1000" b="0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&quot;Source Han Sans&quot;, sans-serif"/>
                        <a:ea typeface="&quot;Source Han Sans&quot;, sans-serif"/>
                        <a:cs typeface="&quot;Source Han Sans&quot;, sans-serif"/>
                      </a:endParaRPr>
                    </a:p>
                  </a:txBody>
                  <a:tcPr marL="9525" marR="9525" marT="114300" marB="114300" vert="horz" anchor="ctr" anchorCtr="0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</a:tr>
              <a:tr h="419100">
                <a:tc>
                  <a:txBody>
                    <a:bodyPr rot="0" wrap="square"/>
                    <a:p>
                      <a:pPr algn="l">
                        <a:defRPr sz="1000" b="1" i="0" strike="noStrike">
                          <a:solidFill>
                            <a:srgbClr val="4A7FD7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defRPr>
                      </a:pPr>
                      <a:r>
                        <a:rPr sz="1000" b="1" i="0" strike="noStrike">
                          <a:solidFill>
                            <a:srgbClr val="4A7FD7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rPr>
                        <a:t>maxIdle</a:t>
                      </a:r>
                      <a:endParaRPr sz="1000" b="1" i="0" strike="noStrike">
                        <a:solidFill>
                          <a:srgbClr val="4A7FD7">
                            <a:alpha val="100000"/>
                          </a:srgbClr>
                        </a:solidFill>
                        <a:latin typeface="Poppins, sans-serif"/>
                        <a:ea typeface="Poppins, sans-serif"/>
                        <a:cs typeface="Poppins, sans-serif"/>
                      </a:endParaRPr>
                    </a:p>
                  </a:txBody>
                  <a:tcPr marL="9525" marR="9525" marT="114300" marB="114300" vert="horz" anchor="ctr" anchorCtr="0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defRPr>
                      </a:pPr>
                      <a:r>
                        <a: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rPr>
                        <a:t>8</a:t>
                      </a:r>
                      <a:endParaRPr sz="1000" b="0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Poppins, sans-serif"/>
                        <a:ea typeface="Poppins, sans-serif"/>
                        <a:cs typeface="Poppins, sans-serif"/>
                      </a:endParaRPr>
                    </a:p>
                  </a:txBody>
                  <a:tcPr marL="9525" marR="9525" marT="114300" marB="114300" vert="horz" anchor="ctr" anchorCtr="1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rPr>
                        <a:t>对象池中空闲对象的最大个数，超出则销毁</a:t>
                      </a:r>
                      <a:endParaRPr sz="1000" b="0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&quot;Source Han Sans&quot;, sans-serif"/>
                        <a:ea typeface="&quot;Source Han Sans&quot;, sans-serif"/>
                        <a:cs typeface="&quot;Source Han Sans&quot;, sans-serif"/>
                      </a:endParaRPr>
                    </a:p>
                  </a:txBody>
                  <a:tcPr marL="9525" marR="9525" marT="114300" marB="114300" vert="horz" anchor="ctr" anchorCtr="0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</a:tr>
              <a:tr h="419100">
                <a:tc>
                  <a:txBody>
                    <a:bodyPr rot="0" wrap="square"/>
                    <a:p>
                      <a:pPr algn="l">
                        <a:defRPr sz="1000" b="1" i="0" strike="noStrike">
                          <a:solidFill>
                            <a:srgbClr val="4A7FD7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defRPr>
                      </a:pPr>
                      <a:r>
                        <a:rPr sz="1000" b="1" i="0" strike="noStrike">
                          <a:solidFill>
                            <a:srgbClr val="4A7FD7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rPr>
                        <a:t>minIdle</a:t>
                      </a:r>
                      <a:endParaRPr sz="1000" b="1" i="0" strike="noStrike">
                        <a:solidFill>
                          <a:srgbClr val="4A7FD7">
                            <a:alpha val="100000"/>
                          </a:srgbClr>
                        </a:solidFill>
                        <a:latin typeface="Poppins, sans-serif"/>
                        <a:ea typeface="Poppins, sans-serif"/>
                        <a:cs typeface="Poppins, sans-serif"/>
                      </a:endParaRPr>
                    </a:p>
                  </a:txBody>
                  <a:tcPr marL="9525" marR="9525" marT="114300" marB="114300" vert="horz" anchor="ctr" anchorCtr="0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defRPr>
                      </a:pPr>
                      <a:r>
                        <a: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rPr>
                        <a:t>0</a:t>
                      </a:r>
                      <a:endParaRPr sz="1000" b="0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Poppins, sans-serif"/>
                        <a:ea typeface="Poppins, sans-serif"/>
                        <a:cs typeface="Poppins, sans-serif"/>
                      </a:endParaRPr>
                    </a:p>
                  </a:txBody>
                  <a:tcPr marL="9525" marR="9525" marT="114300" marB="114300" vert="horz" anchor="ctr" anchorCtr="1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rPr>
                        <a:t>对象池中空闲对象的最小个数，低于则创建</a:t>
                      </a:r>
                      <a:endParaRPr sz="1000" b="0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&quot;Source Han Sans&quot;, sans-serif"/>
                        <a:ea typeface="&quot;Source Han Sans&quot;, sans-serif"/>
                        <a:cs typeface="&quot;Source Han Sans&quot;, sans-serif"/>
                      </a:endParaRPr>
                    </a:p>
                  </a:txBody>
                  <a:tcPr marL="9525" marR="9525" marT="114300" marB="114300" vert="horz" anchor="ctr" anchorCtr="0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</a:tr>
              <a:tr h="419100">
                <a:tc>
                  <a:txBody>
                    <a:bodyPr rot="0" wrap="square"/>
                    <a:p>
                      <a:pPr algn="l">
                        <a:defRPr sz="1000" b="1" i="0" strike="noStrike">
                          <a:solidFill>
                            <a:srgbClr val="4A7FD7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defRPr>
                      </a:pPr>
                      <a:r>
                        <a:rPr sz="1000" b="1" i="0" strike="noStrike">
                          <a:solidFill>
                            <a:srgbClr val="4A7FD7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rPr>
                        <a:t>maxWaitMillis</a:t>
                      </a:r>
                      <a:endParaRPr sz="1000" b="1" i="0" strike="noStrike">
                        <a:solidFill>
                          <a:srgbClr val="4A7FD7">
                            <a:alpha val="100000"/>
                          </a:srgbClr>
                        </a:solidFill>
                        <a:latin typeface="Poppins, sans-serif"/>
                        <a:ea typeface="Poppins, sans-serif"/>
                        <a:cs typeface="Poppins, sans-serif"/>
                      </a:endParaRPr>
                    </a:p>
                  </a:txBody>
                  <a:tcPr marL="9525" marR="9525" marT="114300" marB="114300" vert="horz" anchor="ctr" anchorCtr="0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defRPr>
                      </a:pPr>
                      <a:r>
                        <a: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rPr>
                        <a:t>-1</a:t>
                      </a:r>
                      <a:endParaRPr sz="1000" b="0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Poppins, sans-serif"/>
                        <a:ea typeface="Poppins, sans-serif"/>
                        <a:cs typeface="Poppins, sans-serif"/>
                      </a:endParaRPr>
                    </a:p>
                  </a:txBody>
                  <a:tcPr marL="9525" marR="9525" marT="114300" marB="114300" vert="horz" anchor="ctr" anchorCtr="1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rPr>
                        <a:t>获取连接的最大等待时间，-1 表示无限等待</a:t>
                      </a:r>
                      <a:endParaRPr sz="1000" b="0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&quot;Source Han Sans&quot;, sans-serif"/>
                        <a:ea typeface="&quot;Source Han Sans&quot;, sans-serif"/>
                        <a:cs typeface="&quot;Source Han Sans&quot;, sans-serif"/>
                      </a:endParaRPr>
                    </a:p>
                  </a:txBody>
                  <a:tcPr marL="9525" marR="9525" marT="114300" marB="114300" vert="horz" anchor="ctr" anchorCtr="0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</a:tr>
              <a:tr h="419100">
                <a:tc>
                  <a:txBody>
                    <a:bodyPr rot="0" wrap="square"/>
                    <a:p>
                      <a:pPr algn="l">
                        <a:defRPr sz="1000" b="1" i="0" strike="noStrike">
                          <a:solidFill>
                            <a:srgbClr val="4A7FD7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defRPr>
                      </a:pPr>
                      <a:r>
                        <a:rPr sz="1000" b="1" i="0" strike="noStrike">
                          <a:solidFill>
                            <a:srgbClr val="4A7FD7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rPr>
                        <a:t>timeBetweenEvictionRunsMillis</a:t>
                      </a:r>
                      <a:endParaRPr sz="1000" b="1" i="0" strike="noStrike">
                        <a:solidFill>
                          <a:srgbClr val="4A7FD7">
                            <a:alpha val="100000"/>
                          </a:srgbClr>
                        </a:solidFill>
                        <a:latin typeface="Poppins, sans-serif"/>
                        <a:ea typeface="Poppins, sans-serif"/>
                        <a:cs typeface="Poppins, sans-serif"/>
                      </a:endParaRPr>
                    </a:p>
                  </a:txBody>
                  <a:tcPr marL="9525" marR="9525" marT="114300" marB="114300" vert="horz" anchor="ctr" anchorCtr="0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defRPr>
                      </a:pPr>
                      <a:r>
                        <a: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rPr>
                        <a:t>-1</a:t>
                      </a:r>
                      <a:endParaRPr sz="1000" b="0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Poppins, sans-serif"/>
                        <a:ea typeface="Poppins, sans-serif"/>
                        <a:cs typeface="Poppins, sans-serif"/>
                      </a:endParaRPr>
                    </a:p>
                  </a:txBody>
                  <a:tcPr marL="9525" marR="9525" marT="114300" marB="114300" vert="horz" anchor="ctr" anchorCtr="1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rPr>
                        <a:t>失效检查线程运行时间间隔，小于等于 0 不启动检查</a:t>
                      </a:r>
                      <a:endParaRPr sz="1000" b="0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&quot;Source Han Sans&quot;, sans-serif"/>
                        <a:ea typeface="&quot;Source Han Sans&quot;, sans-serif"/>
                        <a:cs typeface="&quot;Source Han Sans&quot;, sans-serif"/>
                      </a:endParaRPr>
                    </a:p>
                  </a:txBody>
                  <a:tcPr marL="9525" marR="9525" marT="114300" marB="114300" vert="horz" anchor="ctr" anchorCtr="0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</a:tr>
              <a:tr h="419100">
                <a:tc>
                  <a:txBody>
                    <a:bodyPr rot="0" wrap="square"/>
                    <a:p>
                      <a:pPr algn="l">
                        <a:defRPr sz="1000" b="1" i="0" strike="noStrike">
                          <a:solidFill>
                            <a:srgbClr val="4A7FD7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defRPr>
                      </a:pPr>
                      <a:r>
                        <a:rPr sz="1000" b="1" i="0" strike="noStrike">
                          <a:solidFill>
                            <a:srgbClr val="4A7FD7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rPr>
                        <a:t>minEvictableIdleTimeMillis</a:t>
                      </a:r>
                      <a:endParaRPr sz="1000" b="1" i="0" strike="noStrike">
                        <a:solidFill>
                          <a:srgbClr val="4A7FD7">
                            <a:alpha val="100000"/>
                          </a:srgbClr>
                        </a:solidFill>
                        <a:latin typeface="Poppins, sans-serif"/>
                        <a:ea typeface="Poppins, sans-serif"/>
                        <a:cs typeface="Poppins, sans-serif"/>
                      </a:endParaRPr>
                    </a:p>
                  </a:txBody>
                  <a:tcPr marL="9525" marR="9525" marT="114300" marB="114300" vert="horz" anchor="ctr" anchorCtr="0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defRPr>
                      </a:pPr>
                      <a:r>
                        <a: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rPr>
                        <a:t>1800000</a:t>
                      </a:r>
                      <a:endParaRPr sz="1000" b="0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Poppins, sans-serif"/>
                        <a:ea typeface="Poppins, sans-serif"/>
                        <a:cs typeface="Poppins, sans-serif"/>
                      </a:endParaRPr>
                    </a:p>
                  </a:txBody>
                  <a:tcPr marL="9525" marR="9525" marT="114300" marB="114300" vert="horz" anchor="ctr" anchorCtr="1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rPr>
                        <a:t>连接最小空闲存活时间，默认 30 分钟，超时则销毁</a:t>
                      </a:r>
                      <a:endParaRPr sz="1000" b="0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&quot;Source Han Sans&quot;, sans-serif"/>
                        <a:ea typeface="&quot;Source Han Sans&quot;, sans-serif"/>
                        <a:cs typeface="&quot;Source Han Sans&quot;, sans-serif"/>
                      </a:endParaRPr>
                    </a:p>
                  </a:txBody>
                  <a:tcPr marL="9525" marR="9525" marT="114300" marB="114300" vert="horz" anchor="ctr" anchorCtr="0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</a:tr>
              <a:tr h="406400">
                <a:tc>
                  <a:txBody>
                    <a:bodyPr rot="0" wrap="square"/>
                    <a:p>
                      <a:pPr algn="l">
                        <a:defRPr sz="1000" b="1" i="0" strike="noStrike">
                          <a:solidFill>
                            <a:srgbClr val="4A7FD7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defRPr>
                      </a:pPr>
                      <a:r>
                        <a:rPr sz="1000" b="1" i="0" strike="noStrike">
                          <a:solidFill>
                            <a:srgbClr val="4A7FD7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rPr>
                        <a:t>testOnBorrow</a:t>
                      </a:r>
                      <a:endParaRPr sz="1000" b="1" i="0" strike="noStrike">
                        <a:solidFill>
                          <a:srgbClr val="4A7FD7">
                            <a:alpha val="100000"/>
                          </a:srgbClr>
                        </a:solidFill>
                        <a:latin typeface="Poppins, sans-serif"/>
                        <a:ea typeface="Poppins, sans-serif"/>
                        <a:cs typeface="Poppins, sans-serif"/>
                      </a:endParaRPr>
                    </a:p>
                  </a:txBody>
                  <a:tcPr marL="9525" marR="9525" marT="114300" marB="114300" vert="horz" anchor="ctr" anchorCtr="0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defRPr>
                      </a:pPr>
                      <a:r>
                        <a: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Poppins, sans-serif"/>
                          <a:ea typeface="Poppins, sans-serif"/>
                          <a:cs typeface="Poppins, sans-serif"/>
                        </a:rPr>
                        <a:t>false</a:t>
                      </a:r>
                      <a:endParaRPr sz="1000" b="0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Poppins, sans-serif"/>
                        <a:ea typeface="Poppins, sans-serif"/>
                        <a:cs typeface="Poppins, sans-serif"/>
                      </a:endParaRPr>
                    </a:p>
                  </a:txBody>
                  <a:tcPr marL="9525" marR="9525" marT="114300" marB="114300" vert="horz" anchor="ctr" anchorCtr="1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000" b="0" i="0" strike="noStrike"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rPr>
                        <a:t>借出前是否进行连接有效性验证，建议设为 true</a:t>
                      </a:r>
                      <a:endParaRPr sz="1000" b="0" i="0" strike="noStrike">
                        <a:solidFill>
                          <a:srgbClr val="1A1C20">
                            <a:alpha val="100000"/>
                          </a:srgbClr>
                        </a:solidFill>
                        <a:latin typeface="&quot;Source Han Sans&quot;, sans-serif"/>
                        <a:ea typeface="&quot;Source Han Sans&quot;, sans-serif"/>
                        <a:cs typeface="&quot;Source Han Sans&quot;, sans-serif"/>
                      </a:endParaRPr>
                    </a:p>
                  </a:txBody>
                  <a:tcPr marL="9525" marR="9525" marT="114300" marB="114300" vert="horz" anchor="ctr" anchorCtr="0">
                    <a:lnL w="25400">
                      <a:solidFill>
                        <a:srgbClr val="1A1C20">
                          <a:alpha val="100000"/>
                        </a:srgbClr>
                      </a:solidFill>
                    </a:lnL>
                    <a:lnR w="25400">
                      <a:solidFill>
                        <a:srgbClr val="1A1C20">
                          <a:alpha val="100000"/>
                        </a:srgbClr>
                      </a:solidFill>
                    </a:lnR>
                    <a:lnT w="25400">
                      <a:solidFill>
                        <a:srgbClr val="1A1C20">
                          <a:alpha val="100000"/>
                        </a:srgbClr>
                      </a:solidFill>
                    </a:lnT>
                    <a:lnB w="25400">
                      <a:solidFill>
                        <a:srgbClr val="1A1C20">
                          <a:alpha val="100000"/>
                        </a:srgbClr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3333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A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>
            <a:off x="448977" y="485775"/>
            <a:ext cx="114271" cy="1143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33" y="827"/>
                </a:moveTo>
                <a:lnTo>
                  <a:pt x="4999" y="0"/>
                </a:lnTo>
                <a:lnTo>
                  <a:pt x="9565" y="827"/>
                </a:lnTo>
                <a:cubicBezTo>
                  <a:pt x="9691" y="851"/>
                  <a:pt x="9794" y="906"/>
                  <a:pt x="9876" y="991"/>
                </a:cubicBezTo>
                <a:cubicBezTo>
                  <a:pt x="9957" y="1075"/>
                  <a:pt x="9998" y="1169"/>
                  <a:pt x="9998" y="1273"/>
                </a:cubicBezTo>
                <a:lnTo>
                  <a:pt x="9998" y="5809"/>
                </a:lnTo>
                <a:cubicBezTo>
                  <a:pt x="9998" y="6269"/>
                  <a:pt x="9866" y="6700"/>
                  <a:pt x="9604" y="7100"/>
                </a:cubicBezTo>
                <a:cubicBezTo>
                  <a:pt x="9340" y="7500"/>
                  <a:pt x="8975" y="7827"/>
                  <a:pt x="8509" y="8082"/>
                </a:cubicBezTo>
                <a:lnTo>
                  <a:pt x="4999" y="10000"/>
                </a:lnTo>
                <a:lnTo>
                  <a:pt x="1489" y="8082"/>
                </a:lnTo>
                <a:cubicBezTo>
                  <a:pt x="1022" y="7827"/>
                  <a:pt x="657" y="7500"/>
                  <a:pt x="394" y="7100"/>
                </a:cubicBezTo>
                <a:cubicBezTo>
                  <a:pt x="131" y="6700"/>
                  <a:pt x="0" y="6269"/>
                  <a:pt x="0" y="5809"/>
                </a:cubicBezTo>
                <a:lnTo>
                  <a:pt x="0" y="1273"/>
                </a:lnTo>
                <a:cubicBezTo>
                  <a:pt x="0" y="1169"/>
                  <a:pt x="40" y="1075"/>
                  <a:pt x="122" y="991"/>
                </a:cubicBezTo>
                <a:cubicBezTo>
                  <a:pt x="203" y="906"/>
                  <a:pt x="307" y="851"/>
                  <a:pt x="433" y="827"/>
                </a:cubicBezTo>
                <a:moveTo>
                  <a:pt x="8887" y="1636"/>
                </a:moveTo>
                <a:lnTo>
                  <a:pt x="4999" y="927"/>
                </a:lnTo>
                <a:lnTo>
                  <a:pt x="1111" y="1636"/>
                </a:lnTo>
                <a:lnTo>
                  <a:pt x="1111" y="5809"/>
                </a:lnTo>
                <a:cubicBezTo>
                  <a:pt x="1111" y="6118"/>
                  <a:pt x="1198" y="6406"/>
                  <a:pt x="1372" y="6673"/>
                </a:cubicBezTo>
                <a:cubicBezTo>
                  <a:pt x="1546" y="6939"/>
                  <a:pt x="1788" y="7157"/>
                  <a:pt x="2100" y="7327"/>
                </a:cubicBezTo>
                <a:lnTo>
                  <a:pt x="4999" y="8909"/>
                </a:lnTo>
                <a:lnTo>
                  <a:pt x="7898" y="7327"/>
                </a:lnTo>
                <a:cubicBezTo>
                  <a:pt x="8209" y="7157"/>
                  <a:pt x="8452" y="6939"/>
                  <a:pt x="8626" y="6673"/>
                </a:cubicBezTo>
                <a:cubicBezTo>
                  <a:pt x="8800" y="6406"/>
                  <a:pt x="8887" y="6118"/>
                  <a:pt x="8887" y="5809"/>
                </a:cubicBezTo>
                <a:lnTo>
                  <a:pt x="8887" y="1636"/>
                </a:lnTo>
                <a:moveTo>
                  <a:pt x="4721" y="5536"/>
                </a:moveTo>
                <a:lnTo>
                  <a:pt x="7476" y="3282"/>
                </a:lnTo>
                <a:lnTo>
                  <a:pt x="8254" y="3927"/>
                </a:lnTo>
                <a:lnTo>
                  <a:pt x="4721" y="6818"/>
                </a:lnTo>
                <a:lnTo>
                  <a:pt x="2366" y="4891"/>
                </a:lnTo>
                <a:lnTo>
                  <a:pt x="3155" y="4245"/>
                </a:lnTo>
              </a:path>
            </a:pathLst>
          </a:custGeom>
          <a:solidFill>
            <a:srgbClr val="4A7FD7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5" name="TextBox 5"/>
          <p:cNvSpPr txBox="1"/>
          <p:nvPr/>
        </p:nvSpPr>
        <p:spPr>
          <a:xfrm>
            <a:off x="631320" y="476250"/>
            <a:ext cx="1110054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C20">
                    <a:alpha val="6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BEST PRACTICES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457086" y="752475"/>
            <a:ext cx="11274781" cy="4286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1C2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注意事项与最佳实践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457086" y="1390650"/>
            <a:ext cx="8570358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1A1C20">
                    <a:alpha val="8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DBCP 连接池配置的核心在于验证机制的完整性与资源释放的规范性，确保系统在高并发下的稳定性。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57086" y="1901130"/>
            <a:ext cx="11274781" cy="1347490"/>
          </a:xfrm>
          <a:prstGeom prst="roundRect">
            <a:avLst>
              <a:gd name="adj" fmla="val 3837"/>
            </a:avLst>
          </a:prstGeom>
          <a:solidFill>
            <a:srgbClr val="FFFFFF">
              <a:alpha val="100000"/>
            </a:srgbClr>
          </a:solidFill>
          <a:ln w="9525">
            <a:solidFill>
              <a:srgbClr val="E5E7E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457086" y="1901130"/>
            <a:ext cx="11274781" cy="9525"/>
          </a:xfrm>
          <a:prstGeom prst="line">
            <a:avLst/>
          </a:prstGeom>
          <a:ln w="28575">
            <a:solidFill>
              <a:srgbClr val="4A7FD7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>
            <a:off x="674023" y="2064544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111" y="3853"/>
                </a:moveTo>
                <a:lnTo>
                  <a:pt x="1111" y="5000"/>
                </a:lnTo>
                <a:cubicBezTo>
                  <a:pt x="1111" y="5091"/>
                  <a:pt x="1177" y="5200"/>
                  <a:pt x="1311" y="5326"/>
                </a:cubicBezTo>
                <a:cubicBezTo>
                  <a:pt x="1466" y="5466"/>
                  <a:pt x="1684" y="5603"/>
                  <a:pt x="1966" y="5737"/>
                </a:cubicBezTo>
                <a:cubicBezTo>
                  <a:pt x="2351" y="5919"/>
                  <a:pt x="2807" y="6061"/>
                  <a:pt x="3333" y="6163"/>
                </a:cubicBezTo>
                <a:cubicBezTo>
                  <a:pt x="3858" y="6265"/>
                  <a:pt x="4413" y="6316"/>
                  <a:pt x="4999" y="6316"/>
                </a:cubicBezTo>
                <a:cubicBezTo>
                  <a:pt x="5584" y="6316"/>
                  <a:pt x="6139" y="6265"/>
                  <a:pt x="6665" y="6163"/>
                </a:cubicBezTo>
                <a:cubicBezTo>
                  <a:pt x="7191" y="6061"/>
                  <a:pt x="7646" y="5919"/>
                  <a:pt x="8032" y="5737"/>
                </a:cubicBezTo>
                <a:cubicBezTo>
                  <a:pt x="8313" y="5603"/>
                  <a:pt x="8531" y="5466"/>
                  <a:pt x="8687" y="5326"/>
                </a:cubicBezTo>
                <a:cubicBezTo>
                  <a:pt x="8820" y="5200"/>
                  <a:pt x="8887" y="5091"/>
                  <a:pt x="8887" y="5000"/>
                </a:cubicBezTo>
                <a:lnTo>
                  <a:pt x="8887" y="3853"/>
                </a:lnTo>
                <a:cubicBezTo>
                  <a:pt x="8420" y="4126"/>
                  <a:pt x="7853" y="4340"/>
                  <a:pt x="7187" y="4495"/>
                </a:cubicBezTo>
                <a:cubicBezTo>
                  <a:pt x="6498" y="4656"/>
                  <a:pt x="5769" y="4737"/>
                  <a:pt x="4999" y="4737"/>
                </a:cubicBezTo>
                <a:cubicBezTo>
                  <a:pt x="4229" y="4737"/>
                  <a:pt x="3499" y="4656"/>
                  <a:pt x="2811" y="4495"/>
                </a:cubicBezTo>
                <a:cubicBezTo>
                  <a:pt x="2144" y="4340"/>
                  <a:pt x="1577" y="4126"/>
                  <a:pt x="1111" y="3853"/>
                </a:cubicBezTo>
                <a:moveTo>
                  <a:pt x="8887" y="7632"/>
                </a:moveTo>
                <a:lnTo>
                  <a:pt x="8887" y="6484"/>
                </a:lnTo>
                <a:cubicBezTo>
                  <a:pt x="8420" y="6758"/>
                  <a:pt x="7853" y="6972"/>
                  <a:pt x="7187" y="7126"/>
                </a:cubicBezTo>
                <a:cubicBezTo>
                  <a:pt x="6498" y="7287"/>
                  <a:pt x="5769" y="7368"/>
                  <a:pt x="4999" y="7368"/>
                </a:cubicBezTo>
                <a:cubicBezTo>
                  <a:pt x="4229" y="7368"/>
                  <a:pt x="3499" y="7287"/>
                  <a:pt x="2811" y="7126"/>
                </a:cubicBezTo>
                <a:cubicBezTo>
                  <a:pt x="2144" y="6972"/>
                  <a:pt x="1577" y="6758"/>
                  <a:pt x="1111" y="6484"/>
                </a:cubicBezTo>
                <a:lnTo>
                  <a:pt x="1111" y="7632"/>
                </a:lnTo>
                <a:cubicBezTo>
                  <a:pt x="1111" y="7722"/>
                  <a:pt x="1177" y="7831"/>
                  <a:pt x="1311" y="7958"/>
                </a:cubicBezTo>
                <a:cubicBezTo>
                  <a:pt x="1466" y="8098"/>
                  <a:pt x="1684" y="8234"/>
                  <a:pt x="1966" y="8368"/>
                </a:cubicBezTo>
                <a:cubicBezTo>
                  <a:pt x="2351" y="8550"/>
                  <a:pt x="2807" y="8693"/>
                  <a:pt x="3333" y="8795"/>
                </a:cubicBezTo>
                <a:cubicBezTo>
                  <a:pt x="3858" y="8896"/>
                  <a:pt x="4413" y="8947"/>
                  <a:pt x="4999" y="8947"/>
                </a:cubicBezTo>
                <a:cubicBezTo>
                  <a:pt x="5584" y="8947"/>
                  <a:pt x="6139" y="8896"/>
                  <a:pt x="6665" y="8795"/>
                </a:cubicBezTo>
                <a:cubicBezTo>
                  <a:pt x="7191" y="8693"/>
                  <a:pt x="7646" y="8550"/>
                  <a:pt x="8032" y="8368"/>
                </a:cubicBezTo>
                <a:cubicBezTo>
                  <a:pt x="8313" y="8234"/>
                  <a:pt x="8531" y="8098"/>
                  <a:pt x="8687" y="7958"/>
                </a:cubicBezTo>
                <a:cubicBezTo>
                  <a:pt x="8820" y="7831"/>
                  <a:pt x="8887" y="7722"/>
                  <a:pt x="8887" y="7632"/>
                </a:cubicBezTo>
                <a:moveTo>
                  <a:pt x="0" y="7632"/>
                </a:moveTo>
                <a:lnTo>
                  <a:pt x="0" y="2368"/>
                </a:lnTo>
                <a:cubicBezTo>
                  <a:pt x="0" y="1940"/>
                  <a:pt x="226" y="1540"/>
                  <a:pt x="678" y="1168"/>
                </a:cubicBezTo>
                <a:cubicBezTo>
                  <a:pt x="1122" y="817"/>
                  <a:pt x="1721" y="536"/>
                  <a:pt x="2477" y="326"/>
                </a:cubicBezTo>
                <a:cubicBezTo>
                  <a:pt x="3255" y="108"/>
                  <a:pt x="4095" y="0"/>
                  <a:pt x="4999" y="0"/>
                </a:cubicBezTo>
                <a:cubicBezTo>
                  <a:pt x="5902" y="0"/>
                  <a:pt x="6743" y="108"/>
                  <a:pt x="7521" y="326"/>
                </a:cubicBezTo>
                <a:cubicBezTo>
                  <a:pt x="8276" y="536"/>
                  <a:pt x="8876" y="817"/>
                  <a:pt x="9320" y="1168"/>
                </a:cubicBezTo>
                <a:cubicBezTo>
                  <a:pt x="9772" y="1540"/>
                  <a:pt x="9998" y="1940"/>
                  <a:pt x="9998" y="2368"/>
                </a:cubicBezTo>
                <a:lnTo>
                  <a:pt x="9998" y="7632"/>
                </a:lnTo>
                <a:cubicBezTo>
                  <a:pt x="9998" y="8060"/>
                  <a:pt x="9772" y="8460"/>
                  <a:pt x="9320" y="8832"/>
                </a:cubicBezTo>
                <a:cubicBezTo>
                  <a:pt x="8876" y="9182"/>
                  <a:pt x="8276" y="9463"/>
                  <a:pt x="7521" y="9674"/>
                </a:cubicBezTo>
                <a:cubicBezTo>
                  <a:pt x="6743" y="9891"/>
                  <a:pt x="5902" y="10000"/>
                  <a:pt x="4999" y="10000"/>
                </a:cubicBezTo>
                <a:cubicBezTo>
                  <a:pt x="4095" y="10000"/>
                  <a:pt x="3255" y="9891"/>
                  <a:pt x="2477" y="9674"/>
                </a:cubicBezTo>
                <a:cubicBezTo>
                  <a:pt x="1721" y="9463"/>
                  <a:pt x="1122" y="9182"/>
                  <a:pt x="678" y="8832"/>
                </a:cubicBezTo>
                <a:cubicBezTo>
                  <a:pt x="226" y="8460"/>
                  <a:pt x="0" y="8060"/>
                  <a:pt x="0" y="7632"/>
                </a:cubicBezTo>
                <a:moveTo>
                  <a:pt x="4999" y="3684"/>
                </a:moveTo>
                <a:cubicBezTo>
                  <a:pt x="5584" y="3684"/>
                  <a:pt x="6139" y="3633"/>
                  <a:pt x="6665" y="3532"/>
                </a:cubicBezTo>
                <a:cubicBezTo>
                  <a:pt x="7191" y="3430"/>
                  <a:pt x="7646" y="3287"/>
                  <a:pt x="8032" y="3105"/>
                </a:cubicBezTo>
                <a:cubicBezTo>
                  <a:pt x="8313" y="2971"/>
                  <a:pt x="8531" y="2835"/>
                  <a:pt x="8687" y="2695"/>
                </a:cubicBezTo>
                <a:cubicBezTo>
                  <a:pt x="8820" y="2568"/>
                  <a:pt x="8887" y="2459"/>
                  <a:pt x="8887" y="2368"/>
                </a:cubicBezTo>
                <a:cubicBezTo>
                  <a:pt x="8887" y="2277"/>
                  <a:pt x="8820" y="2168"/>
                  <a:pt x="8687" y="2042"/>
                </a:cubicBezTo>
                <a:cubicBezTo>
                  <a:pt x="8531" y="1902"/>
                  <a:pt x="8313" y="1765"/>
                  <a:pt x="8032" y="1632"/>
                </a:cubicBezTo>
                <a:cubicBezTo>
                  <a:pt x="7646" y="1449"/>
                  <a:pt x="7191" y="1307"/>
                  <a:pt x="6665" y="1205"/>
                </a:cubicBezTo>
                <a:cubicBezTo>
                  <a:pt x="6139" y="1103"/>
                  <a:pt x="5584" y="1053"/>
                  <a:pt x="4999" y="1053"/>
                </a:cubicBezTo>
                <a:cubicBezTo>
                  <a:pt x="4413" y="1053"/>
                  <a:pt x="3858" y="1103"/>
                  <a:pt x="3333" y="1205"/>
                </a:cubicBezTo>
                <a:cubicBezTo>
                  <a:pt x="2807" y="1307"/>
                  <a:pt x="2351" y="1449"/>
                  <a:pt x="1966" y="1632"/>
                </a:cubicBezTo>
                <a:cubicBezTo>
                  <a:pt x="1684" y="1765"/>
                  <a:pt x="1466" y="1902"/>
                  <a:pt x="1311" y="2042"/>
                </a:cubicBezTo>
                <a:cubicBezTo>
                  <a:pt x="1177" y="2168"/>
                  <a:pt x="1111" y="2277"/>
                  <a:pt x="1111" y="2368"/>
                </a:cubicBezTo>
                <a:cubicBezTo>
                  <a:pt x="1111" y="2459"/>
                  <a:pt x="1177" y="2568"/>
                  <a:pt x="1311" y="2695"/>
                </a:cubicBezTo>
                <a:cubicBezTo>
                  <a:pt x="1466" y="2835"/>
                  <a:pt x="1684" y="2971"/>
                  <a:pt x="1966" y="3105"/>
                </a:cubicBezTo>
                <a:cubicBezTo>
                  <a:pt x="2351" y="3287"/>
                  <a:pt x="2807" y="3430"/>
                  <a:pt x="3333" y="3532"/>
                </a:cubicBezTo>
                <a:cubicBezTo>
                  <a:pt x="3858" y="3633"/>
                  <a:pt x="4413" y="3684"/>
                  <a:pt x="4999" y="3684"/>
                </a:cubicBezTo>
              </a:path>
            </a:pathLst>
          </a:custGeom>
          <a:solidFill>
            <a:srgbClr val="4A7FD7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" name="TextBox 11"/>
          <p:cNvSpPr txBox="1"/>
          <p:nvPr/>
        </p:nvSpPr>
        <p:spPr>
          <a:xfrm>
            <a:off x="938573" y="2055019"/>
            <a:ext cx="1380780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1A1C2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验证机制完整性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695151" y="2445544"/>
            <a:ext cx="84811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4A7FD7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•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818053" y="2445544"/>
            <a:ext cx="6979187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C2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testOnBorrow、testOnReturn、testWhileIdle 三大验证属性建议均设为 true，确保借出、归还、空闲时的连接始终有效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695151" y="2754065"/>
            <a:ext cx="84811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4A7FD7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•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18053" y="2754065"/>
            <a:ext cx="7399967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C2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validationQuery 必须设置且确保查询结果集不为空，Oracle 使用 SELECT COUNT(*) FROM DUAL，MySQL 使用 SELECT 1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C2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简化验证</a:t>
            </a:r>
            <a:endParaRPr sz="1000" b="0" i="0" strike="noStrike">
              <a:solidFill>
                <a:srgbClr val="1A1C20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675106" y="1929705"/>
            <a:ext cx="3047238" cy="1309390"/>
          </a:xfrm>
          <a:prstGeom prst="rect">
            <a:avLst/>
          </a:prstGeom>
          <a:solidFill>
            <a:srgbClr val="F9FAFB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9664993" y="2005905"/>
            <a:ext cx="1067463" cy="115699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8" name="AutoShape 18"/>
          <p:cNvSpPr/>
          <p:nvPr/>
        </p:nvSpPr>
        <p:spPr>
          <a:xfrm>
            <a:off x="457086" y="3477221"/>
            <a:ext cx="11274781" cy="1347490"/>
          </a:xfrm>
          <a:prstGeom prst="roundRect">
            <a:avLst>
              <a:gd name="adj" fmla="val 3837"/>
            </a:avLst>
          </a:prstGeom>
          <a:solidFill>
            <a:srgbClr val="FFFFFF">
              <a:alpha val="100000"/>
            </a:srgbClr>
          </a:solidFill>
          <a:ln w="9525">
            <a:solidFill>
              <a:srgbClr val="E5E7E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AutoShape 19"/>
          <p:cNvSpPr/>
          <p:nvPr/>
        </p:nvSpPr>
        <p:spPr>
          <a:xfrm>
            <a:off x="457086" y="3477221"/>
            <a:ext cx="11274781" cy="9525"/>
          </a:xfrm>
          <a:prstGeom prst="line">
            <a:avLst/>
          </a:prstGeom>
          <a:ln w="28575">
            <a:solidFill>
              <a:srgbClr val="4A7FD7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AutoShape 20"/>
          <p:cNvSpPr/>
          <p:nvPr/>
        </p:nvSpPr>
        <p:spPr>
          <a:xfrm>
            <a:off x="674023" y="3747195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7640" y="1856"/>
                </a:moveTo>
                <a:lnTo>
                  <a:pt x="9998" y="5000"/>
                </a:lnTo>
                <a:lnTo>
                  <a:pt x="7640" y="8144"/>
                </a:lnTo>
                <a:lnTo>
                  <a:pt x="7049" y="7356"/>
                </a:lnTo>
                <a:lnTo>
                  <a:pt x="8823" y="5000"/>
                </a:lnTo>
                <a:lnTo>
                  <a:pt x="7049" y="2644"/>
                </a:lnTo>
                <a:lnTo>
                  <a:pt x="7640" y="1856"/>
                </a:lnTo>
                <a:moveTo>
                  <a:pt x="2949" y="2644"/>
                </a:moveTo>
                <a:lnTo>
                  <a:pt x="1175" y="5000"/>
                </a:lnTo>
                <a:lnTo>
                  <a:pt x="2949" y="7356"/>
                </a:lnTo>
                <a:lnTo>
                  <a:pt x="2358" y="8144"/>
                </a:lnTo>
                <a:lnTo>
                  <a:pt x="0" y="5000"/>
                </a:lnTo>
                <a:lnTo>
                  <a:pt x="2358" y="1856"/>
                </a:lnTo>
                <a:lnTo>
                  <a:pt x="2949" y="2644"/>
                </a:lnTo>
                <a:moveTo>
                  <a:pt x="6807" y="0"/>
                </a:moveTo>
                <a:lnTo>
                  <a:pt x="4074" y="10000"/>
                </a:lnTo>
                <a:lnTo>
                  <a:pt x="3191" y="10000"/>
                </a:lnTo>
                <a:lnTo>
                  <a:pt x="5924" y="0"/>
                </a:lnTo>
              </a:path>
            </a:pathLst>
          </a:custGeom>
          <a:solidFill>
            <a:srgbClr val="4A7FD7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1" name="TextBox 21"/>
          <p:cNvSpPr txBox="1"/>
          <p:nvPr/>
        </p:nvSpPr>
        <p:spPr>
          <a:xfrm>
            <a:off x="938573" y="3737670"/>
            <a:ext cx="1380780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1A1C2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资源释放规范性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695151" y="4128195"/>
            <a:ext cx="84811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4A7FD7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•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818053" y="4128195"/>
            <a:ext cx="6394290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C2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要求在 finally 块中关闭 Connection 和 PreparedStatement，确保即使发生异常也能正确释放资源归还连接池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695151" y="4436716"/>
            <a:ext cx="84811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4A7FD7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•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818053" y="4436716"/>
            <a:ext cx="624594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C2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注意关闭顺序应先关闭 PreparedStatement 再关闭 Connection，避免资源依赖导致的关闭失败或泄漏问题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675106" y="3505796"/>
            <a:ext cx="3047238" cy="1309390"/>
          </a:xfrm>
          <a:prstGeom prst="rect">
            <a:avLst/>
          </a:prstGeom>
          <a:solidFill>
            <a:srgbClr val="F9FAFB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2">
            <a:alphaModFix amt="100000"/>
          </a:blip>
          <a:srcRect/>
          <a:stretch>
            <a:fillRect/>
          </a:stretch>
        </p:blipFill>
        <p:spPr>
          <a:xfrm>
            <a:off x="9705659" y="3581996"/>
            <a:ext cx="986132" cy="115699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8" name="AutoShape 28"/>
          <p:cNvSpPr/>
          <p:nvPr/>
        </p:nvSpPr>
        <p:spPr>
          <a:xfrm>
            <a:off x="457086" y="5053310"/>
            <a:ext cx="11274781" cy="1347490"/>
          </a:xfrm>
          <a:prstGeom prst="roundRect">
            <a:avLst>
              <a:gd name="adj" fmla="val 3837"/>
            </a:avLst>
          </a:prstGeom>
          <a:solidFill>
            <a:srgbClr val="FFFFFF">
              <a:alpha val="100000"/>
            </a:srgbClr>
          </a:solidFill>
          <a:ln w="9525">
            <a:solidFill>
              <a:srgbClr val="E5E7E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AutoShape 29"/>
          <p:cNvSpPr/>
          <p:nvPr/>
        </p:nvSpPr>
        <p:spPr>
          <a:xfrm>
            <a:off x="457086" y="5053310"/>
            <a:ext cx="11274781" cy="9525"/>
          </a:xfrm>
          <a:prstGeom prst="line">
            <a:avLst/>
          </a:prstGeom>
          <a:ln w="28575">
            <a:solidFill>
              <a:srgbClr val="4A7FD7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AutoShape 30"/>
          <p:cNvSpPr/>
          <p:nvPr/>
        </p:nvSpPr>
        <p:spPr>
          <a:xfrm>
            <a:off x="674023" y="5323285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10000"/>
                </a:move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moveTo>
                  <a:pt x="4499" y="7500"/>
                </a:moveTo>
                <a:lnTo>
                  <a:pt x="4499" y="6500"/>
                </a:lnTo>
                <a:lnTo>
                  <a:pt x="5499" y="6500"/>
                </a:lnTo>
                <a:lnTo>
                  <a:pt x="5499" y="7500"/>
                </a:lnTo>
                <a:lnTo>
                  <a:pt x="4499" y="7500"/>
                </a:lnTo>
                <a:moveTo>
                  <a:pt x="4499" y="5500"/>
                </a:moveTo>
                <a:lnTo>
                  <a:pt x="4499" y="2500"/>
                </a:lnTo>
                <a:lnTo>
                  <a:pt x="5499" y="2500"/>
                </a:lnTo>
                <a:lnTo>
                  <a:pt x="5499" y="5500"/>
                </a:lnTo>
              </a:path>
            </a:pathLst>
          </a:custGeom>
          <a:solidFill>
            <a:srgbClr val="4A7FD7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1" name="TextBox 31"/>
          <p:cNvSpPr txBox="1"/>
          <p:nvPr/>
        </p:nvSpPr>
        <p:spPr>
          <a:xfrm>
            <a:off x="938573" y="5313759"/>
            <a:ext cx="1571233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1A1C2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异常处理标准结构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695151" y="5704285"/>
            <a:ext cx="84811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4A7FD7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•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818053" y="5704285"/>
            <a:ext cx="6274960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C2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使用 try-catch-finally 结构处理数据库操作异常，catch 块记录日志或处理业务异常，finally 块确保资源释放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695151" y="6012805"/>
            <a:ext cx="84811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4A7FD7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•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818053" y="6012805"/>
            <a:ext cx="590402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C2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避免连接泄漏导致连接池耗尽影响系统稳定性，高并发场景下连接泄漏会迅速耗尽池中所有可用连接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675106" y="5081885"/>
            <a:ext cx="3047238" cy="1309390"/>
          </a:xfrm>
          <a:prstGeom prst="rect">
            <a:avLst/>
          </a:prstGeom>
          <a:solidFill>
            <a:srgbClr val="F9FAFB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3">
            <a:alphaModFix amt="100000"/>
          </a:blip>
          <a:srcRect/>
          <a:stretch>
            <a:fillRect/>
          </a:stretch>
        </p:blipFill>
        <p:spPr>
          <a:xfrm>
            <a:off x="9655956" y="5158085"/>
            <a:ext cx="1085536" cy="115699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3333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A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>
            <a:off x="446894" y="490538"/>
            <a:ext cx="133317" cy="1333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7640" y="1856"/>
                </a:moveTo>
                <a:lnTo>
                  <a:pt x="9998" y="5000"/>
                </a:lnTo>
                <a:lnTo>
                  <a:pt x="7640" y="8144"/>
                </a:lnTo>
                <a:lnTo>
                  <a:pt x="7049" y="7356"/>
                </a:lnTo>
                <a:lnTo>
                  <a:pt x="8823" y="5000"/>
                </a:lnTo>
                <a:lnTo>
                  <a:pt x="7049" y="2644"/>
                </a:lnTo>
                <a:lnTo>
                  <a:pt x="7640" y="1856"/>
                </a:lnTo>
                <a:moveTo>
                  <a:pt x="2949" y="2644"/>
                </a:moveTo>
                <a:lnTo>
                  <a:pt x="1175" y="5000"/>
                </a:lnTo>
                <a:lnTo>
                  <a:pt x="2949" y="7356"/>
                </a:lnTo>
                <a:lnTo>
                  <a:pt x="2358" y="8144"/>
                </a:lnTo>
                <a:lnTo>
                  <a:pt x="0" y="5000"/>
                </a:lnTo>
                <a:lnTo>
                  <a:pt x="2358" y="1856"/>
                </a:lnTo>
                <a:lnTo>
                  <a:pt x="2949" y="2644"/>
                </a:lnTo>
                <a:moveTo>
                  <a:pt x="6807" y="0"/>
                </a:moveTo>
                <a:lnTo>
                  <a:pt x="4074" y="10000"/>
                </a:lnTo>
                <a:lnTo>
                  <a:pt x="3191" y="10000"/>
                </a:lnTo>
                <a:lnTo>
                  <a:pt x="5924" y="0"/>
                </a:lnTo>
              </a:path>
            </a:pathLst>
          </a:custGeom>
          <a:solidFill>
            <a:srgbClr val="4A7FD7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5" name="TextBox 5"/>
          <p:cNvSpPr txBox="1"/>
          <p:nvPr/>
        </p:nvSpPr>
        <p:spPr>
          <a:xfrm>
            <a:off x="646199" y="490538"/>
            <a:ext cx="1108566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C20">
                    <a:alpha val="6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DBCP 实战流程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457086" y="781050"/>
            <a:ext cx="11274781" cy="469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1C20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完整插入操作代码示例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57086" y="1457325"/>
            <a:ext cx="9522" cy="822871"/>
          </a:xfrm>
          <a:prstGeom prst="line">
            <a:avLst/>
          </a:prstGeom>
          <a:ln w="28575">
            <a:solidFill>
              <a:srgbClr val="4A7FD7">
                <a:alpha val="85098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Box 8"/>
          <p:cNvSpPr txBox="1"/>
          <p:nvPr/>
        </p:nvSpPr>
        <p:spPr>
          <a:xfrm>
            <a:off x="676106" y="1495425"/>
            <a:ext cx="11055760" cy="73908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1A1C20">
                    <a:alpha val="85098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完整的 DBCP 插入操作涵盖数据源配置、连接获取、SQL 执行、资源释放四个</a:t>
            </a:r>
            <a:endParaRPr lang="en-US" sz="1100"/>
          </a:p>
          <a:p>
            <a:pPr algn="l"/>
            <a:r>
              <a:rPr sz="1300" b="0" i="0" strike="noStrike">
                <a:solidFill>
                  <a:srgbClr val="1A1C20">
                    <a:alpha val="85098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环节，采用 try-catch-finally 标准异常处理结构。代码模板可直接应用于</a:t>
            </a:r>
            <a:endParaRPr sz="1300" b="0" i="0" strike="noStrike">
              <a:solidFill>
                <a:srgbClr val="1A1C20">
                  <a:alpha val="85098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  <a:p>
            <a:pPr algn="l"/>
            <a:r>
              <a:rPr sz="1300" b="0" i="0" strike="noStrike">
                <a:solidFill>
                  <a:srgbClr val="1A1C20">
                    <a:alpha val="85098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JavaWeb 项目。</a:t>
            </a:r>
            <a:endParaRPr sz="1300" b="0" i="0" strike="noStrike">
              <a:solidFill>
                <a:srgbClr val="1A1C20">
                  <a:alpha val="85098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99194" y="2740223"/>
            <a:ext cx="18643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r">
              <a:defRPr/>
            </a:pPr>
            <a:r>
              <a:rPr lang="en-US" sz="1000" b="1" i="0" strike="noStrike">
                <a:solidFill>
                  <a:srgbClr val="4A7FD7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01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37990" y="2749748"/>
            <a:ext cx="5929318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A1C2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数据源初始化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837990" y="3035498"/>
            <a:ext cx="5929318" cy="533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C20">
                    <a:alpha val="74901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创建 BasicDataSource 实例，设置 driverClassName 为 com.mysql.cj.jdbc.Driver，配置 url、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C20">
                    <a:alpha val="74901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username、password 及 maxTotal=20、maxIdle=10 等连接池参数。</a:t>
            </a:r>
            <a:endParaRPr sz="1100" b="0" i="0" strike="noStrike">
              <a:solidFill>
                <a:srgbClr val="1A1C20">
                  <a:alpha val="74901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99194" y="3673673"/>
            <a:ext cx="18643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r">
              <a:defRPr/>
            </a:pPr>
            <a:r>
              <a:rPr lang="en-US" sz="1000" b="1" i="0" strike="noStrike">
                <a:solidFill>
                  <a:srgbClr val="4A7FD7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02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837990" y="3683198"/>
            <a:ext cx="5929318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A1C2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获取数据库连接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837990" y="3968948"/>
            <a:ext cx="5929318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C20">
                    <a:alpha val="74901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调用 dataSource.getConnection() 从连接池获取可用连接，若池中无空闲连接则根据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C20">
                    <a:alpha val="74901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maxWaitMillis 配置等待或创建新连接，注意处理 SQLException 异常。</a:t>
            </a:r>
            <a:endParaRPr sz="1100" b="0" i="0" strike="noStrike">
              <a:solidFill>
                <a:srgbClr val="1A1C20">
                  <a:alpha val="74901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99194" y="4607123"/>
            <a:ext cx="18643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r">
              <a:defRPr/>
            </a:pPr>
            <a:r>
              <a:rPr lang="en-US" sz="1000" b="1" i="0" strike="noStrike">
                <a:solidFill>
                  <a:srgbClr val="4A7FD7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03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37990" y="4616648"/>
            <a:ext cx="5929318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A1C2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执行 INSERT 语句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37990" y="4902398"/>
            <a:ext cx="5929318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C20">
                    <a:alpha val="74901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使用 PreparedStatement 设置 SQL 参数，索引从 1 开始，调用 executeUpdate() 执行插入操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C20">
                    <a:alpha val="74901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作返回受影响的行数，PreparedStatement 有效防止 SQL 注入攻击。</a:t>
            </a:r>
            <a:endParaRPr sz="1100" b="0" i="0" strike="noStrike">
              <a:solidFill>
                <a:srgbClr val="1A1C20">
                  <a:alpha val="74901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99194" y="5540573"/>
            <a:ext cx="18643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r">
              <a:defRPr/>
            </a:pPr>
            <a:r>
              <a:rPr lang="en-US" sz="1000" b="1" i="0" strike="noStrike">
                <a:solidFill>
                  <a:srgbClr val="4A7FD7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04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837990" y="5550098"/>
            <a:ext cx="5929318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A1C2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资源释放关闭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837990" y="5835848"/>
            <a:ext cx="5929318" cy="533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C20">
                    <a:alpha val="74901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在 finally 块中依次关闭 PreparedStatement 和 Connection，使用 try-catch 嵌套处理关闭时可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C20">
                    <a:alpha val="74901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能抛出的异常，确保 Connection.close() 归还到连接池而非物理关闭。</a:t>
            </a:r>
            <a:endParaRPr sz="1100" b="0" i="0" strike="noStrike">
              <a:solidFill>
                <a:srgbClr val="1A1C20">
                  <a:alpha val="74901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224394" y="1457325"/>
            <a:ext cx="4507323" cy="465772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solidFill>
              <a:srgbClr val="E5E7EB">
                <a:alpha val="100000"/>
              </a:srgbClr>
            </a:solidFill>
            <a:prstDash val="solid"/>
            <a:headEnd type="none"/>
            <a:tailEnd type="none"/>
          </a:ln>
        </p:spPr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">
            <a:alphaModFix amt="100000"/>
          </a:blip>
          <a:srcRect t="11253" b="11253"/>
          <a:stretch>
            <a:fillRect/>
          </a:stretch>
        </p:blipFill>
        <p:spPr>
          <a:xfrm>
            <a:off x="7233917" y="1466850"/>
            <a:ext cx="4488278" cy="46386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3" name="AutoShape 23"/>
          <p:cNvSpPr/>
          <p:nvPr/>
        </p:nvSpPr>
        <p:spPr>
          <a:xfrm>
            <a:off x="9723636" y="6248400"/>
            <a:ext cx="2008082" cy="133350"/>
          </a:xfrm>
          <a:prstGeom prst="rect">
            <a:avLst/>
          </a:prstGeom>
          <a:ln>
            <a:headEnd type="none"/>
            <a:tailEnd type="none"/>
          </a:ln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7.0625196850393,&quot;left&quot;:35.991023622047244,&quot;top&quot;:120,&quot;width&quot;:496.8678740157481}"/>
</p:tagLst>
</file>

<file path=ppt/tags/tag2.xml><?xml version="1.0" encoding="utf-8"?>
<p:tagLst xmlns:p="http://schemas.openxmlformats.org/presentationml/2006/main">
  <p:tag name="KSO_WM_DIAGRAM_VIRTUALLY_FRAME" val="{&quot;height&quot;:287.0625196850393,&quot;left&quot;:35.991023622047244,&quot;top&quot;:120,&quot;width&quot;:496.8678740157481}"/>
</p:tagLst>
</file>

<file path=ppt/tags/tag3.xml><?xml version="1.0" encoding="utf-8"?>
<p:tagLst xmlns:p="http://schemas.openxmlformats.org/presentationml/2006/main">
  <p:tag name="KSO_WM_DIAGRAM_VIRTUALLY_FRAME" val="{&quot;height&quot;:287.0625196850393,&quot;left&quot;:35.991023622047244,&quot;top&quot;:120,&quot;width&quot;:496.8678740157481}"/>
</p:tagLst>
</file>

<file path=ppt/tags/tag4.xml><?xml version="1.0" encoding="utf-8"?>
<p:tagLst xmlns:p="http://schemas.openxmlformats.org/presentationml/2006/main">
  <p:tag name="KSO_WM_DIAGRAM_VIRTUALLY_FRAME" val="{&quot;height&quot;:287.0625196850393,&quot;left&quot;:35.991023622047244,&quot;top&quot;:120,&quot;width&quot;:496.8678740157481}"/>
</p:tagLst>
</file>

<file path=ppt/tags/tag5.xml><?xml version="1.0" encoding="utf-8"?>
<p:tagLst xmlns:p="http://schemas.openxmlformats.org/presentationml/2006/main">
  <p:tag name="KSO_WM_DIAGRAM_VIRTUALLY_FRAME" val="{&quot;height&quot;:287.0625196850393,&quot;left&quot;:35.991023622047244,&quot;top&quot;:120,&quot;width&quot;:496.8678740157481}"/>
</p:tagLst>
</file>

<file path=ppt/tags/tag6.xml><?xml version="1.0" encoding="utf-8"?>
<p:tagLst xmlns:p="http://schemas.openxmlformats.org/presentationml/2006/main">
  <p:tag name="KSO_WM_DIAGRAM_VIRTUALLY_FRAME" val="{&quot;height&quot;:287.0625196850393,&quot;left&quot;:35.991023622047244,&quot;top&quot;:120,&quot;width&quot;:496.8678740157481}"/>
</p:tagLst>
</file>

<file path=ppt/tags/tag7.xml><?xml version="1.0" encoding="utf-8"?>
<p:tagLst xmlns:p="http://schemas.openxmlformats.org/presentationml/2006/main">
  <p:tag name="KSO_WM_DIAGRAM_VIRTUALLY_FRAME" val="{&quot;height&quot;:287.0625196850393,&quot;left&quot;:35.991023622047244,&quot;top&quot;:120,&quot;width&quot;:496.8678740157481}"/>
</p:tagLst>
</file>

<file path=ppt/tags/tag8.xml><?xml version="1.0" encoding="utf-8"?>
<p:tagLst xmlns:p="http://schemas.openxmlformats.org/presentationml/2006/main">
  <p:tag name="KSO_WM_DIAGRAM_VIRTUALLY_FRAME" val="{&quot;height&quot;:287.0625196850393,&quot;left&quot;:35.991023622047244,&quot;top&quot;:120,&quot;width&quot;:496.8678740157481}"/>
</p:tagLst>
</file>

<file path=ppt/tags/tag9.xml><?xml version="1.0" encoding="utf-8"?>
<p:tagLst xmlns:p="http://schemas.openxmlformats.org/presentationml/2006/main">
  <p:tag name="KSO_WM_DIAGRAM_VIRTUALLY_FRAME" val="{&quot;height&quot;:287.0625196850393,&quot;left&quot;:35.991023622047244,&quot;top&quot;:120,&quot;width&quot;:496.8678740157481}"/>
</p:tagLst>
</file>

<file path=ppt/tags/tag10.xml><?xml version="1.0" encoding="utf-8"?>
<p:tagLst xmlns:p="http://schemas.openxmlformats.org/presentationml/2006/main">
  <p:tag name="KSO_WM_DIAGRAM_VIRTUALLY_FRAME" val="{&quot;height&quot;:287.0625196850393,&quot;left&quot;:35.991023622047244,&quot;top&quot;:120,&quot;width&quot;:496.8678740157481}"/>
</p:tagLst>
</file>

<file path=ppt/tags/tag11.xml><?xml version="1.0" encoding="utf-8"?>
<p:tagLst xmlns:p="http://schemas.openxmlformats.org/presentationml/2006/main">
  <p:tag name="KSO_WM_DIAGRAM_VIRTUALLY_FRAME" val="{&quot;height&quot;:287.0625196850393,&quot;left&quot;:35.991023622047244,&quot;top&quot;:120,&quot;width&quot;:496.8678740157481}"/>
</p:tagLst>
</file>

<file path=ppt/tags/tag12.xml><?xml version="1.0" encoding="utf-8"?>
<p:tagLst xmlns:p="http://schemas.openxmlformats.org/presentationml/2006/main">
  <p:tag name="KSO_WM_DIAGRAM_VIRTUALLY_FRAME" val="{&quot;height&quot;:287.0625196850393,&quot;left&quot;:35.991023622047244,&quot;top&quot;:120,&quot;width&quot;:496.8678740157481}"/>
</p:tagLst>
</file>

<file path=ppt/tags/tag13.xml><?xml version="1.0" encoding="utf-8"?>
<p:tagLst xmlns:p="http://schemas.openxmlformats.org/presentationml/2006/main">
  <p:tag name="KSO_WM_DIAGRAM_VIRTUALLY_FRAME" val="{&quot;height&quot;:124.62889763779526,&quot;left&quot;:35.991023622047244,&quot;top&quot;:199.5,&quot;width&quot;:887.778031496063}"/>
</p:tagLst>
</file>

<file path=ppt/tags/tag14.xml><?xml version="1.0" encoding="utf-8"?>
<p:tagLst xmlns:p="http://schemas.openxmlformats.org/presentationml/2006/main">
  <p:tag name="KSO_WM_DIAGRAM_VIRTUALLY_FRAME" val="{&quot;height&quot;:124.62889763779526,&quot;left&quot;:35.991023622047244,&quot;top&quot;:199.5,&quot;width&quot;:887.778031496063}"/>
</p:tagLst>
</file>

<file path=ppt/tags/tag15.xml><?xml version="1.0" encoding="utf-8"?>
<p:tagLst xmlns:p="http://schemas.openxmlformats.org/presentationml/2006/main">
  <p:tag name="KSO_WM_DIAGRAM_VIRTUALLY_FRAME" val="{&quot;height&quot;:124.62889763779526,&quot;left&quot;:35.991023622047244,&quot;top&quot;:199.5,&quot;width&quot;:887.778031496063}"/>
</p:tagLst>
</file>

<file path=ppt/tags/tag16.xml><?xml version="1.0" encoding="utf-8"?>
<p:tagLst xmlns:p="http://schemas.openxmlformats.org/presentationml/2006/main">
  <p:tag name="KSO_WM_DIAGRAM_VIRTUALLY_FRAME" val="{&quot;height&quot;:124.62889763779526,&quot;left&quot;:35.991023622047244,&quot;top&quot;:199.5,&quot;width&quot;:887.778031496063}"/>
</p:tagLst>
</file>

<file path=ppt/tags/tag17.xml><?xml version="1.0" encoding="utf-8"?>
<p:tagLst xmlns:p="http://schemas.openxmlformats.org/presentationml/2006/main">
  <p:tag name="KSO_WM_DIAGRAM_VIRTUALLY_FRAME" val="{&quot;height&quot;:124.62889763779526,&quot;left&quot;:35.991023622047244,&quot;top&quot;:199.5,&quot;width&quot;:887.778031496063}"/>
</p:tagLst>
</file>

<file path=ppt/tags/tag18.xml><?xml version="1.0" encoding="utf-8"?>
<p:tagLst xmlns:p="http://schemas.openxmlformats.org/presentationml/2006/main">
  <p:tag name="KSO_WM_DIAGRAM_VIRTUALLY_FRAME" val="{&quot;height&quot;:124.62889763779526,&quot;left&quot;:35.991023622047244,&quot;top&quot;:199.5,&quot;width&quot;:887.778031496063}"/>
</p:tagLst>
</file>

<file path=ppt/tags/tag19.xml><?xml version="1.0" encoding="utf-8"?>
<p:tagLst xmlns:p="http://schemas.openxmlformats.org/presentationml/2006/main">
  <p:tag name="KSO_WM_DIAGRAM_VIRTUALLY_FRAME" val="{&quot;height&quot;:124.62889763779526,&quot;left&quot;:35.991023622047244,&quot;top&quot;:199.5,&quot;width&quot;:887.778031496063}"/>
</p:tagLst>
</file>

<file path=ppt/tags/tag20.xml><?xml version="1.0" encoding="utf-8"?>
<p:tagLst xmlns:p="http://schemas.openxmlformats.org/presentationml/2006/main">
  <p:tag name="KSO_WM_DIAGRAM_VIRTUALLY_FRAME" val="{&quot;height&quot;:124.62889763779526,&quot;left&quot;:35.991023622047244,&quot;top&quot;:199.5,&quot;width&quot;:887.778031496063}"/>
</p:tagLst>
</file>

<file path=ppt/tags/tag21.xml><?xml version="1.0" encoding="utf-8"?>
<p:tagLst xmlns:p="http://schemas.openxmlformats.org/presentationml/2006/main">
  <p:tag name="KSO_WM_DIAGRAM_VIRTUALLY_FRAME" val="{&quot;height&quot;:124.62889763779526,&quot;left&quot;:35.991023622047244,&quot;top&quot;:199.5,&quot;width&quot;:887.778031496063}"/>
</p:tagLst>
</file>

<file path=ppt/tags/tag22.xml><?xml version="1.0" encoding="utf-8"?>
<p:tagLst xmlns:p="http://schemas.openxmlformats.org/presentationml/2006/main">
  <p:tag name="KSO_WM_DIAGRAM_VIRTUALLY_FRAME" val="{&quot;height&quot;:124.62889763779526,&quot;left&quot;:35.991023622047244,&quot;top&quot;:199.5,&quot;width&quot;:887.778031496063}"/>
</p:tagLst>
</file>

<file path=ppt/tags/tag23.xml><?xml version="1.0" encoding="utf-8"?>
<p:tagLst xmlns:p="http://schemas.openxmlformats.org/presentationml/2006/main">
  <p:tag name="KSO_WM_DIAGRAM_VIRTUALLY_FRAME" val="{&quot;height&quot;:124.62889763779526,&quot;left&quot;:35.991023622047244,&quot;top&quot;:199.5,&quot;width&quot;:887.778031496063}"/>
</p:tagLst>
</file>

<file path=ppt/tags/tag24.xml><?xml version="1.0" encoding="utf-8"?>
<p:tagLst xmlns:p="http://schemas.openxmlformats.org/presentationml/2006/main">
  <p:tag name="KSO_WM_DIAGRAM_VIRTUALLY_FRAME" val="{&quot;height&quot;:124.62889763779526,&quot;left&quot;:35.991023622047244,&quot;top&quot;:199.5,&quot;width&quot;:887.778031496063}"/>
</p:tagLst>
</file>

<file path=ppt/tags/tag25.xml><?xml version="1.0" encoding="utf-8"?>
<p:tagLst xmlns:p="http://schemas.openxmlformats.org/presentationml/2006/main">
  <p:tag name="KSO_WM_DIAGRAM_VIRTUALLY_FRAME" val="{&quot;height&quot;:124.62889763779526,&quot;left&quot;:35.991023622047244,&quot;top&quot;:199.5,&quot;width&quot;:887.778031496063}"/>
</p:tagLst>
</file>

<file path=ppt/tags/tag26.xml><?xml version="1.0" encoding="utf-8"?>
<p:tagLst xmlns:p="http://schemas.openxmlformats.org/presentationml/2006/main">
  <p:tag name="KSO_WM_DIAGRAM_VIRTUALLY_FRAME" val="{&quot;height&quot;:124.62889763779526,&quot;left&quot;:35.991023622047244,&quot;top&quot;:199.5,&quot;width&quot;:887.778031496063}"/>
</p:tagLst>
</file>

<file path=ppt/tags/tag27.xml><?xml version="1.0" encoding="utf-8"?>
<p:tagLst xmlns:p="http://schemas.openxmlformats.org/presentationml/2006/main">
  <p:tag name="KSO_WM_DIAGRAM_VIRTUALLY_FRAME" val="{&quot;height&quot;:124.62889763779526,&quot;left&quot;:35.991023622047244,&quot;top&quot;:199.5,&quot;width&quot;:887.778031496063}"/>
</p:tagLst>
</file>

<file path=ppt/tags/tag28.xml><?xml version="1.0" encoding="utf-8"?>
<p:tagLst xmlns:p="http://schemas.openxmlformats.org/presentationml/2006/main">
  <p:tag name="KSO_WM_DIAGRAM_VIRTUALLY_FRAME" val="{&quot;height&quot;:124.62889763779526,&quot;left&quot;:35.991023622047244,&quot;top&quot;:199.5,&quot;width&quot;:887.778031496063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3456</Words>
  <Application>WPS 演示</Application>
  <PresentationFormat>On-screen Show (4:3)</PresentationFormat>
  <Paragraphs>304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宋体</vt:lpstr>
      <vt:lpstr>Wingdings</vt:lpstr>
      <vt:lpstr>Inter</vt:lpstr>
      <vt:lpstr>Source Han Serif CN</vt:lpstr>
      <vt:lpstr>Source Han Sans</vt:lpstr>
      <vt:lpstr>Poppins</vt:lpstr>
      <vt:lpstr>Inter, sans-serif</vt:lpstr>
      <vt:lpstr>Segoe Print</vt:lpstr>
      <vt:lpstr>Poppins, sans-serif</vt:lpstr>
      <vt:lpstr>"Source Han Sans", sans-serif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LsnY</cp:lastModifiedBy>
  <cp:revision>2</cp:revision>
  <dcterms:created xsi:type="dcterms:W3CDTF">2006-08-16T00:00:00Z</dcterms:created>
  <dcterms:modified xsi:type="dcterms:W3CDTF">2026-05-31T13:04:57Z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D0D16E38901A48F0B27B09AC71A7DE75_12</vt:lpwstr>
  </property>
  <property fmtid="{D5CDD505-2E9C-101B-9397-08002B2CF9AE}" pid="3" name="KSOProductBuildVer">
    <vt:lpwstr>2052-12.1.0.26375</vt:lpwstr>
  </property>
</Properties>
</file>